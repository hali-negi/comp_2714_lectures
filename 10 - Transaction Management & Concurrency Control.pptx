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</p:sldIdLst>
  <p:sldSz cy="5143500" cx="9144000"/>
  <p:notesSz cx="6858000" cy="9144000"/>
  <p:embeddedFontLst>
    <p:embeddedFont>
      <p:font typeface="Lora"/>
      <p:regular r:id="rId89"/>
      <p:bold r:id="rId90"/>
      <p:italic r:id="rId91"/>
      <p:boldItalic r:id="rId92"/>
    </p:embeddedFont>
    <p:embeddedFont>
      <p:font typeface="Roboto Mono"/>
      <p:regular r:id="rId93"/>
      <p:bold r:id="rId94"/>
      <p:italic r:id="rId95"/>
      <p:boldItalic r:id="rId9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D8027A-9F54-47FC-8230-BDAF04AF3045}">
  <a:tblStyle styleId="{64D8027A-9F54-47FC-8230-BDAF04AF30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Lora-regular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95" Type="http://schemas.openxmlformats.org/officeDocument/2006/relationships/font" Target="fonts/RobotoMono-italic.fntdata"/><Relationship Id="rId50" Type="http://schemas.openxmlformats.org/officeDocument/2006/relationships/slide" Target="slides/slide45.xml"/><Relationship Id="rId94" Type="http://schemas.openxmlformats.org/officeDocument/2006/relationships/font" Target="fonts/RobotoMono-bold.fntdata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96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Lora-italic.fntdata"/><Relationship Id="rId90" Type="http://schemas.openxmlformats.org/officeDocument/2006/relationships/font" Target="fonts/Lora-bold.fntdata"/><Relationship Id="rId93" Type="http://schemas.openxmlformats.org/officeDocument/2006/relationships/font" Target="fonts/RobotoMono-regular.fntdata"/><Relationship Id="rId92" Type="http://schemas.openxmlformats.org/officeDocument/2006/relationships/font" Target="fonts/Lora-bold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8af4dbd5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98af4dbd5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8af4dbd5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8af4dbd5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8af4dbd5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8af4dbd5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8af4dbd5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8af4dbd5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8af4dbd5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8af4dbd5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8af4dbd5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8af4dbd5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0c7cf396a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70c7cf396a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0c7cf396a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0c7cf396a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4159a3836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4159a3836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4159a3836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4159a3836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74159a3836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74159a3836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4159a3836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4159a3836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4159a3836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4159a3836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744368fa9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744368fa9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744368fa9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744368fa9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8af4dbd5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8af4dbd5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4159a3836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4159a3836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74159a3836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74159a3836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74159a3836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74159a3836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74159a3836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74159a3836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74159a3836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74159a3836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74159a3836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74159a3836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74159a3836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74159a3836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74159a3836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74159a3836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741b3b52a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741b3b52a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741b3b52a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741b3b52a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741b3b52a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741b3b52a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741b3b52a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741b3b52a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741b3b52a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741b3b52a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98af4dbd5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98af4dbd5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98af4dbd5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98af4dbd5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741b3b52a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741b3b52a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741b3b52af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741b3b52a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98af4dbd5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98af4dbd5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741b3b52a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741b3b52a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741b3b52af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741b3b52a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741b3b52af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741b3b52a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741b3b52a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741b3b52a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741b3b52af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741b3b52af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741b3b52af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741b3b52af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741b3b52af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741b3b52af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741b3b52af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741b3b52af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741b3b52af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741b3b52af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74159a383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74159a383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98af4dbd5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98af4dbd5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98af4dbd50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98af4dbd50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98af4dbd5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98af4dbd5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70c7cf396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70c7cf396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70c7cf396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70c7cf396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70c7cf396a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70c7cf396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70c7cf396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70c7cf396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c7cf396a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c7cf396a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70c7cf396a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70c7cf396a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70c7cf396a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70c7cf396a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70c7cf396a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70c7cf396a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70c7cf396a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70c7cf396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70c7cf396a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70c7cf396a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98af4dbd50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98af4dbd50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70c7cf396a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70c7cf396a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98d3b02c2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98d3b02c2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98d3b02c2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98d3b02c2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98d3b02c2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98d3b02c2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98d3b02c2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98d3b02c2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98d3b02c2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98d3b02c2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98d3b02c2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98d3b02c2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98d3b02c2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98d3b02c2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98d3b02c2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98d3b02c2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98d3b02c2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98d3b02c2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98d3b02c2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98d3b02c2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98d3b02c2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98d3b02c2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98d3b02c2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98d3b02c2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98d3b02c2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98d3b02c2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98d3b02c22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98d3b02c2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98d3b02c2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98d3b02c2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98d3b02c22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98d3b02c22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98d3b02c2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98d3b02c2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98d3b02c2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398d3b02c2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98d3b02c2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98d3b02c2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98d3b02c22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98d3b02c2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98d3b02c2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98d3b02c2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98d3b02c22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98d3b02c2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98d3b02c22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98d3b02c22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98d3b02c2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98d3b02c2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11700" y="4663225"/>
            <a:ext cx="34593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E56B6A"/>
                </a:solidFill>
                <a:latin typeface="Lora"/>
                <a:ea typeface="Lora"/>
                <a:cs typeface="Lora"/>
                <a:sym typeface="Lora"/>
              </a:rPr>
              <a:t>COMP 2714</a:t>
            </a:r>
            <a:r>
              <a:rPr lang="en-GB" sz="1000">
                <a:latin typeface="Lora"/>
                <a:ea typeface="Lora"/>
                <a:cs typeface="Lora"/>
                <a:sym typeface="Lora"/>
              </a:rPr>
              <a:t> - </a:t>
            </a:r>
            <a:r>
              <a:rPr b="1" lang="en-GB" sz="1000">
                <a:latin typeface="Lora"/>
                <a:ea typeface="Lora"/>
                <a:cs typeface="Lora"/>
                <a:sym typeface="Lora"/>
              </a:rPr>
              <a:t>Maryam Khezrzadeh</a:t>
            </a:r>
            <a:endParaRPr b="1" sz="1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Module 10 – Transaction Management &amp; Concurrency Control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Ensuring safe and reliable data updates in multi-user databases.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 Outcomes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By the end of this module, you will be able to: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/>
              <a:t>Define what a database transaction is.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/>
              <a:t>Explain the purpose of transaction management.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/>
              <a:t>Describe the ACID properties of transactions.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/>
              <a:t>Identify common concurrency problems.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/>
              <a:t>Explain locking and isolation mechanisms for concurrency control.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/>
              <a:t>Discuss how transaction logs ensure atomicity and durability.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Lecture 1 – Transactions, Concurrency &amp; ACID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Transaction Management?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Real-world actions like </a:t>
            </a:r>
            <a:r>
              <a:rPr b="1" lang="en-GB">
                <a:solidFill>
                  <a:schemeClr val="dk1"/>
                </a:solidFill>
              </a:rPr>
              <a:t>buying a product</a:t>
            </a:r>
            <a:r>
              <a:rPr lang="en-GB">
                <a:solidFill>
                  <a:schemeClr val="dk1"/>
                </a:solidFill>
              </a:rPr>
              <a:t> or </a:t>
            </a:r>
            <a:r>
              <a:rPr b="1" lang="en-GB">
                <a:solidFill>
                  <a:schemeClr val="dk1"/>
                </a:solidFill>
              </a:rPr>
              <a:t>registering for a course</a:t>
            </a:r>
            <a:r>
              <a:rPr lang="en-GB">
                <a:solidFill>
                  <a:schemeClr val="dk1"/>
                </a:solidFill>
              </a:rPr>
              <a:t> involve many database changes.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We need a way to ensure: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✅ all changes succeed together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❌ or none take effect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Otherwise, we risk </a:t>
            </a:r>
            <a:r>
              <a:rPr i="1" lang="en-GB">
                <a:solidFill>
                  <a:schemeClr val="dk1"/>
                </a:solidFill>
              </a:rPr>
              <a:t>inconsistent data.</a:t>
            </a:r>
            <a:endParaRPr i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 Course Registration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Check seat availability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Insert a new </a:t>
            </a:r>
            <a:r>
              <a:rPr b="1" lang="en-GB">
                <a:solidFill>
                  <a:schemeClr val="dk1"/>
                </a:solidFill>
              </a:rPr>
              <a:t>ENROLLMENT</a:t>
            </a:r>
            <a:r>
              <a:rPr lang="en-GB">
                <a:solidFill>
                  <a:schemeClr val="dk1"/>
                </a:solidFill>
              </a:rPr>
              <a:t> record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Update </a:t>
            </a:r>
            <a:r>
              <a:rPr b="1" lang="en-GB">
                <a:solidFill>
                  <a:schemeClr val="dk1"/>
                </a:solidFill>
              </a:rPr>
              <a:t>COURSE_OFFERING.Seats_Remaining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Record a </a:t>
            </a:r>
            <a:r>
              <a:rPr b="1" lang="en-GB">
                <a:solidFill>
                  <a:schemeClr val="dk1"/>
                </a:solidFill>
              </a:rPr>
              <a:t>payment</a:t>
            </a:r>
            <a:br>
              <a:rPr b="1"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→ All must succeed or all must roll back.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Transaction?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b="1" lang="en-GB"/>
              <a:t>transaction</a:t>
            </a:r>
            <a:r>
              <a:rPr lang="en-GB"/>
              <a:t> is a single or group of SQL operations treated as one logical unit of work.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Examples:</a:t>
            </a:r>
            <a:endParaRPr/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/>
              <a:t>Insert new customer, invoice, and invoice lines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/>
              <a:t>Transfer money between two accounts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/>
              <a:t>Register a student and update seat count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Transaction?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1100400" y="2806650"/>
            <a:ext cx="4339800" cy="13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Buying a product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Registering for a course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Making a deposit into a checking account</a:t>
            </a:r>
            <a:endParaRPr/>
          </a:p>
        </p:txBody>
      </p:sp>
      <p:sp>
        <p:nvSpPr>
          <p:cNvPr id="92" name="Google Shape;92;p19"/>
          <p:cNvSpPr txBox="1"/>
          <p:nvPr/>
        </p:nvSpPr>
        <p:spPr>
          <a:xfrm>
            <a:off x="1100400" y="1644425"/>
            <a:ext cx="28809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Real-world Transactions</a:t>
            </a:r>
            <a:endParaRPr sz="2400"/>
          </a:p>
        </p:txBody>
      </p:sp>
      <p:sp>
        <p:nvSpPr>
          <p:cNvPr id="93" name="Google Shape;93;p19"/>
          <p:cNvSpPr txBox="1"/>
          <p:nvPr/>
        </p:nvSpPr>
        <p:spPr>
          <a:xfrm>
            <a:off x="4875500" y="1644425"/>
            <a:ext cx="28809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Database Transactions</a:t>
            </a:r>
            <a:endParaRPr sz="2400"/>
          </a:p>
        </p:txBody>
      </p:sp>
      <p:sp>
        <p:nvSpPr>
          <p:cNvPr id="94" name="Google Shape;94;p19"/>
          <p:cNvSpPr/>
          <p:nvPr/>
        </p:nvSpPr>
        <p:spPr>
          <a:xfrm>
            <a:off x="3288875" y="1941175"/>
            <a:ext cx="1384800" cy="4080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Transaction?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1100400" y="2806650"/>
            <a:ext cx="4339800" cy="13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Buying a product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Registering for a course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Making a deposit into a checking account</a:t>
            </a:r>
            <a:endParaRPr/>
          </a:p>
        </p:txBody>
      </p:sp>
      <p:sp>
        <p:nvSpPr>
          <p:cNvPr id="101" name="Google Shape;101;p20"/>
          <p:cNvSpPr txBox="1"/>
          <p:nvPr/>
        </p:nvSpPr>
        <p:spPr>
          <a:xfrm>
            <a:off x="1100400" y="1644425"/>
            <a:ext cx="28809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Real-world Transactions</a:t>
            </a:r>
            <a:endParaRPr sz="2400"/>
          </a:p>
        </p:txBody>
      </p:sp>
      <p:sp>
        <p:nvSpPr>
          <p:cNvPr id="102" name="Google Shape;102;p20"/>
          <p:cNvSpPr txBox="1"/>
          <p:nvPr/>
        </p:nvSpPr>
        <p:spPr>
          <a:xfrm>
            <a:off x="4875500" y="1644425"/>
            <a:ext cx="28809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Database Transactions</a:t>
            </a:r>
            <a:endParaRPr sz="2400"/>
          </a:p>
        </p:txBody>
      </p:sp>
      <p:sp>
        <p:nvSpPr>
          <p:cNvPr id="103" name="Google Shape;103;p20"/>
          <p:cNvSpPr/>
          <p:nvPr/>
        </p:nvSpPr>
        <p:spPr>
          <a:xfrm>
            <a:off x="3288875" y="1941175"/>
            <a:ext cx="1384800" cy="4080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6868" y="2748318"/>
            <a:ext cx="1005600" cy="10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6352475" y="2748325"/>
            <a:ext cx="26652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How do we represent these real-world transactions in a database?</a:t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Core Requirements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199200" y="1583300"/>
            <a:ext cx="87456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Concurrent Access:</a:t>
            </a:r>
            <a:r>
              <a:rPr lang="en-GB">
                <a:solidFill>
                  <a:schemeClr val="dk1"/>
                </a:solidFill>
              </a:rPr>
              <a:t> many users accessing the same data simultaneously.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Resilience to Failures:</a:t>
            </a:r>
            <a:r>
              <a:rPr lang="en-GB">
                <a:solidFill>
                  <a:schemeClr val="dk1"/>
                </a:solidFill>
              </a:rPr>
              <a:t> system crashes or power loss shouldn’t corrupt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Database Access</a:t>
            </a:r>
            <a:endParaRPr/>
          </a:p>
        </p:txBody>
      </p:sp>
      <p:sp>
        <p:nvSpPr>
          <p:cNvPr id="117" name="Google Shape;117;p22"/>
          <p:cNvSpPr/>
          <p:nvPr/>
        </p:nvSpPr>
        <p:spPr>
          <a:xfrm>
            <a:off x="3526550" y="3699725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118" name="Google Shape;118;p22"/>
          <p:cNvSpPr/>
          <p:nvPr/>
        </p:nvSpPr>
        <p:spPr>
          <a:xfrm>
            <a:off x="3526450" y="3002300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119" name="Google Shape;119;p22"/>
          <p:cNvCxnSpPr>
            <a:stCxn id="118" idx="2"/>
            <a:endCxn id="117" idx="0"/>
          </p:cNvCxnSpPr>
          <p:nvPr/>
        </p:nvCxnSpPr>
        <p:spPr>
          <a:xfrm>
            <a:off x="4571950" y="3440300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Database Access</a:t>
            </a:r>
            <a:endParaRPr/>
          </a:p>
        </p:txBody>
      </p:sp>
      <p:sp>
        <p:nvSpPr>
          <p:cNvPr id="125" name="Google Shape;125;p23"/>
          <p:cNvSpPr/>
          <p:nvPr/>
        </p:nvSpPr>
        <p:spPr>
          <a:xfrm>
            <a:off x="3526550" y="3699725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126" name="Google Shape;126;p23"/>
          <p:cNvSpPr/>
          <p:nvPr/>
        </p:nvSpPr>
        <p:spPr>
          <a:xfrm>
            <a:off x="3526450" y="3002300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127" name="Google Shape;127;p23"/>
          <p:cNvCxnSpPr>
            <a:stCxn id="126" idx="2"/>
            <a:endCxn id="125" idx="0"/>
          </p:cNvCxnSpPr>
          <p:nvPr/>
        </p:nvCxnSpPr>
        <p:spPr>
          <a:xfrm>
            <a:off x="4571950" y="3440300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" name="Google Shape;128;p23"/>
          <p:cNvSpPr/>
          <p:nvPr/>
        </p:nvSpPr>
        <p:spPr>
          <a:xfrm>
            <a:off x="3526550" y="2564300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Software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Database Access</a:t>
            </a:r>
            <a:endParaRPr/>
          </a:p>
        </p:txBody>
      </p:sp>
      <p:sp>
        <p:nvSpPr>
          <p:cNvPr id="134" name="Google Shape;134;p24"/>
          <p:cNvSpPr/>
          <p:nvPr/>
        </p:nvSpPr>
        <p:spPr>
          <a:xfrm>
            <a:off x="3526550" y="3699725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135" name="Google Shape;135;p24"/>
          <p:cNvSpPr/>
          <p:nvPr/>
        </p:nvSpPr>
        <p:spPr>
          <a:xfrm>
            <a:off x="3526450" y="3002300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136" name="Google Shape;136;p24"/>
          <p:cNvCxnSpPr>
            <a:stCxn id="135" idx="2"/>
            <a:endCxn id="134" idx="0"/>
          </p:cNvCxnSpPr>
          <p:nvPr/>
        </p:nvCxnSpPr>
        <p:spPr>
          <a:xfrm>
            <a:off x="4571950" y="3440300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7" name="Google Shape;137;p24"/>
          <p:cNvSpPr/>
          <p:nvPr/>
        </p:nvSpPr>
        <p:spPr>
          <a:xfrm>
            <a:off x="3526550" y="2564300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Software</a:t>
            </a:r>
            <a:endParaRPr/>
          </a:p>
        </p:txBody>
      </p:sp>
      <p:sp>
        <p:nvSpPr>
          <p:cNvPr id="138" name="Google Shape;138;p24"/>
          <p:cNvSpPr/>
          <p:nvPr/>
        </p:nvSpPr>
        <p:spPr>
          <a:xfrm>
            <a:off x="1773325" y="1428875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 More Software</a:t>
            </a:r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4165400" y="1300225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4"/>
          <p:cNvSpPr/>
          <p:nvPr/>
        </p:nvSpPr>
        <p:spPr>
          <a:xfrm>
            <a:off x="4714100" y="1428875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5262800" y="1493725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" name="Google Shape;142;p24"/>
          <p:cNvCxnSpPr/>
          <p:nvPr/>
        </p:nvCxnSpPr>
        <p:spPr>
          <a:xfrm>
            <a:off x="3280050" y="1975288"/>
            <a:ext cx="413400" cy="48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4"/>
          <p:cNvCxnSpPr/>
          <p:nvPr/>
        </p:nvCxnSpPr>
        <p:spPr>
          <a:xfrm flipH="1">
            <a:off x="5102300" y="2040525"/>
            <a:ext cx="2520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4"/>
          <p:cNvCxnSpPr/>
          <p:nvPr/>
        </p:nvCxnSpPr>
        <p:spPr>
          <a:xfrm flipH="1">
            <a:off x="4709300" y="1973075"/>
            <a:ext cx="88500" cy="50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4"/>
          <p:cNvCxnSpPr/>
          <p:nvPr/>
        </p:nvCxnSpPr>
        <p:spPr>
          <a:xfrm flipH="1">
            <a:off x="4291900" y="1888750"/>
            <a:ext cx="843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4"/>
          <p:cNvCxnSpPr/>
          <p:nvPr/>
        </p:nvCxnSpPr>
        <p:spPr>
          <a:xfrm>
            <a:off x="3718500" y="1964650"/>
            <a:ext cx="279600" cy="4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Database Access</a:t>
            </a:r>
            <a:endParaRPr/>
          </a:p>
        </p:txBody>
      </p:sp>
      <p:sp>
        <p:nvSpPr>
          <p:cNvPr id="152" name="Google Shape;152;p25"/>
          <p:cNvSpPr/>
          <p:nvPr/>
        </p:nvSpPr>
        <p:spPr>
          <a:xfrm>
            <a:off x="3526550" y="3699725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153" name="Google Shape;153;p25"/>
          <p:cNvSpPr/>
          <p:nvPr/>
        </p:nvSpPr>
        <p:spPr>
          <a:xfrm>
            <a:off x="3526450" y="3002300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154" name="Google Shape;154;p25"/>
          <p:cNvCxnSpPr>
            <a:stCxn id="153" idx="2"/>
            <a:endCxn id="152" idx="0"/>
          </p:cNvCxnSpPr>
          <p:nvPr/>
        </p:nvCxnSpPr>
        <p:spPr>
          <a:xfrm>
            <a:off x="4571950" y="3440300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" name="Google Shape;155;p25"/>
          <p:cNvSpPr/>
          <p:nvPr/>
        </p:nvSpPr>
        <p:spPr>
          <a:xfrm>
            <a:off x="3526550" y="2564300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Software</a:t>
            </a:r>
            <a:endParaRPr/>
          </a:p>
        </p:txBody>
      </p:sp>
      <p:sp>
        <p:nvSpPr>
          <p:cNvPr id="156" name="Google Shape;156;p25"/>
          <p:cNvSpPr/>
          <p:nvPr/>
        </p:nvSpPr>
        <p:spPr>
          <a:xfrm>
            <a:off x="1773325" y="1428875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 More Software</a:t>
            </a:r>
            <a:endParaRPr/>
          </a:p>
        </p:txBody>
      </p:sp>
      <p:sp>
        <p:nvSpPr>
          <p:cNvPr id="157" name="Google Shape;157;p25"/>
          <p:cNvSpPr/>
          <p:nvPr/>
        </p:nvSpPr>
        <p:spPr>
          <a:xfrm>
            <a:off x="4165400" y="1300225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/>
          <p:nvPr/>
        </p:nvSpPr>
        <p:spPr>
          <a:xfrm>
            <a:off x="4714100" y="1428875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/>
          <p:cNvSpPr/>
          <p:nvPr/>
        </p:nvSpPr>
        <p:spPr>
          <a:xfrm>
            <a:off x="5262800" y="1493725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25"/>
          <p:cNvCxnSpPr/>
          <p:nvPr/>
        </p:nvCxnSpPr>
        <p:spPr>
          <a:xfrm>
            <a:off x="3280050" y="1975288"/>
            <a:ext cx="413400" cy="48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5"/>
          <p:cNvCxnSpPr/>
          <p:nvPr/>
        </p:nvCxnSpPr>
        <p:spPr>
          <a:xfrm flipH="1">
            <a:off x="5102300" y="2040525"/>
            <a:ext cx="2520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5"/>
          <p:cNvCxnSpPr/>
          <p:nvPr/>
        </p:nvCxnSpPr>
        <p:spPr>
          <a:xfrm flipH="1">
            <a:off x="4709300" y="1973075"/>
            <a:ext cx="88500" cy="50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5"/>
          <p:cNvCxnSpPr/>
          <p:nvPr/>
        </p:nvCxnSpPr>
        <p:spPr>
          <a:xfrm flipH="1">
            <a:off x="4291900" y="1888750"/>
            <a:ext cx="843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25"/>
          <p:cNvCxnSpPr/>
          <p:nvPr/>
        </p:nvCxnSpPr>
        <p:spPr>
          <a:xfrm>
            <a:off x="3718500" y="1964650"/>
            <a:ext cx="279600" cy="4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25"/>
          <p:cNvSpPr txBox="1"/>
          <p:nvPr/>
        </p:nvSpPr>
        <p:spPr>
          <a:xfrm>
            <a:off x="6307125" y="1738225"/>
            <a:ext cx="16188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Table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Drop Index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Delete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...</a:t>
            </a:r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5617450" y="2115266"/>
            <a:ext cx="649200" cy="2655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Database Access</a:t>
            </a:r>
            <a:endParaRPr/>
          </a:p>
        </p:txBody>
      </p:sp>
      <p:sp>
        <p:nvSpPr>
          <p:cNvPr id="172" name="Google Shape;172;p26"/>
          <p:cNvSpPr/>
          <p:nvPr/>
        </p:nvSpPr>
        <p:spPr>
          <a:xfrm>
            <a:off x="3526550" y="3699725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173" name="Google Shape;173;p26"/>
          <p:cNvSpPr/>
          <p:nvPr/>
        </p:nvSpPr>
        <p:spPr>
          <a:xfrm>
            <a:off x="3526450" y="3002300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174" name="Google Shape;174;p26"/>
          <p:cNvCxnSpPr>
            <a:stCxn id="173" idx="2"/>
            <a:endCxn id="172" idx="0"/>
          </p:cNvCxnSpPr>
          <p:nvPr/>
        </p:nvCxnSpPr>
        <p:spPr>
          <a:xfrm>
            <a:off x="4571950" y="3440300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5" name="Google Shape;175;p26"/>
          <p:cNvSpPr/>
          <p:nvPr/>
        </p:nvSpPr>
        <p:spPr>
          <a:xfrm>
            <a:off x="3526550" y="2564300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Software</a:t>
            </a:r>
            <a:endParaRPr/>
          </a:p>
        </p:txBody>
      </p:sp>
      <p:sp>
        <p:nvSpPr>
          <p:cNvPr id="176" name="Google Shape;176;p26"/>
          <p:cNvSpPr/>
          <p:nvPr/>
        </p:nvSpPr>
        <p:spPr>
          <a:xfrm>
            <a:off x="1773325" y="1428875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 More Software</a:t>
            </a:r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4165400" y="1300225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/>
          <p:nvPr/>
        </p:nvSpPr>
        <p:spPr>
          <a:xfrm>
            <a:off x="4714100" y="1428875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"/>
          <p:cNvSpPr/>
          <p:nvPr/>
        </p:nvSpPr>
        <p:spPr>
          <a:xfrm>
            <a:off x="5262800" y="1493725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" name="Google Shape;180;p26"/>
          <p:cNvCxnSpPr/>
          <p:nvPr/>
        </p:nvCxnSpPr>
        <p:spPr>
          <a:xfrm>
            <a:off x="3280050" y="1975288"/>
            <a:ext cx="413400" cy="48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6"/>
          <p:cNvCxnSpPr/>
          <p:nvPr/>
        </p:nvCxnSpPr>
        <p:spPr>
          <a:xfrm flipH="1">
            <a:off x="5102300" y="2040525"/>
            <a:ext cx="2520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26"/>
          <p:cNvCxnSpPr/>
          <p:nvPr/>
        </p:nvCxnSpPr>
        <p:spPr>
          <a:xfrm flipH="1">
            <a:off x="4709300" y="1973075"/>
            <a:ext cx="88500" cy="50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26"/>
          <p:cNvCxnSpPr/>
          <p:nvPr/>
        </p:nvCxnSpPr>
        <p:spPr>
          <a:xfrm flipH="1">
            <a:off x="4291900" y="1888750"/>
            <a:ext cx="843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26"/>
          <p:cNvCxnSpPr/>
          <p:nvPr/>
        </p:nvCxnSpPr>
        <p:spPr>
          <a:xfrm>
            <a:off x="3718500" y="1964650"/>
            <a:ext cx="279600" cy="4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" name="Google Shape;185;p26"/>
          <p:cNvSpPr txBox="1"/>
          <p:nvPr/>
        </p:nvSpPr>
        <p:spPr>
          <a:xfrm>
            <a:off x="6307125" y="1738225"/>
            <a:ext cx="16188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Table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Drop Index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Delete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...</a:t>
            </a:r>
            <a:endParaRPr/>
          </a:p>
        </p:txBody>
      </p:sp>
      <p:sp>
        <p:nvSpPr>
          <p:cNvPr id="186" name="Google Shape;186;p26"/>
          <p:cNvSpPr/>
          <p:nvPr/>
        </p:nvSpPr>
        <p:spPr>
          <a:xfrm>
            <a:off x="5617450" y="2115266"/>
            <a:ext cx="649200" cy="2655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6"/>
          <p:cNvSpPr txBox="1"/>
          <p:nvPr/>
        </p:nvSpPr>
        <p:spPr>
          <a:xfrm>
            <a:off x="489850" y="2653400"/>
            <a:ext cx="27078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</a:rPr>
              <a:t>The important point here is that the multiple users or applications that issue commands against the DB, would do so at the same time. 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Database Access</a:t>
            </a:r>
            <a:endParaRPr/>
          </a:p>
        </p:txBody>
      </p:sp>
      <p:sp>
        <p:nvSpPr>
          <p:cNvPr id="193" name="Google Shape;193;p27"/>
          <p:cNvSpPr/>
          <p:nvPr/>
        </p:nvSpPr>
        <p:spPr>
          <a:xfrm>
            <a:off x="3526550" y="3699725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194" name="Google Shape;194;p27"/>
          <p:cNvSpPr/>
          <p:nvPr/>
        </p:nvSpPr>
        <p:spPr>
          <a:xfrm>
            <a:off x="3526450" y="3002300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195" name="Google Shape;195;p27"/>
          <p:cNvCxnSpPr>
            <a:stCxn id="194" idx="2"/>
            <a:endCxn id="193" idx="0"/>
          </p:cNvCxnSpPr>
          <p:nvPr/>
        </p:nvCxnSpPr>
        <p:spPr>
          <a:xfrm>
            <a:off x="4571950" y="3440300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6" name="Google Shape;196;p27"/>
          <p:cNvSpPr/>
          <p:nvPr/>
        </p:nvSpPr>
        <p:spPr>
          <a:xfrm>
            <a:off x="3526550" y="2564300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Software</a:t>
            </a:r>
            <a:endParaRPr/>
          </a:p>
        </p:txBody>
      </p:sp>
      <p:sp>
        <p:nvSpPr>
          <p:cNvPr id="197" name="Google Shape;197;p27"/>
          <p:cNvSpPr/>
          <p:nvPr/>
        </p:nvSpPr>
        <p:spPr>
          <a:xfrm>
            <a:off x="1773325" y="1428875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Even More Software</a:t>
            </a:r>
            <a:endParaRPr/>
          </a:p>
        </p:txBody>
      </p:sp>
      <p:sp>
        <p:nvSpPr>
          <p:cNvPr id="198" name="Google Shape;198;p27"/>
          <p:cNvSpPr/>
          <p:nvPr/>
        </p:nvSpPr>
        <p:spPr>
          <a:xfrm>
            <a:off x="4165400" y="1300225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7"/>
          <p:cNvSpPr/>
          <p:nvPr/>
        </p:nvSpPr>
        <p:spPr>
          <a:xfrm>
            <a:off x="4714100" y="1428875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7"/>
          <p:cNvSpPr/>
          <p:nvPr/>
        </p:nvSpPr>
        <p:spPr>
          <a:xfrm>
            <a:off x="5262800" y="1493725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27"/>
          <p:cNvCxnSpPr/>
          <p:nvPr/>
        </p:nvCxnSpPr>
        <p:spPr>
          <a:xfrm>
            <a:off x="3280050" y="1975288"/>
            <a:ext cx="413400" cy="48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7"/>
          <p:cNvCxnSpPr/>
          <p:nvPr/>
        </p:nvCxnSpPr>
        <p:spPr>
          <a:xfrm flipH="1">
            <a:off x="5102300" y="2040525"/>
            <a:ext cx="2520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7"/>
          <p:cNvCxnSpPr/>
          <p:nvPr/>
        </p:nvCxnSpPr>
        <p:spPr>
          <a:xfrm flipH="1">
            <a:off x="4709300" y="1973075"/>
            <a:ext cx="88500" cy="50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7"/>
          <p:cNvCxnSpPr/>
          <p:nvPr/>
        </p:nvCxnSpPr>
        <p:spPr>
          <a:xfrm flipH="1">
            <a:off x="4291900" y="1888750"/>
            <a:ext cx="843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7"/>
          <p:cNvCxnSpPr/>
          <p:nvPr/>
        </p:nvCxnSpPr>
        <p:spPr>
          <a:xfrm>
            <a:off x="3718500" y="1964650"/>
            <a:ext cx="279600" cy="4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7"/>
          <p:cNvSpPr txBox="1"/>
          <p:nvPr/>
        </p:nvSpPr>
        <p:spPr>
          <a:xfrm>
            <a:off x="6307125" y="1738225"/>
            <a:ext cx="16188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Table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Drop Index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Delete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...</a:t>
            </a:r>
            <a:endParaRPr/>
          </a:p>
        </p:txBody>
      </p:sp>
      <p:sp>
        <p:nvSpPr>
          <p:cNvPr id="207" name="Google Shape;207;p27"/>
          <p:cNvSpPr/>
          <p:nvPr/>
        </p:nvSpPr>
        <p:spPr>
          <a:xfrm>
            <a:off x="5617450" y="2115266"/>
            <a:ext cx="649200" cy="2655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7"/>
          <p:cNvSpPr txBox="1"/>
          <p:nvPr/>
        </p:nvSpPr>
        <p:spPr>
          <a:xfrm>
            <a:off x="489850" y="2653400"/>
            <a:ext cx="27078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</a:rPr>
              <a:t>The important point here is that the multiple users or applications that issue commands against the DB, would do so at the same time. 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6124500" y="3440300"/>
            <a:ext cx="27078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</a:rPr>
              <a:t>This concurrent access can cause some difficulties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10" name="Google Shape;210;p27"/>
          <p:cNvSpPr/>
          <p:nvPr/>
        </p:nvSpPr>
        <p:spPr>
          <a:xfrm rot="10800000">
            <a:off x="7925925" y="4477316"/>
            <a:ext cx="649200" cy="2655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Concurrency Problem</a:t>
            </a:r>
            <a:endParaRPr/>
          </a:p>
        </p:txBody>
      </p:sp>
      <p:sp>
        <p:nvSpPr>
          <p:cNvPr id="216" name="Google Shape;21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multiple users issue SQL commands at the same time: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Their actions can </a:t>
            </a:r>
            <a:r>
              <a:rPr b="1" lang="en-GB">
                <a:solidFill>
                  <a:schemeClr val="dk1"/>
                </a:solidFill>
              </a:rPr>
              <a:t>interfere</a:t>
            </a:r>
            <a:r>
              <a:rPr lang="en-GB">
                <a:solidFill>
                  <a:schemeClr val="dk1"/>
                </a:solidFill>
              </a:rPr>
              <a:t> with each other.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database might enter an </a:t>
            </a:r>
            <a:r>
              <a:rPr b="1" lang="en-GB">
                <a:solidFill>
                  <a:schemeClr val="dk1"/>
                </a:solidFill>
              </a:rPr>
              <a:t>inconsistent state.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Attribute-Level Inconsistency</a:t>
            </a:r>
            <a:endParaRPr sz="2400"/>
          </a:p>
        </p:txBody>
      </p:sp>
      <p:sp>
        <p:nvSpPr>
          <p:cNvPr id="222" name="Google Shape;222;p29"/>
          <p:cNvSpPr txBox="1"/>
          <p:nvPr>
            <p:ph idx="1" type="body"/>
          </p:nvPr>
        </p:nvSpPr>
        <p:spPr>
          <a:xfrm>
            <a:off x="1155175" y="15833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CUSTOMER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+ </a:t>
            </a:r>
            <a:r>
              <a:rPr lang="en-GB" sz="1500">
                <a:solidFill>
                  <a:schemeClr val="dk1"/>
                </a:solidFill>
              </a:rPr>
              <a:t>100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CUS_CODE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12345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223" name="Google Shape;223;p29"/>
          <p:cNvSpPr txBox="1"/>
          <p:nvPr>
            <p:ph idx="1" type="body"/>
          </p:nvPr>
        </p:nvSpPr>
        <p:spPr>
          <a:xfrm>
            <a:off x="1155175" y="32288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CUSTOMER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+ </a:t>
            </a:r>
            <a:r>
              <a:rPr lang="en-GB" sz="1500">
                <a:solidFill>
                  <a:schemeClr val="dk1"/>
                </a:solidFill>
              </a:rPr>
              <a:t>250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CUS_CODE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12345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498125" y="179600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S1</a:t>
            </a:r>
            <a:endParaRPr/>
          </a:p>
        </p:txBody>
      </p:sp>
      <p:sp>
        <p:nvSpPr>
          <p:cNvPr id="226" name="Google Shape;226;p29"/>
          <p:cNvSpPr txBox="1"/>
          <p:nvPr/>
        </p:nvSpPr>
        <p:spPr>
          <a:xfrm>
            <a:off x="498125" y="349535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Attribute-Level Inconsistency</a:t>
            </a:r>
            <a:endParaRPr/>
          </a:p>
        </p:txBody>
      </p:sp>
      <p:sp>
        <p:nvSpPr>
          <p:cNvPr id="232" name="Google Shape;232;p30"/>
          <p:cNvSpPr txBox="1"/>
          <p:nvPr>
            <p:ph idx="1" type="body"/>
          </p:nvPr>
        </p:nvSpPr>
        <p:spPr>
          <a:xfrm>
            <a:off x="1155175" y="15833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CUSTOMER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+ </a:t>
            </a:r>
            <a:r>
              <a:rPr lang="en-GB" sz="1500">
                <a:solidFill>
                  <a:schemeClr val="dk1"/>
                </a:solidFill>
              </a:rPr>
              <a:t>100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CUS_CODE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12345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233" name="Google Shape;233;p30"/>
          <p:cNvSpPr txBox="1"/>
          <p:nvPr>
            <p:ph idx="1" type="body"/>
          </p:nvPr>
        </p:nvSpPr>
        <p:spPr>
          <a:xfrm>
            <a:off x="1155175" y="32288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CUSTOMER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+ </a:t>
            </a:r>
            <a:r>
              <a:rPr lang="en-GB" sz="1500">
                <a:solidFill>
                  <a:schemeClr val="dk1"/>
                </a:solidFill>
              </a:rPr>
              <a:t>250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CUS_CODE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12345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235" name="Google Shape;235;p30"/>
          <p:cNvSpPr txBox="1"/>
          <p:nvPr/>
        </p:nvSpPr>
        <p:spPr>
          <a:xfrm>
            <a:off x="498125" y="179600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S1</a:t>
            </a:r>
            <a:endParaRPr/>
          </a:p>
        </p:txBody>
      </p:sp>
      <p:sp>
        <p:nvSpPr>
          <p:cNvPr id="236" name="Google Shape;236;p30"/>
          <p:cNvSpPr txBox="1"/>
          <p:nvPr/>
        </p:nvSpPr>
        <p:spPr>
          <a:xfrm>
            <a:off x="498125" y="349535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S2</a:t>
            </a:r>
            <a:endParaRPr/>
          </a:p>
        </p:txBody>
      </p:sp>
      <p:graphicFrame>
        <p:nvGraphicFramePr>
          <p:cNvPr id="237" name="Google Shape;237;p30"/>
          <p:cNvGraphicFramePr/>
          <p:nvPr/>
        </p:nvGraphicFramePr>
        <p:xfrm>
          <a:off x="6349200" y="264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{64D8027A-9F54-47FC-8230-BDAF04AF3045}</a:tableStyleId>
              </a:tblPr>
              <a:tblGrid>
                <a:gridCol w="465900"/>
                <a:gridCol w="465900"/>
                <a:gridCol w="465900"/>
                <a:gridCol w="465900"/>
              </a:tblGrid>
              <a:tr h="40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8" name="Google Shape;238;p30"/>
          <p:cNvSpPr/>
          <p:nvPr/>
        </p:nvSpPr>
        <p:spPr>
          <a:xfrm>
            <a:off x="7449825" y="3216100"/>
            <a:ext cx="143400" cy="124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0"/>
          <p:cNvSpPr txBox="1"/>
          <p:nvPr/>
        </p:nvSpPr>
        <p:spPr>
          <a:xfrm>
            <a:off x="6214350" y="1552275"/>
            <a:ext cx="2133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Both S1 and S2 need to </a:t>
            </a:r>
            <a:r>
              <a:rPr b="1" lang="en-GB"/>
              <a:t>get</a:t>
            </a:r>
            <a:r>
              <a:rPr lang="en-GB"/>
              <a:t>, </a:t>
            </a:r>
            <a:r>
              <a:rPr b="1" lang="en-GB"/>
              <a:t>modify</a:t>
            </a:r>
            <a:r>
              <a:rPr lang="en-GB"/>
              <a:t> and </a:t>
            </a:r>
            <a:r>
              <a:rPr b="1" lang="en-GB"/>
              <a:t>put</a:t>
            </a:r>
            <a:r>
              <a:rPr lang="en-GB"/>
              <a:t> back the value of CUS_BALANCE </a:t>
            </a:r>
            <a:endParaRPr/>
          </a:p>
        </p:txBody>
      </p:sp>
      <p:sp>
        <p:nvSpPr>
          <p:cNvPr id="240" name="Google Shape;240;p30"/>
          <p:cNvSpPr/>
          <p:nvPr/>
        </p:nvSpPr>
        <p:spPr>
          <a:xfrm>
            <a:off x="7833300" y="2015250"/>
            <a:ext cx="778175" cy="1239500"/>
          </a:xfrm>
          <a:custGeom>
            <a:rect b="b" l="l" r="r" t="t"/>
            <a:pathLst>
              <a:path extrusionOk="0" h="49580" w="31127">
                <a:moveTo>
                  <a:pt x="15515" y="0"/>
                </a:moveTo>
                <a:cubicBezTo>
                  <a:pt x="26576" y="0"/>
                  <a:pt x="33395" y="19045"/>
                  <a:pt x="30355" y="29680"/>
                </a:cubicBezTo>
                <a:cubicBezTo>
                  <a:pt x="27029" y="41313"/>
                  <a:pt x="12099" y="49580"/>
                  <a:pt x="0" y="4958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Attribute-Level Inconsistency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1"/>
          <p:cNvSpPr txBox="1"/>
          <p:nvPr>
            <p:ph idx="1" type="body"/>
          </p:nvPr>
        </p:nvSpPr>
        <p:spPr>
          <a:xfrm>
            <a:off x="1155175" y="15833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CUSTOMER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+ </a:t>
            </a:r>
            <a:r>
              <a:rPr lang="en-GB" sz="1500">
                <a:solidFill>
                  <a:schemeClr val="dk1"/>
                </a:solidFill>
              </a:rPr>
              <a:t>100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CUS_CODE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12345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247" name="Google Shape;247;p31"/>
          <p:cNvSpPr txBox="1"/>
          <p:nvPr>
            <p:ph idx="1" type="body"/>
          </p:nvPr>
        </p:nvSpPr>
        <p:spPr>
          <a:xfrm>
            <a:off x="1155175" y="32288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CUSTOMER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+ </a:t>
            </a:r>
            <a:r>
              <a:rPr lang="en-GB" sz="1500">
                <a:solidFill>
                  <a:schemeClr val="dk1"/>
                </a:solidFill>
              </a:rPr>
              <a:t>250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CUS_CODE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12345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249" name="Google Shape;249;p31"/>
          <p:cNvSpPr txBox="1"/>
          <p:nvPr/>
        </p:nvSpPr>
        <p:spPr>
          <a:xfrm>
            <a:off x="498125" y="179600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S1</a:t>
            </a:r>
            <a:endParaRPr/>
          </a:p>
        </p:txBody>
      </p:sp>
      <p:sp>
        <p:nvSpPr>
          <p:cNvPr id="250" name="Google Shape;250;p31"/>
          <p:cNvSpPr txBox="1"/>
          <p:nvPr/>
        </p:nvSpPr>
        <p:spPr>
          <a:xfrm>
            <a:off x="498125" y="349535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S2</a:t>
            </a:r>
            <a:endParaRPr/>
          </a:p>
        </p:txBody>
      </p:sp>
      <p:graphicFrame>
        <p:nvGraphicFramePr>
          <p:cNvPr id="251" name="Google Shape;251;p31"/>
          <p:cNvGraphicFramePr/>
          <p:nvPr/>
        </p:nvGraphicFramePr>
        <p:xfrm>
          <a:off x="6349200" y="264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{64D8027A-9F54-47FC-8230-BDAF04AF3045}</a:tableStyleId>
              </a:tblPr>
              <a:tblGrid>
                <a:gridCol w="465900"/>
                <a:gridCol w="465900"/>
                <a:gridCol w="465900"/>
                <a:gridCol w="465900"/>
              </a:tblGrid>
              <a:tr h="40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2" name="Google Shape;252;p31"/>
          <p:cNvSpPr/>
          <p:nvPr/>
        </p:nvSpPr>
        <p:spPr>
          <a:xfrm>
            <a:off x="7449825" y="3216100"/>
            <a:ext cx="143400" cy="124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1"/>
          <p:cNvSpPr txBox="1"/>
          <p:nvPr/>
        </p:nvSpPr>
        <p:spPr>
          <a:xfrm>
            <a:off x="6138150" y="1552275"/>
            <a:ext cx="23358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get</a:t>
            </a:r>
            <a:r>
              <a:rPr lang="en-GB"/>
              <a:t>, </a:t>
            </a:r>
            <a:r>
              <a:rPr b="1" lang="en-GB"/>
              <a:t>modify</a:t>
            </a:r>
            <a:r>
              <a:rPr lang="en-GB"/>
              <a:t>, </a:t>
            </a:r>
            <a:r>
              <a:rPr b="1" lang="en-GB"/>
              <a:t>put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400 + 100 + 250 = 750 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1"/>
          <p:cNvSpPr txBox="1"/>
          <p:nvPr/>
        </p:nvSpPr>
        <p:spPr>
          <a:xfrm>
            <a:off x="3515350" y="2571800"/>
            <a:ext cx="2732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Ideally S1 completes </a:t>
            </a:r>
            <a:r>
              <a:rPr i="1" lang="en-GB">
                <a:solidFill>
                  <a:srgbClr val="FF0000"/>
                </a:solidFill>
              </a:rPr>
              <a:t>after</a:t>
            </a:r>
            <a:r>
              <a:rPr lang="en-GB">
                <a:solidFill>
                  <a:srgbClr val="FF0000"/>
                </a:solidFill>
              </a:rPr>
              <a:t> S2 (or vice versa)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Attribute-Level Inconsistency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2"/>
          <p:cNvSpPr txBox="1"/>
          <p:nvPr>
            <p:ph idx="1" type="body"/>
          </p:nvPr>
        </p:nvSpPr>
        <p:spPr>
          <a:xfrm>
            <a:off x="1155175" y="15833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CUSTOMER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+ </a:t>
            </a:r>
            <a:r>
              <a:rPr lang="en-GB" sz="1500">
                <a:solidFill>
                  <a:schemeClr val="dk1"/>
                </a:solidFill>
              </a:rPr>
              <a:t>100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CUS_CODE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12345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261" name="Google Shape;261;p32"/>
          <p:cNvSpPr txBox="1"/>
          <p:nvPr>
            <p:ph idx="1" type="body"/>
          </p:nvPr>
        </p:nvSpPr>
        <p:spPr>
          <a:xfrm>
            <a:off x="1155175" y="32288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CUSTOMER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+ </a:t>
            </a:r>
            <a:r>
              <a:rPr lang="en-GB" sz="1500">
                <a:solidFill>
                  <a:schemeClr val="dk1"/>
                </a:solidFill>
              </a:rPr>
              <a:t>250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CUS_CODE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12345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263" name="Google Shape;263;p32"/>
          <p:cNvSpPr txBox="1"/>
          <p:nvPr/>
        </p:nvSpPr>
        <p:spPr>
          <a:xfrm>
            <a:off x="498125" y="179600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S1</a:t>
            </a:r>
            <a:endParaRPr/>
          </a:p>
        </p:txBody>
      </p:sp>
      <p:sp>
        <p:nvSpPr>
          <p:cNvPr id="264" name="Google Shape;264;p32"/>
          <p:cNvSpPr txBox="1"/>
          <p:nvPr/>
        </p:nvSpPr>
        <p:spPr>
          <a:xfrm>
            <a:off x="498125" y="349535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S2</a:t>
            </a:r>
            <a:endParaRPr/>
          </a:p>
        </p:txBody>
      </p:sp>
      <p:graphicFrame>
        <p:nvGraphicFramePr>
          <p:cNvPr id="265" name="Google Shape;265;p32"/>
          <p:cNvGraphicFramePr/>
          <p:nvPr/>
        </p:nvGraphicFramePr>
        <p:xfrm>
          <a:off x="6349200" y="264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{64D8027A-9F54-47FC-8230-BDAF04AF3045}</a:tableStyleId>
              </a:tblPr>
              <a:tblGrid>
                <a:gridCol w="465900"/>
                <a:gridCol w="465900"/>
                <a:gridCol w="465900"/>
                <a:gridCol w="465900"/>
              </a:tblGrid>
              <a:tr h="40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6" name="Google Shape;266;p32"/>
          <p:cNvSpPr/>
          <p:nvPr/>
        </p:nvSpPr>
        <p:spPr>
          <a:xfrm>
            <a:off x="7449825" y="3216100"/>
            <a:ext cx="143400" cy="124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2"/>
          <p:cNvSpPr txBox="1"/>
          <p:nvPr/>
        </p:nvSpPr>
        <p:spPr>
          <a:xfrm>
            <a:off x="6138150" y="1552275"/>
            <a:ext cx="23358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get</a:t>
            </a:r>
            <a:r>
              <a:rPr lang="en-GB"/>
              <a:t>, </a:t>
            </a:r>
            <a:r>
              <a:rPr b="1" lang="en-GB"/>
              <a:t>modify</a:t>
            </a:r>
            <a:r>
              <a:rPr lang="en-GB"/>
              <a:t>, </a:t>
            </a:r>
            <a:r>
              <a:rPr b="1" lang="en-GB"/>
              <a:t>put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400 + 100 + 250 = 750 ✅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-GB"/>
              <a:t>100		= 500	❌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-GB"/>
              <a:t>250		= 650	</a:t>
            </a:r>
            <a:r>
              <a:rPr lang="en-GB">
                <a:solidFill>
                  <a:schemeClr val="dk1"/>
                </a:solidFill>
              </a:rPr>
              <a:t>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2"/>
          <p:cNvSpPr txBox="1"/>
          <p:nvPr/>
        </p:nvSpPr>
        <p:spPr>
          <a:xfrm>
            <a:off x="3246300" y="2495600"/>
            <a:ext cx="30018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possible that the get, modify and put of S1 &amp; S2 are interweaved such that one update gets lost!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Tuple-Level Inconsistency</a:t>
            </a:r>
            <a:endParaRPr sz="2400"/>
          </a:p>
        </p:txBody>
      </p:sp>
      <p:sp>
        <p:nvSpPr>
          <p:cNvPr id="274" name="Google Shape;274;p33"/>
          <p:cNvSpPr txBox="1"/>
          <p:nvPr>
            <p:ph idx="1" type="body"/>
          </p:nvPr>
        </p:nvSpPr>
        <p:spPr>
          <a:xfrm>
            <a:off x="1155175" y="15833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PRODUCT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P_QOH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P_QOH</a:t>
            </a:r>
            <a:r>
              <a:rPr lang="en-GB" sz="1500">
                <a:solidFill>
                  <a:srgbClr val="9900FF"/>
                </a:solidFill>
              </a:rPr>
              <a:t> - </a:t>
            </a:r>
            <a:r>
              <a:rPr lang="en-GB" sz="1500">
                <a:solidFill>
                  <a:schemeClr val="dk1"/>
                </a:solidFill>
              </a:rPr>
              <a:t>5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P_CODE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275" name="Google Shape;275;p33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276" name="Google Shape;276;p33"/>
          <p:cNvSpPr txBox="1"/>
          <p:nvPr/>
        </p:nvSpPr>
        <p:spPr>
          <a:xfrm>
            <a:off x="498125" y="179600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S1</a:t>
            </a:r>
            <a:endParaRPr/>
          </a:p>
        </p:txBody>
      </p:sp>
      <p:sp>
        <p:nvSpPr>
          <p:cNvPr id="277" name="Google Shape;277;p33"/>
          <p:cNvSpPr txBox="1"/>
          <p:nvPr/>
        </p:nvSpPr>
        <p:spPr>
          <a:xfrm>
            <a:off x="498125" y="349535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S2</a:t>
            </a:r>
            <a:endParaRPr/>
          </a:p>
        </p:txBody>
      </p:sp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1155175" y="32288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PRODUCT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P_REORDER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1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P_CODE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graphicFrame>
        <p:nvGraphicFramePr>
          <p:cNvPr id="279" name="Google Shape;279;p33"/>
          <p:cNvGraphicFramePr/>
          <p:nvPr/>
        </p:nvGraphicFramePr>
        <p:xfrm>
          <a:off x="6349200" y="264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{64D8027A-9F54-47FC-8230-BDAF04AF3045}</a:tableStyleId>
              </a:tblPr>
              <a:tblGrid>
                <a:gridCol w="465900"/>
                <a:gridCol w="465900"/>
                <a:gridCol w="465900"/>
                <a:gridCol w="465900"/>
              </a:tblGrid>
              <a:tr h="40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123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0" name="Google Shape;280;p33"/>
          <p:cNvSpPr/>
          <p:nvPr/>
        </p:nvSpPr>
        <p:spPr>
          <a:xfrm>
            <a:off x="7449825" y="3216100"/>
            <a:ext cx="143400" cy="124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3"/>
          <p:cNvSpPr txBox="1"/>
          <p:nvPr/>
        </p:nvSpPr>
        <p:spPr>
          <a:xfrm>
            <a:off x="6214350" y="1552275"/>
            <a:ext cx="2133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Both S1 and S2 need to </a:t>
            </a:r>
            <a:r>
              <a:rPr b="1" lang="en-GB"/>
              <a:t>get</a:t>
            </a:r>
            <a:r>
              <a:rPr lang="en-GB"/>
              <a:t>, </a:t>
            </a:r>
            <a:r>
              <a:rPr b="1" lang="en-GB"/>
              <a:t>modify</a:t>
            </a:r>
            <a:r>
              <a:rPr lang="en-GB"/>
              <a:t> and </a:t>
            </a:r>
            <a:r>
              <a:rPr b="1" lang="en-GB"/>
              <a:t>put</a:t>
            </a:r>
            <a:r>
              <a:rPr lang="en-GB"/>
              <a:t> back the same row</a:t>
            </a:r>
            <a:endParaRPr/>
          </a:p>
        </p:txBody>
      </p:sp>
      <p:sp>
        <p:nvSpPr>
          <p:cNvPr id="282" name="Google Shape;282;p33"/>
          <p:cNvSpPr/>
          <p:nvPr/>
        </p:nvSpPr>
        <p:spPr>
          <a:xfrm>
            <a:off x="8347650" y="2032100"/>
            <a:ext cx="263801" cy="1196737"/>
          </a:xfrm>
          <a:custGeom>
            <a:rect b="b" l="l" r="r" t="t"/>
            <a:pathLst>
              <a:path extrusionOk="0" h="49580" w="31127">
                <a:moveTo>
                  <a:pt x="15515" y="0"/>
                </a:moveTo>
                <a:cubicBezTo>
                  <a:pt x="26576" y="0"/>
                  <a:pt x="33395" y="19045"/>
                  <a:pt x="30355" y="29680"/>
                </a:cubicBezTo>
                <a:cubicBezTo>
                  <a:pt x="27029" y="41313"/>
                  <a:pt x="12099" y="49580"/>
                  <a:pt x="0" y="4958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83" name="Google Shape;283;p33"/>
          <p:cNvSpPr/>
          <p:nvPr/>
        </p:nvSpPr>
        <p:spPr>
          <a:xfrm>
            <a:off x="7898738" y="3216100"/>
            <a:ext cx="143400" cy="124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Tuple-Level Inconsistency</a:t>
            </a:r>
            <a:endParaRPr sz="2400"/>
          </a:p>
        </p:txBody>
      </p:sp>
      <p:sp>
        <p:nvSpPr>
          <p:cNvPr id="289" name="Google Shape;289;p34"/>
          <p:cNvSpPr txBox="1"/>
          <p:nvPr>
            <p:ph idx="1" type="body"/>
          </p:nvPr>
        </p:nvSpPr>
        <p:spPr>
          <a:xfrm>
            <a:off x="1155175" y="15833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PRODUCT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P_QOH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P_QOH</a:t>
            </a:r>
            <a:r>
              <a:rPr lang="en-GB" sz="1500">
                <a:solidFill>
                  <a:srgbClr val="9900FF"/>
                </a:solidFill>
              </a:rPr>
              <a:t> - </a:t>
            </a:r>
            <a:r>
              <a:rPr lang="en-GB" sz="1500">
                <a:solidFill>
                  <a:schemeClr val="dk1"/>
                </a:solidFill>
              </a:rPr>
              <a:t>5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P_CODE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290" name="Google Shape;290;p34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291" name="Google Shape;291;p34"/>
          <p:cNvSpPr txBox="1"/>
          <p:nvPr/>
        </p:nvSpPr>
        <p:spPr>
          <a:xfrm>
            <a:off x="498125" y="179600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S1</a:t>
            </a:r>
            <a:endParaRPr/>
          </a:p>
        </p:txBody>
      </p:sp>
      <p:sp>
        <p:nvSpPr>
          <p:cNvPr id="292" name="Google Shape;292;p34"/>
          <p:cNvSpPr txBox="1"/>
          <p:nvPr/>
        </p:nvSpPr>
        <p:spPr>
          <a:xfrm>
            <a:off x="498125" y="349535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S2</a:t>
            </a:r>
            <a:endParaRPr/>
          </a:p>
        </p:txBody>
      </p:sp>
      <p:sp>
        <p:nvSpPr>
          <p:cNvPr id="293" name="Google Shape;293;p34"/>
          <p:cNvSpPr txBox="1"/>
          <p:nvPr>
            <p:ph idx="1" type="body"/>
          </p:nvPr>
        </p:nvSpPr>
        <p:spPr>
          <a:xfrm>
            <a:off x="1155175" y="32288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PRODUCT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P_REORDER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1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P_CODE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graphicFrame>
        <p:nvGraphicFramePr>
          <p:cNvPr id="294" name="Google Shape;294;p34"/>
          <p:cNvGraphicFramePr/>
          <p:nvPr/>
        </p:nvGraphicFramePr>
        <p:xfrm>
          <a:off x="6349200" y="264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{64D8027A-9F54-47FC-8230-BDAF04AF3045}</a:tableStyleId>
              </a:tblPr>
              <a:tblGrid>
                <a:gridCol w="465900"/>
                <a:gridCol w="465900"/>
                <a:gridCol w="465900"/>
                <a:gridCol w="465900"/>
              </a:tblGrid>
              <a:tr h="40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123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5" name="Google Shape;295;p34"/>
          <p:cNvSpPr/>
          <p:nvPr/>
        </p:nvSpPr>
        <p:spPr>
          <a:xfrm>
            <a:off x="7449825" y="3216100"/>
            <a:ext cx="143400" cy="124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4"/>
          <p:cNvSpPr txBox="1"/>
          <p:nvPr/>
        </p:nvSpPr>
        <p:spPr>
          <a:xfrm>
            <a:off x="6214350" y="1552275"/>
            <a:ext cx="2133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g</a:t>
            </a:r>
            <a:r>
              <a:rPr b="1" lang="en-GB"/>
              <a:t>et, modify, put</a:t>
            </a:r>
            <a:endParaRPr b="1"/>
          </a:p>
        </p:txBody>
      </p:sp>
      <p:sp>
        <p:nvSpPr>
          <p:cNvPr id="297" name="Google Shape;297;p34"/>
          <p:cNvSpPr/>
          <p:nvPr/>
        </p:nvSpPr>
        <p:spPr>
          <a:xfrm>
            <a:off x="8347650" y="2032100"/>
            <a:ext cx="263801" cy="1196737"/>
          </a:xfrm>
          <a:custGeom>
            <a:rect b="b" l="l" r="r" t="t"/>
            <a:pathLst>
              <a:path extrusionOk="0" h="49580" w="31127">
                <a:moveTo>
                  <a:pt x="15515" y="0"/>
                </a:moveTo>
                <a:cubicBezTo>
                  <a:pt x="26576" y="0"/>
                  <a:pt x="33395" y="19045"/>
                  <a:pt x="30355" y="29680"/>
                </a:cubicBezTo>
                <a:cubicBezTo>
                  <a:pt x="27029" y="41313"/>
                  <a:pt x="12099" y="49580"/>
                  <a:pt x="0" y="4958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98" name="Google Shape;298;p34"/>
          <p:cNvSpPr/>
          <p:nvPr/>
        </p:nvSpPr>
        <p:spPr>
          <a:xfrm>
            <a:off x="7898738" y="3216100"/>
            <a:ext cx="143400" cy="124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4"/>
          <p:cNvSpPr txBox="1"/>
          <p:nvPr/>
        </p:nvSpPr>
        <p:spPr>
          <a:xfrm>
            <a:off x="3102975" y="2571800"/>
            <a:ext cx="3144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Ideally S1 completes </a:t>
            </a:r>
            <a:r>
              <a:rPr i="1" lang="en-GB">
                <a:solidFill>
                  <a:srgbClr val="FF0000"/>
                </a:solidFill>
              </a:rPr>
              <a:t>after</a:t>
            </a:r>
            <a:r>
              <a:rPr lang="en-GB">
                <a:solidFill>
                  <a:srgbClr val="FF0000"/>
                </a:solidFill>
              </a:rPr>
              <a:t> S2 (or vice versa) so both changes are made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5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Tuple-Level Inconsistency</a:t>
            </a:r>
            <a:endParaRPr sz="2400"/>
          </a:p>
        </p:txBody>
      </p:sp>
      <p:sp>
        <p:nvSpPr>
          <p:cNvPr id="305" name="Google Shape;305;p35"/>
          <p:cNvSpPr txBox="1"/>
          <p:nvPr>
            <p:ph idx="1" type="body"/>
          </p:nvPr>
        </p:nvSpPr>
        <p:spPr>
          <a:xfrm>
            <a:off x="1155175" y="15833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PRODUCT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P_QOH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P_QOH</a:t>
            </a:r>
            <a:r>
              <a:rPr lang="en-GB" sz="1500">
                <a:solidFill>
                  <a:srgbClr val="9900FF"/>
                </a:solidFill>
              </a:rPr>
              <a:t> - </a:t>
            </a:r>
            <a:r>
              <a:rPr lang="en-GB" sz="1500">
                <a:solidFill>
                  <a:schemeClr val="dk1"/>
                </a:solidFill>
              </a:rPr>
              <a:t>5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P_CODE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306" name="Google Shape;306;p35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307" name="Google Shape;307;p35"/>
          <p:cNvSpPr txBox="1"/>
          <p:nvPr/>
        </p:nvSpPr>
        <p:spPr>
          <a:xfrm>
            <a:off x="498125" y="179600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S1</a:t>
            </a:r>
            <a:endParaRPr/>
          </a:p>
        </p:txBody>
      </p:sp>
      <p:sp>
        <p:nvSpPr>
          <p:cNvPr id="308" name="Google Shape;308;p35"/>
          <p:cNvSpPr txBox="1"/>
          <p:nvPr/>
        </p:nvSpPr>
        <p:spPr>
          <a:xfrm>
            <a:off x="498125" y="349535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S2</a:t>
            </a:r>
            <a:endParaRPr/>
          </a:p>
        </p:txBody>
      </p:sp>
      <p:sp>
        <p:nvSpPr>
          <p:cNvPr id="309" name="Google Shape;309;p35"/>
          <p:cNvSpPr txBox="1"/>
          <p:nvPr>
            <p:ph idx="1" type="body"/>
          </p:nvPr>
        </p:nvSpPr>
        <p:spPr>
          <a:xfrm>
            <a:off x="1155175" y="32288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PRODUCT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P_REORDER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1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P_CODE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graphicFrame>
        <p:nvGraphicFramePr>
          <p:cNvPr id="310" name="Google Shape;310;p35"/>
          <p:cNvGraphicFramePr/>
          <p:nvPr/>
        </p:nvGraphicFramePr>
        <p:xfrm>
          <a:off x="6349200" y="264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{64D8027A-9F54-47FC-8230-BDAF04AF3045}</a:tableStyleId>
              </a:tblPr>
              <a:tblGrid>
                <a:gridCol w="465900"/>
                <a:gridCol w="465900"/>
                <a:gridCol w="465900"/>
                <a:gridCol w="465900"/>
              </a:tblGrid>
              <a:tr h="40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123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1" name="Google Shape;311;p35"/>
          <p:cNvSpPr/>
          <p:nvPr/>
        </p:nvSpPr>
        <p:spPr>
          <a:xfrm>
            <a:off x="7449825" y="3216100"/>
            <a:ext cx="143400" cy="124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5"/>
          <p:cNvSpPr txBox="1"/>
          <p:nvPr/>
        </p:nvSpPr>
        <p:spPr>
          <a:xfrm>
            <a:off x="6214350" y="1552275"/>
            <a:ext cx="2133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get, modify, put</a:t>
            </a:r>
            <a:endParaRPr b="1"/>
          </a:p>
        </p:txBody>
      </p:sp>
      <p:sp>
        <p:nvSpPr>
          <p:cNvPr id="313" name="Google Shape;313;p35"/>
          <p:cNvSpPr/>
          <p:nvPr/>
        </p:nvSpPr>
        <p:spPr>
          <a:xfrm>
            <a:off x="8347650" y="2032100"/>
            <a:ext cx="263801" cy="1196737"/>
          </a:xfrm>
          <a:custGeom>
            <a:rect b="b" l="l" r="r" t="t"/>
            <a:pathLst>
              <a:path extrusionOk="0" h="49580" w="31127">
                <a:moveTo>
                  <a:pt x="15515" y="0"/>
                </a:moveTo>
                <a:cubicBezTo>
                  <a:pt x="26576" y="0"/>
                  <a:pt x="33395" y="19045"/>
                  <a:pt x="30355" y="29680"/>
                </a:cubicBezTo>
                <a:cubicBezTo>
                  <a:pt x="27029" y="41313"/>
                  <a:pt x="12099" y="49580"/>
                  <a:pt x="0" y="4958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14" name="Google Shape;314;p35"/>
          <p:cNvSpPr/>
          <p:nvPr/>
        </p:nvSpPr>
        <p:spPr>
          <a:xfrm>
            <a:off x="7898738" y="3216100"/>
            <a:ext cx="143400" cy="124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5"/>
          <p:cNvSpPr txBox="1"/>
          <p:nvPr/>
        </p:nvSpPr>
        <p:spPr>
          <a:xfrm>
            <a:off x="3102975" y="2571800"/>
            <a:ext cx="3144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Without transaction management, possible that one change is lost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Table-Level Inconsistency</a:t>
            </a:r>
            <a:endParaRPr sz="2400"/>
          </a:p>
        </p:txBody>
      </p:sp>
      <p:sp>
        <p:nvSpPr>
          <p:cNvPr id="321" name="Google Shape;321;p36"/>
          <p:cNvSpPr txBox="1"/>
          <p:nvPr>
            <p:ph idx="1" type="body"/>
          </p:nvPr>
        </p:nvSpPr>
        <p:spPr>
          <a:xfrm>
            <a:off x="498500" y="1507100"/>
            <a:ext cx="5545800" cy="1064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APPLY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DECISION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‘Y’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rgbClr val="000000"/>
                </a:solidFill>
              </a:rPr>
              <a:t>S</a:t>
            </a:r>
            <a:r>
              <a:rPr lang="en-GB" sz="1500">
                <a:solidFill>
                  <a:srgbClr val="000000"/>
                </a:solidFill>
              </a:rPr>
              <a:t>_ID </a:t>
            </a:r>
            <a:r>
              <a:rPr lang="en-GB" sz="1500">
                <a:solidFill>
                  <a:srgbClr val="9900FF"/>
                </a:solidFill>
              </a:rPr>
              <a:t>IN </a:t>
            </a:r>
            <a:r>
              <a:rPr lang="en-GB" sz="1500">
                <a:solidFill>
                  <a:srgbClr val="000000"/>
                </a:solidFill>
              </a:rPr>
              <a:t>(</a:t>
            </a:r>
            <a:endParaRPr sz="15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SELECT</a:t>
            </a:r>
            <a:r>
              <a:rPr lang="en-GB" sz="1400">
                <a:solidFill>
                  <a:srgbClr val="000000"/>
                </a:solidFill>
              </a:rPr>
              <a:t> S_ID </a:t>
            </a:r>
            <a:r>
              <a:rPr lang="en-GB" sz="1400">
                <a:solidFill>
                  <a:srgbClr val="9900FF"/>
                </a:solidFill>
              </a:rPr>
              <a:t>FROM</a:t>
            </a:r>
            <a:r>
              <a:rPr lang="en-GB" sz="1400">
                <a:solidFill>
                  <a:srgbClr val="000000"/>
                </a:solidFill>
              </a:rPr>
              <a:t> STUDENT</a:t>
            </a:r>
            <a:r>
              <a:rPr lang="en-GB" sz="1400">
                <a:solidFill>
                  <a:srgbClr val="000000"/>
                </a:solidFill>
              </a:rPr>
              <a:t>  </a:t>
            </a:r>
            <a:r>
              <a:rPr lang="en-GB" sz="1400">
                <a:solidFill>
                  <a:srgbClr val="9900FF"/>
                </a:solidFill>
              </a:rPr>
              <a:t>WHERE</a:t>
            </a:r>
            <a:r>
              <a:rPr lang="en-GB" sz="1400">
                <a:solidFill>
                  <a:srgbClr val="000000"/>
                </a:solidFill>
              </a:rPr>
              <a:t> </a:t>
            </a:r>
            <a:r>
              <a:rPr lang="en-GB" sz="1400">
                <a:solidFill>
                  <a:schemeClr val="dk1"/>
                </a:solidFill>
              </a:rPr>
              <a:t>GPA</a:t>
            </a:r>
            <a:r>
              <a:rPr lang="en-GB" sz="1400">
                <a:solidFill>
                  <a:srgbClr val="9900FF"/>
                </a:solidFill>
              </a:rPr>
              <a:t> &gt; </a:t>
            </a:r>
            <a:r>
              <a:rPr lang="en-GB" sz="1400">
                <a:solidFill>
                  <a:srgbClr val="000000"/>
                </a:solidFill>
              </a:rPr>
              <a:t>3.9</a:t>
            </a:r>
            <a:r>
              <a:rPr lang="en-GB" sz="1500">
                <a:solidFill>
                  <a:schemeClr val="dk1"/>
                </a:solidFill>
              </a:rPr>
              <a:t>)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322" name="Google Shape;322;p36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323" name="Google Shape;323;p36"/>
          <p:cNvSpPr txBox="1"/>
          <p:nvPr/>
        </p:nvSpPr>
        <p:spPr>
          <a:xfrm>
            <a:off x="0" y="179600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S1</a:t>
            </a:r>
            <a:endParaRPr/>
          </a:p>
        </p:txBody>
      </p:sp>
      <p:sp>
        <p:nvSpPr>
          <p:cNvPr id="324" name="Google Shape;324;p36"/>
          <p:cNvSpPr txBox="1"/>
          <p:nvPr/>
        </p:nvSpPr>
        <p:spPr>
          <a:xfrm>
            <a:off x="0" y="349535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S2</a:t>
            </a:r>
            <a:endParaRPr/>
          </a:p>
        </p:txBody>
      </p:sp>
      <p:sp>
        <p:nvSpPr>
          <p:cNvPr id="325" name="Google Shape;325;p36"/>
          <p:cNvSpPr txBox="1"/>
          <p:nvPr>
            <p:ph idx="1" type="body"/>
          </p:nvPr>
        </p:nvSpPr>
        <p:spPr>
          <a:xfrm>
            <a:off x="498500" y="3228800"/>
            <a:ext cx="55458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STUDENT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GPA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GPA * 1.1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HS_SIZE</a:t>
            </a:r>
            <a:r>
              <a:rPr lang="en-GB" sz="1500">
                <a:solidFill>
                  <a:schemeClr val="dk1"/>
                </a:solidFill>
              </a:rPr>
              <a:t> &gt; 2500</a:t>
            </a:r>
            <a:r>
              <a:rPr lang="en-GB" sz="1500">
                <a:solidFill>
                  <a:srgbClr val="9900FF"/>
                </a:solidFill>
              </a:rPr>
              <a:t>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326" name="Google Shape;326;p36"/>
          <p:cNvSpPr txBox="1"/>
          <p:nvPr/>
        </p:nvSpPr>
        <p:spPr>
          <a:xfrm>
            <a:off x="6853475" y="1519975"/>
            <a:ext cx="11943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6"/>
          <p:cNvSpPr/>
          <p:nvPr/>
        </p:nvSpPr>
        <p:spPr>
          <a:xfrm>
            <a:off x="7002750" y="1507100"/>
            <a:ext cx="1044900" cy="12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6"/>
          <p:cNvSpPr/>
          <p:nvPr/>
        </p:nvSpPr>
        <p:spPr>
          <a:xfrm>
            <a:off x="7002750" y="3171050"/>
            <a:ext cx="1044900" cy="12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6"/>
          <p:cNvSpPr txBox="1"/>
          <p:nvPr/>
        </p:nvSpPr>
        <p:spPr>
          <a:xfrm>
            <a:off x="7029900" y="1207850"/>
            <a:ext cx="10449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APPLY</a:t>
            </a:r>
            <a:endParaRPr sz="1200"/>
          </a:p>
        </p:txBody>
      </p:sp>
      <p:sp>
        <p:nvSpPr>
          <p:cNvPr id="330" name="Google Shape;330;p36"/>
          <p:cNvSpPr txBox="1"/>
          <p:nvPr/>
        </p:nvSpPr>
        <p:spPr>
          <a:xfrm>
            <a:off x="7029900" y="2884250"/>
            <a:ext cx="10449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STUDENT</a:t>
            </a:r>
            <a:endParaRPr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Table-Level Inconsistency</a:t>
            </a:r>
            <a:endParaRPr sz="2400"/>
          </a:p>
        </p:txBody>
      </p:sp>
      <p:sp>
        <p:nvSpPr>
          <p:cNvPr id="336" name="Google Shape;336;p37"/>
          <p:cNvSpPr txBox="1"/>
          <p:nvPr>
            <p:ph idx="1" type="body"/>
          </p:nvPr>
        </p:nvSpPr>
        <p:spPr>
          <a:xfrm>
            <a:off x="498500" y="1507100"/>
            <a:ext cx="5545800" cy="1064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APPLY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DECISION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‘Y’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rgbClr val="000000"/>
                </a:solidFill>
              </a:rPr>
              <a:t>S_ID </a:t>
            </a:r>
            <a:r>
              <a:rPr lang="en-GB" sz="1500">
                <a:solidFill>
                  <a:srgbClr val="9900FF"/>
                </a:solidFill>
              </a:rPr>
              <a:t>IN </a:t>
            </a:r>
            <a:r>
              <a:rPr lang="en-GB" sz="1500">
                <a:solidFill>
                  <a:srgbClr val="000000"/>
                </a:solidFill>
              </a:rPr>
              <a:t>(</a:t>
            </a:r>
            <a:endParaRPr sz="15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SELECT</a:t>
            </a:r>
            <a:r>
              <a:rPr lang="en-GB" sz="1400">
                <a:solidFill>
                  <a:srgbClr val="000000"/>
                </a:solidFill>
              </a:rPr>
              <a:t> S_ID </a:t>
            </a:r>
            <a:r>
              <a:rPr lang="en-GB" sz="1400">
                <a:solidFill>
                  <a:srgbClr val="9900FF"/>
                </a:solidFill>
              </a:rPr>
              <a:t>FROM</a:t>
            </a:r>
            <a:r>
              <a:rPr lang="en-GB" sz="1400">
                <a:solidFill>
                  <a:srgbClr val="000000"/>
                </a:solidFill>
              </a:rPr>
              <a:t> STUDENT  </a:t>
            </a:r>
            <a:r>
              <a:rPr lang="en-GB" sz="1400">
                <a:solidFill>
                  <a:srgbClr val="9900FF"/>
                </a:solidFill>
              </a:rPr>
              <a:t>WHERE</a:t>
            </a:r>
            <a:r>
              <a:rPr lang="en-GB" sz="1400">
                <a:solidFill>
                  <a:srgbClr val="000000"/>
                </a:solidFill>
              </a:rPr>
              <a:t> </a:t>
            </a:r>
            <a:r>
              <a:rPr lang="en-GB" sz="1400">
                <a:solidFill>
                  <a:schemeClr val="dk1"/>
                </a:solidFill>
              </a:rPr>
              <a:t>GPA</a:t>
            </a:r>
            <a:r>
              <a:rPr lang="en-GB" sz="1400">
                <a:solidFill>
                  <a:srgbClr val="9900FF"/>
                </a:solidFill>
              </a:rPr>
              <a:t> &gt; </a:t>
            </a:r>
            <a:r>
              <a:rPr lang="en-GB" sz="1400">
                <a:solidFill>
                  <a:srgbClr val="000000"/>
                </a:solidFill>
              </a:rPr>
              <a:t>3.9</a:t>
            </a:r>
            <a:r>
              <a:rPr lang="en-GB" sz="1500">
                <a:solidFill>
                  <a:schemeClr val="dk1"/>
                </a:solidFill>
              </a:rPr>
              <a:t>)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337" name="Google Shape;337;p37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338" name="Google Shape;338;p37"/>
          <p:cNvSpPr txBox="1"/>
          <p:nvPr/>
        </p:nvSpPr>
        <p:spPr>
          <a:xfrm>
            <a:off x="0" y="179600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S1</a:t>
            </a:r>
            <a:endParaRPr/>
          </a:p>
        </p:txBody>
      </p:sp>
      <p:sp>
        <p:nvSpPr>
          <p:cNvPr id="339" name="Google Shape;339;p37"/>
          <p:cNvSpPr txBox="1"/>
          <p:nvPr/>
        </p:nvSpPr>
        <p:spPr>
          <a:xfrm>
            <a:off x="0" y="349535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S2</a:t>
            </a:r>
            <a:endParaRPr/>
          </a:p>
        </p:txBody>
      </p:sp>
      <p:sp>
        <p:nvSpPr>
          <p:cNvPr id="340" name="Google Shape;340;p37"/>
          <p:cNvSpPr txBox="1"/>
          <p:nvPr>
            <p:ph idx="1" type="body"/>
          </p:nvPr>
        </p:nvSpPr>
        <p:spPr>
          <a:xfrm>
            <a:off x="498500" y="3228800"/>
            <a:ext cx="55458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STUDENT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GPA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GPA * 1.1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HS_SIZE &gt; 2500</a:t>
            </a:r>
            <a:r>
              <a:rPr lang="en-GB" sz="1500">
                <a:solidFill>
                  <a:srgbClr val="9900FF"/>
                </a:solidFill>
              </a:rPr>
              <a:t>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341" name="Google Shape;341;p37"/>
          <p:cNvSpPr txBox="1"/>
          <p:nvPr/>
        </p:nvSpPr>
        <p:spPr>
          <a:xfrm>
            <a:off x="6853475" y="1519975"/>
            <a:ext cx="11943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7"/>
          <p:cNvSpPr/>
          <p:nvPr/>
        </p:nvSpPr>
        <p:spPr>
          <a:xfrm>
            <a:off x="7002750" y="1507100"/>
            <a:ext cx="1044900" cy="12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7"/>
          <p:cNvSpPr/>
          <p:nvPr/>
        </p:nvSpPr>
        <p:spPr>
          <a:xfrm>
            <a:off x="7002750" y="3171050"/>
            <a:ext cx="1044900" cy="12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7"/>
          <p:cNvSpPr txBox="1"/>
          <p:nvPr/>
        </p:nvSpPr>
        <p:spPr>
          <a:xfrm>
            <a:off x="7029900" y="1207850"/>
            <a:ext cx="10449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APPLY</a:t>
            </a:r>
            <a:endParaRPr sz="1200"/>
          </a:p>
        </p:txBody>
      </p:sp>
      <p:sp>
        <p:nvSpPr>
          <p:cNvPr id="345" name="Google Shape;345;p37"/>
          <p:cNvSpPr txBox="1"/>
          <p:nvPr/>
        </p:nvSpPr>
        <p:spPr>
          <a:xfrm>
            <a:off x="7029900" y="2884250"/>
            <a:ext cx="10449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STUDENT</a:t>
            </a:r>
            <a:endParaRPr sz="1200"/>
          </a:p>
        </p:txBody>
      </p:sp>
      <p:cxnSp>
        <p:nvCxnSpPr>
          <p:cNvPr id="346" name="Google Shape;346;p37"/>
          <p:cNvCxnSpPr>
            <a:stCxn id="336" idx="3"/>
            <a:endCxn id="342" idx="1"/>
          </p:cNvCxnSpPr>
          <p:nvPr/>
        </p:nvCxnSpPr>
        <p:spPr>
          <a:xfrm>
            <a:off x="6044300" y="2039450"/>
            <a:ext cx="958500" cy="92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37"/>
          <p:cNvSpPr/>
          <p:nvPr/>
        </p:nvSpPr>
        <p:spPr>
          <a:xfrm>
            <a:off x="7342018" y="1674229"/>
            <a:ext cx="539425" cy="978150"/>
          </a:xfrm>
          <a:custGeom>
            <a:rect b="b" l="l" r="r" t="t"/>
            <a:pathLst>
              <a:path extrusionOk="0" h="39126" w="21577">
                <a:moveTo>
                  <a:pt x="5972" y="1430"/>
                </a:moveTo>
                <a:cubicBezTo>
                  <a:pt x="-4894" y="7952"/>
                  <a:pt x="191" y="41961"/>
                  <a:pt x="12486" y="38887"/>
                </a:cubicBezTo>
                <a:cubicBezTo>
                  <a:pt x="19724" y="37077"/>
                  <a:pt x="21172" y="25719"/>
                  <a:pt x="21172" y="18258"/>
                </a:cubicBezTo>
                <a:cubicBezTo>
                  <a:pt x="21172" y="14454"/>
                  <a:pt x="22331" y="10261"/>
                  <a:pt x="20629" y="6859"/>
                </a:cubicBezTo>
                <a:cubicBezTo>
                  <a:pt x="18478" y="2559"/>
                  <a:pt x="7058" y="-2835"/>
                  <a:pt x="7058" y="1973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8" name="Google Shape;348;p37"/>
          <p:cNvSpPr/>
          <p:nvPr/>
        </p:nvSpPr>
        <p:spPr>
          <a:xfrm>
            <a:off x="8195250" y="2336900"/>
            <a:ext cx="263801" cy="1196737"/>
          </a:xfrm>
          <a:custGeom>
            <a:rect b="b" l="l" r="r" t="t"/>
            <a:pathLst>
              <a:path extrusionOk="0" h="49580" w="31127">
                <a:moveTo>
                  <a:pt x="15515" y="0"/>
                </a:moveTo>
                <a:cubicBezTo>
                  <a:pt x="26576" y="0"/>
                  <a:pt x="33395" y="19045"/>
                  <a:pt x="30355" y="29680"/>
                </a:cubicBezTo>
                <a:cubicBezTo>
                  <a:pt x="27029" y="41313"/>
                  <a:pt x="12099" y="49580"/>
                  <a:pt x="0" y="4958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49" name="Google Shape;349;p37"/>
          <p:cNvSpPr txBox="1"/>
          <p:nvPr/>
        </p:nvSpPr>
        <p:spPr>
          <a:xfrm>
            <a:off x="2999250" y="2571800"/>
            <a:ext cx="3248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S1 needs to query the STUDENT table before updating the APPLY table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8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Table-Level Inconsistency</a:t>
            </a:r>
            <a:endParaRPr sz="2400"/>
          </a:p>
        </p:txBody>
      </p:sp>
      <p:sp>
        <p:nvSpPr>
          <p:cNvPr id="355" name="Google Shape;355;p38"/>
          <p:cNvSpPr txBox="1"/>
          <p:nvPr>
            <p:ph idx="1" type="body"/>
          </p:nvPr>
        </p:nvSpPr>
        <p:spPr>
          <a:xfrm>
            <a:off x="498500" y="1507100"/>
            <a:ext cx="5545800" cy="1064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APPLY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DECISION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‘Y’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rgbClr val="000000"/>
                </a:solidFill>
              </a:rPr>
              <a:t>S_ID </a:t>
            </a:r>
            <a:r>
              <a:rPr lang="en-GB" sz="1500">
                <a:solidFill>
                  <a:srgbClr val="9900FF"/>
                </a:solidFill>
              </a:rPr>
              <a:t>IN </a:t>
            </a:r>
            <a:r>
              <a:rPr lang="en-GB" sz="1500">
                <a:solidFill>
                  <a:srgbClr val="000000"/>
                </a:solidFill>
              </a:rPr>
              <a:t>(</a:t>
            </a:r>
            <a:endParaRPr sz="15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SELECT</a:t>
            </a:r>
            <a:r>
              <a:rPr lang="en-GB" sz="1400">
                <a:solidFill>
                  <a:srgbClr val="000000"/>
                </a:solidFill>
              </a:rPr>
              <a:t> S_ID </a:t>
            </a:r>
            <a:r>
              <a:rPr lang="en-GB" sz="1400">
                <a:solidFill>
                  <a:srgbClr val="9900FF"/>
                </a:solidFill>
              </a:rPr>
              <a:t>FROM</a:t>
            </a:r>
            <a:r>
              <a:rPr lang="en-GB" sz="1400">
                <a:solidFill>
                  <a:srgbClr val="000000"/>
                </a:solidFill>
              </a:rPr>
              <a:t> STUDENT  </a:t>
            </a:r>
            <a:r>
              <a:rPr lang="en-GB" sz="1400">
                <a:solidFill>
                  <a:srgbClr val="9900FF"/>
                </a:solidFill>
              </a:rPr>
              <a:t>WHERE</a:t>
            </a:r>
            <a:r>
              <a:rPr lang="en-GB" sz="1400">
                <a:solidFill>
                  <a:srgbClr val="000000"/>
                </a:solidFill>
              </a:rPr>
              <a:t> </a:t>
            </a:r>
            <a:r>
              <a:rPr lang="en-GB" sz="1400">
                <a:solidFill>
                  <a:schemeClr val="dk1"/>
                </a:solidFill>
              </a:rPr>
              <a:t>GPA</a:t>
            </a:r>
            <a:r>
              <a:rPr lang="en-GB" sz="1400">
                <a:solidFill>
                  <a:srgbClr val="9900FF"/>
                </a:solidFill>
              </a:rPr>
              <a:t> &gt; </a:t>
            </a:r>
            <a:r>
              <a:rPr lang="en-GB" sz="1400">
                <a:solidFill>
                  <a:srgbClr val="000000"/>
                </a:solidFill>
              </a:rPr>
              <a:t>3.9</a:t>
            </a:r>
            <a:r>
              <a:rPr lang="en-GB" sz="1500">
                <a:solidFill>
                  <a:schemeClr val="dk1"/>
                </a:solidFill>
              </a:rPr>
              <a:t>)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356" name="Google Shape;356;p38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357" name="Google Shape;357;p38"/>
          <p:cNvSpPr txBox="1"/>
          <p:nvPr/>
        </p:nvSpPr>
        <p:spPr>
          <a:xfrm>
            <a:off x="0" y="179600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S1</a:t>
            </a:r>
            <a:endParaRPr/>
          </a:p>
        </p:txBody>
      </p:sp>
      <p:sp>
        <p:nvSpPr>
          <p:cNvPr id="358" name="Google Shape;358;p38"/>
          <p:cNvSpPr txBox="1"/>
          <p:nvPr/>
        </p:nvSpPr>
        <p:spPr>
          <a:xfrm>
            <a:off x="0" y="349535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S2</a:t>
            </a:r>
            <a:endParaRPr/>
          </a:p>
        </p:txBody>
      </p:sp>
      <p:sp>
        <p:nvSpPr>
          <p:cNvPr id="359" name="Google Shape;359;p38"/>
          <p:cNvSpPr txBox="1"/>
          <p:nvPr>
            <p:ph idx="1" type="body"/>
          </p:nvPr>
        </p:nvSpPr>
        <p:spPr>
          <a:xfrm>
            <a:off x="498500" y="3228800"/>
            <a:ext cx="55458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STUDENT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GPA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GPA * 1.1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HS_SIZE &gt; 2500</a:t>
            </a:r>
            <a:r>
              <a:rPr lang="en-GB" sz="1500">
                <a:solidFill>
                  <a:srgbClr val="9900FF"/>
                </a:solidFill>
              </a:rPr>
              <a:t>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360" name="Google Shape;360;p38"/>
          <p:cNvSpPr txBox="1"/>
          <p:nvPr/>
        </p:nvSpPr>
        <p:spPr>
          <a:xfrm>
            <a:off x="6853475" y="1519975"/>
            <a:ext cx="11943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8"/>
          <p:cNvSpPr/>
          <p:nvPr/>
        </p:nvSpPr>
        <p:spPr>
          <a:xfrm>
            <a:off x="7002750" y="1507100"/>
            <a:ext cx="1044900" cy="12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8"/>
          <p:cNvSpPr/>
          <p:nvPr/>
        </p:nvSpPr>
        <p:spPr>
          <a:xfrm>
            <a:off x="7002750" y="3171050"/>
            <a:ext cx="1044900" cy="12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8"/>
          <p:cNvSpPr txBox="1"/>
          <p:nvPr/>
        </p:nvSpPr>
        <p:spPr>
          <a:xfrm>
            <a:off x="7029900" y="1207850"/>
            <a:ext cx="10449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APPLY</a:t>
            </a:r>
            <a:endParaRPr sz="1200"/>
          </a:p>
        </p:txBody>
      </p:sp>
      <p:sp>
        <p:nvSpPr>
          <p:cNvPr id="364" name="Google Shape;364;p38"/>
          <p:cNvSpPr txBox="1"/>
          <p:nvPr/>
        </p:nvSpPr>
        <p:spPr>
          <a:xfrm>
            <a:off x="7029900" y="2884250"/>
            <a:ext cx="10449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STUDENT</a:t>
            </a:r>
            <a:endParaRPr sz="1200"/>
          </a:p>
        </p:txBody>
      </p:sp>
      <p:cxnSp>
        <p:nvCxnSpPr>
          <p:cNvPr id="365" name="Google Shape;365;p38"/>
          <p:cNvCxnSpPr>
            <a:stCxn id="355" idx="3"/>
            <a:endCxn id="361" idx="1"/>
          </p:cNvCxnSpPr>
          <p:nvPr/>
        </p:nvCxnSpPr>
        <p:spPr>
          <a:xfrm>
            <a:off x="6044300" y="2039450"/>
            <a:ext cx="958500" cy="92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6" name="Google Shape;366;p38"/>
          <p:cNvSpPr/>
          <p:nvPr/>
        </p:nvSpPr>
        <p:spPr>
          <a:xfrm>
            <a:off x="7342018" y="1674229"/>
            <a:ext cx="539425" cy="978150"/>
          </a:xfrm>
          <a:custGeom>
            <a:rect b="b" l="l" r="r" t="t"/>
            <a:pathLst>
              <a:path extrusionOk="0" h="39126" w="21577">
                <a:moveTo>
                  <a:pt x="5972" y="1430"/>
                </a:moveTo>
                <a:cubicBezTo>
                  <a:pt x="-4894" y="7952"/>
                  <a:pt x="191" y="41961"/>
                  <a:pt x="12486" y="38887"/>
                </a:cubicBezTo>
                <a:cubicBezTo>
                  <a:pt x="19724" y="37077"/>
                  <a:pt x="21172" y="25719"/>
                  <a:pt x="21172" y="18258"/>
                </a:cubicBezTo>
                <a:cubicBezTo>
                  <a:pt x="21172" y="14454"/>
                  <a:pt x="22331" y="10261"/>
                  <a:pt x="20629" y="6859"/>
                </a:cubicBezTo>
                <a:cubicBezTo>
                  <a:pt x="18478" y="2559"/>
                  <a:pt x="7058" y="-2835"/>
                  <a:pt x="7058" y="1973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67" name="Google Shape;367;p38"/>
          <p:cNvSpPr/>
          <p:nvPr/>
        </p:nvSpPr>
        <p:spPr>
          <a:xfrm>
            <a:off x="8195250" y="2336900"/>
            <a:ext cx="263801" cy="1196737"/>
          </a:xfrm>
          <a:custGeom>
            <a:rect b="b" l="l" r="r" t="t"/>
            <a:pathLst>
              <a:path extrusionOk="0" h="49580" w="31127">
                <a:moveTo>
                  <a:pt x="15515" y="0"/>
                </a:moveTo>
                <a:cubicBezTo>
                  <a:pt x="26576" y="0"/>
                  <a:pt x="33395" y="19045"/>
                  <a:pt x="30355" y="29680"/>
                </a:cubicBezTo>
                <a:cubicBezTo>
                  <a:pt x="27029" y="41313"/>
                  <a:pt x="12099" y="49580"/>
                  <a:pt x="0" y="4958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68" name="Google Shape;368;p38"/>
          <p:cNvSpPr txBox="1"/>
          <p:nvPr/>
        </p:nvSpPr>
        <p:spPr>
          <a:xfrm>
            <a:off x="2999250" y="2571800"/>
            <a:ext cx="3248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At the same time, the STUDENT table is being updated by S2!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369" name="Google Shape;369;p38"/>
          <p:cNvCxnSpPr>
            <a:endCxn id="362" idx="1"/>
          </p:cNvCxnSpPr>
          <p:nvPr/>
        </p:nvCxnSpPr>
        <p:spPr>
          <a:xfrm>
            <a:off x="6044250" y="3723050"/>
            <a:ext cx="958500" cy="72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0" name="Google Shape;370;p38"/>
          <p:cNvSpPr/>
          <p:nvPr/>
        </p:nvSpPr>
        <p:spPr>
          <a:xfrm>
            <a:off x="7265818" y="3350629"/>
            <a:ext cx="539425" cy="978150"/>
          </a:xfrm>
          <a:custGeom>
            <a:rect b="b" l="l" r="r" t="t"/>
            <a:pathLst>
              <a:path extrusionOk="0" h="39126" w="21577">
                <a:moveTo>
                  <a:pt x="5972" y="1430"/>
                </a:moveTo>
                <a:cubicBezTo>
                  <a:pt x="-4894" y="7952"/>
                  <a:pt x="191" y="41961"/>
                  <a:pt x="12486" y="38887"/>
                </a:cubicBezTo>
                <a:cubicBezTo>
                  <a:pt x="19724" y="37077"/>
                  <a:pt x="21172" y="25719"/>
                  <a:pt x="21172" y="18258"/>
                </a:cubicBezTo>
                <a:cubicBezTo>
                  <a:pt x="21172" y="14454"/>
                  <a:pt x="22331" y="10261"/>
                  <a:pt x="20629" y="6859"/>
                </a:cubicBezTo>
                <a:cubicBezTo>
                  <a:pt x="18478" y="2559"/>
                  <a:pt x="7058" y="-2835"/>
                  <a:pt x="7058" y="1973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Multi-Statement Inconsistency</a:t>
            </a:r>
            <a:endParaRPr sz="2400"/>
          </a:p>
        </p:txBody>
      </p:sp>
      <p:sp>
        <p:nvSpPr>
          <p:cNvPr id="376" name="Google Shape;376;p39"/>
          <p:cNvSpPr txBox="1"/>
          <p:nvPr>
            <p:ph idx="1" type="body"/>
          </p:nvPr>
        </p:nvSpPr>
        <p:spPr>
          <a:xfrm>
            <a:off x="498500" y="1507100"/>
            <a:ext cx="5545800" cy="1064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INSERT INTO </a:t>
            </a:r>
            <a:r>
              <a:rPr lang="en-GB" sz="1500">
                <a:solidFill>
                  <a:srgbClr val="000000"/>
                </a:solidFill>
              </a:rPr>
              <a:t>ARCHIVE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	SELECT </a:t>
            </a:r>
            <a:r>
              <a:rPr lang="en-GB" sz="1500">
                <a:solidFill>
                  <a:srgbClr val="000000"/>
                </a:solidFill>
              </a:rPr>
              <a:t>*</a:t>
            </a:r>
            <a:r>
              <a:rPr lang="en-GB" sz="1500">
                <a:solidFill>
                  <a:srgbClr val="9900FF"/>
                </a:solidFill>
              </a:rPr>
              <a:t> FROM </a:t>
            </a:r>
            <a:r>
              <a:rPr lang="en-GB" sz="1500">
                <a:solidFill>
                  <a:srgbClr val="000000"/>
                </a:solidFill>
              </a:rPr>
              <a:t>APPLY</a:t>
            </a:r>
            <a:r>
              <a:rPr lang="en-GB" sz="1500">
                <a:solidFill>
                  <a:srgbClr val="9900FF"/>
                </a:solidFill>
              </a:rPr>
              <a:t> WHERE </a:t>
            </a:r>
            <a:r>
              <a:rPr lang="en-GB" sz="1500">
                <a:solidFill>
                  <a:srgbClr val="000000"/>
                </a:solidFill>
              </a:rPr>
              <a:t>DECISION = ‘N’;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DELETE FROM </a:t>
            </a:r>
            <a:r>
              <a:rPr lang="en-GB" sz="1500">
                <a:solidFill>
                  <a:srgbClr val="000000"/>
                </a:solidFill>
              </a:rPr>
              <a:t>APPLY</a:t>
            </a:r>
            <a:r>
              <a:rPr lang="en-GB" sz="1500">
                <a:solidFill>
                  <a:srgbClr val="9900FF"/>
                </a:solidFill>
              </a:rPr>
              <a:t> WHERE </a:t>
            </a:r>
            <a:r>
              <a:rPr lang="en-GB" sz="1500">
                <a:solidFill>
                  <a:srgbClr val="000000"/>
                </a:solidFill>
              </a:rPr>
              <a:t>DECISION = ‘N’;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377" name="Google Shape;377;p39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378" name="Google Shape;378;p39"/>
          <p:cNvSpPr txBox="1"/>
          <p:nvPr/>
        </p:nvSpPr>
        <p:spPr>
          <a:xfrm>
            <a:off x="0" y="179600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1</a:t>
            </a:r>
            <a:endParaRPr/>
          </a:p>
        </p:txBody>
      </p:sp>
      <p:sp>
        <p:nvSpPr>
          <p:cNvPr id="379" name="Google Shape;379;p39"/>
          <p:cNvSpPr txBox="1"/>
          <p:nvPr/>
        </p:nvSpPr>
        <p:spPr>
          <a:xfrm>
            <a:off x="0" y="349535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2</a:t>
            </a:r>
            <a:endParaRPr/>
          </a:p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498500" y="3228800"/>
            <a:ext cx="55458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SELECT COUNT</a:t>
            </a:r>
            <a:r>
              <a:rPr lang="en-GB" sz="1500">
                <a:solidFill>
                  <a:srgbClr val="000000"/>
                </a:solidFill>
              </a:rPr>
              <a:t>(*) </a:t>
            </a:r>
            <a:r>
              <a:rPr lang="en-GB" sz="1500">
                <a:solidFill>
                  <a:srgbClr val="9900FF"/>
                </a:solidFill>
              </a:rPr>
              <a:t>FROM </a:t>
            </a:r>
            <a:r>
              <a:rPr lang="en-GB" sz="1500">
                <a:solidFill>
                  <a:srgbClr val="000000"/>
                </a:solidFill>
              </a:rPr>
              <a:t>APPLY</a:t>
            </a:r>
            <a:r>
              <a:rPr lang="en-GB" sz="1500">
                <a:solidFill>
                  <a:srgbClr val="9900FF"/>
                </a:solidFill>
              </a:rPr>
              <a:t>;</a:t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SELECT COUNT</a:t>
            </a:r>
            <a:r>
              <a:rPr lang="en-GB" sz="1500">
                <a:solidFill>
                  <a:srgbClr val="000000"/>
                </a:solidFill>
              </a:rPr>
              <a:t>(*)</a:t>
            </a:r>
            <a:r>
              <a:rPr lang="en-GB" sz="1500">
                <a:solidFill>
                  <a:srgbClr val="9900FF"/>
                </a:solidFill>
              </a:rPr>
              <a:t> FROM </a:t>
            </a:r>
            <a:r>
              <a:rPr lang="en-GB" sz="1500">
                <a:solidFill>
                  <a:srgbClr val="000000"/>
                </a:solidFill>
              </a:rPr>
              <a:t>ARCHIVE;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381" name="Google Shape;381;p39"/>
          <p:cNvSpPr txBox="1"/>
          <p:nvPr/>
        </p:nvSpPr>
        <p:spPr>
          <a:xfrm>
            <a:off x="6929675" y="1519975"/>
            <a:ext cx="11943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9"/>
          <p:cNvSpPr/>
          <p:nvPr/>
        </p:nvSpPr>
        <p:spPr>
          <a:xfrm>
            <a:off x="6316950" y="2345300"/>
            <a:ext cx="1044900" cy="12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9"/>
          <p:cNvSpPr/>
          <p:nvPr/>
        </p:nvSpPr>
        <p:spPr>
          <a:xfrm>
            <a:off x="7827400" y="2332850"/>
            <a:ext cx="1044900" cy="12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9"/>
          <p:cNvSpPr txBox="1"/>
          <p:nvPr/>
        </p:nvSpPr>
        <p:spPr>
          <a:xfrm>
            <a:off x="6344100" y="2046050"/>
            <a:ext cx="10449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APPLY</a:t>
            </a:r>
            <a:endParaRPr sz="1200"/>
          </a:p>
        </p:txBody>
      </p:sp>
      <p:sp>
        <p:nvSpPr>
          <p:cNvPr id="385" name="Google Shape;385;p39"/>
          <p:cNvSpPr txBox="1"/>
          <p:nvPr/>
        </p:nvSpPr>
        <p:spPr>
          <a:xfrm>
            <a:off x="7854550" y="2046050"/>
            <a:ext cx="10449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ARCHIVE</a:t>
            </a: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0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Multi-Statement Inconsistency</a:t>
            </a:r>
            <a:endParaRPr sz="2400"/>
          </a:p>
        </p:txBody>
      </p:sp>
      <p:sp>
        <p:nvSpPr>
          <p:cNvPr id="391" name="Google Shape;391;p40"/>
          <p:cNvSpPr txBox="1"/>
          <p:nvPr>
            <p:ph idx="1" type="body"/>
          </p:nvPr>
        </p:nvSpPr>
        <p:spPr>
          <a:xfrm>
            <a:off x="498500" y="1507100"/>
            <a:ext cx="5545800" cy="1064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INSERT INTO </a:t>
            </a:r>
            <a:r>
              <a:rPr lang="en-GB" sz="1500">
                <a:solidFill>
                  <a:srgbClr val="000000"/>
                </a:solidFill>
              </a:rPr>
              <a:t>ARCHIVE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	SELECT </a:t>
            </a:r>
            <a:r>
              <a:rPr lang="en-GB" sz="1500">
                <a:solidFill>
                  <a:srgbClr val="000000"/>
                </a:solidFill>
              </a:rPr>
              <a:t>*</a:t>
            </a:r>
            <a:r>
              <a:rPr lang="en-GB" sz="1500">
                <a:solidFill>
                  <a:srgbClr val="9900FF"/>
                </a:solidFill>
              </a:rPr>
              <a:t> FROM </a:t>
            </a:r>
            <a:r>
              <a:rPr lang="en-GB" sz="1500">
                <a:solidFill>
                  <a:srgbClr val="000000"/>
                </a:solidFill>
              </a:rPr>
              <a:t>APPLY</a:t>
            </a:r>
            <a:r>
              <a:rPr lang="en-GB" sz="1500">
                <a:solidFill>
                  <a:srgbClr val="9900FF"/>
                </a:solidFill>
              </a:rPr>
              <a:t> WHERE </a:t>
            </a:r>
            <a:r>
              <a:rPr lang="en-GB" sz="1500">
                <a:solidFill>
                  <a:srgbClr val="000000"/>
                </a:solidFill>
              </a:rPr>
              <a:t>DECISION = ‘N’;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DELETE FROM </a:t>
            </a:r>
            <a:r>
              <a:rPr lang="en-GB" sz="1500">
                <a:solidFill>
                  <a:srgbClr val="000000"/>
                </a:solidFill>
              </a:rPr>
              <a:t>APPLY</a:t>
            </a:r>
            <a:r>
              <a:rPr lang="en-GB" sz="1500">
                <a:solidFill>
                  <a:srgbClr val="9900FF"/>
                </a:solidFill>
              </a:rPr>
              <a:t> WHERE </a:t>
            </a:r>
            <a:r>
              <a:rPr lang="en-GB" sz="1500">
                <a:solidFill>
                  <a:srgbClr val="000000"/>
                </a:solidFill>
              </a:rPr>
              <a:t>DECISION = ‘N’;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392" name="Google Shape;392;p40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393" name="Google Shape;393;p40"/>
          <p:cNvSpPr txBox="1"/>
          <p:nvPr/>
        </p:nvSpPr>
        <p:spPr>
          <a:xfrm>
            <a:off x="0" y="179600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C1</a:t>
            </a:r>
            <a:endParaRPr/>
          </a:p>
        </p:txBody>
      </p:sp>
      <p:sp>
        <p:nvSpPr>
          <p:cNvPr id="394" name="Google Shape;394;p40"/>
          <p:cNvSpPr txBox="1"/>
          <p:nvPr/>
        </p:nvSpPr>
        <p:spPr>
          <a:xfrm>
            <a:off x="0" y="349535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C2</a:t>
            </a:r>
            <a:endParaRPr/>
          </a:p>
        </p:txBody>
      </p:sp>
      <p:sp>
        <p:nvSpPr>
          <p:cNvPr id="395" name="Google Shape;395;p40"/>
          <p:cNvSpPr txBox="1"/>
          <p:nvPr>
            <p:ph idx="1" type="body"/>
          </p:nvPr>
        </p:nvSpPr>
        <p:spPr>
          <a:xfrm>
            <a:off x="498500" y="3228800"/>
            <a:ext cx="55458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SELECT COUNT</a:t>
            </a:r>
            <a:r>
              <a:rPr lang="en-GB" sz="1500">
                <a:solidFill>
                  <a:srgbClr val="000000"/>
                </a:solidFill>
              </a:rPr>
              <a:t>(*) </a:t>
            </a:r>
            <a:r>
              <a:rPr lang="en-GB" sz="1500">
                <a:solidFill>
                  <a:srgbClr val="9900FF"/>
                </a:solidFill>
              </a:rPr>
              <a:t>FROM </a:t>
            </a:r>
            <a:r>
              <a:rPr lang="en-GB" sz="1500">
                <a:solidFill>
                  <a:srgbClr val="000000"/>
                </a:solidFill>
              </a:rPr>
              <a:t>APPLY</a:t>
            </a:r>
            <a:r>
              <a:rPr lang="en-GB" sz="1500">
                <a:solidFill>
                  <a:srgbClr val="9900FF"/>
                </a:solidFill>
              </a:rPr>
              <a:t>;</a:t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SELECT COUNT</a:t>
            </a:r>
            <a:r>
              <a:rPr lang="en-GB" sz="1500">
                <a:solidFill>
                  <a:srgbClr val="000000"/>
                </a:solidFill>
              </a:rPr>
              <a:t>(*)</a:t>
            </a:r>
            <a:r>
              <a:rPr lang="en-GB" sz="1500">
                <a:solidFill>
                  <a:srgbClr val="9900FF"/>
                </a:solidFill>
              </a:rPr>
              <a:t> FROM </a:t>
            </a:r>
            <a:r>
              <a:rPr lang="en-GB" sz="1500">
                <a:solidFill>
                  <a:srgbClr val="000000"/>
                </a:solidFill>
              </a:rPr>
              <a:t>ARCHIVE;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396" name="Google Shape;396;p40"/>
          <p:cNvSpPr txBox="1"/>
          <p:nvPr/>
        </p:nvSpPr>
        <p:spPr>
          <a:xfrm>
            <a:off x="6929675" y="1519975"/>
            <a:ext cx="11943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0"/>
          <p:cNvSpPr/>
          <p:nvPr/>
        </p:nvSpPr>
        <p:spPr>
          <a:xfrm>
            <a:off x="6316950" y="2345300"/>
            <a:ext cx="1044900" cy="12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0"/>
          <p:cNvSpPr/>
          <p:nvPr/>
        </p:nvSpPr>
        <p:spPr>
          <a:xfrm>
            <a:off x="7827400" y="2332850"/>
            <a:ext cx="1044900" cy="12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0"/>
          <p:cNvSpPr txBox="1"/>
          <p:nvPr/>
        </p:nvSpPr>
        <p:spPr>
          <a:xfrm>
            <a:off x="6344100" y="2046050"/>
            <a:ext cx="10449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APPLY</a:t>
            </a:r>
            <a:endParaRPr sz="1200"/>
          </a:p>
        </p:txBody>
      </p:sp>
      <p:sp>
        <p:nvSpPr>
          <p:cNvPr id="400" name="Google Shape;400;p40"/>
          <p:cNvSpPr txBox="1"/>
          <p:nvPr/>
        </p:nvSpPr>
        <p:spPr>
          <a:xfrm>
            <a:off x="7854550" y="2046050"/>
            <a:ext cx="10449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ARCHIVE</a:t>
            </a:r>
            <a:endParaRPr sz="1200"/>
          </a:p>
        </p:txBody>
      </p:sp>
      <p:sp>
        <p:nvSpPr>
          <p:cNvPr id="401" name="Google Shape;401;p40"/>
          <p:cNvSpPr txBox="1"/>
          <p:nvPr/>
        </p:nvSpPr>
        <p:spPr>
          <a:xfrm>
            <a:off x="2999250" y="2495600"/>
            <a:ext cx="3248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C1 needs to move records from APPLY to ARCHIVE and then delete some records from APPLY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402" name="Google Shape;402;p40"/>
          <p:cNvCxnSpPr/>
          <p:nvPr/>
        </p:nvCxnSpPr>
        <p:spPr>
          <a:xfrm>
            <a:off x="7219900" y="2586175"/>
            <a:ext cx="8007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40"/>
          <p:cNvCxnSpPr/>
          <p:nvPr/>
        </p:nvCxnSpPr>
        <p:spPr>
          <a:xfrm>
            <a:off x="7219900" y="2833575"/>
            <a:ext cx="8007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4" name="Google Shape;404;p40"/>
          <p:cNvCxnSpPr/>
          <p:nvPr/>
        </p:nvCxnSpPr>
        <p:spPr>
          <a:xfrm>
            <a:off x="7219900" y="3228800"/>
            <a:ext cx="8007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5" name="Google Shape;405;p40"/>
          <p:cNvSpPr txBox="1"/>
          <p:nvPr/>
        </p:nvSpPr>
        <p:spPr>
          <a:xfrm>
            <a:off x="6868025" y="2417575"/>
            <a:ext cx="339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❌</a:t>
            </a:r>
            <a:endParaRPr/>
          </a:p>
        </p:txBody>
      </p:sp>
      <p:sp>
        <p:nvSpPr>
          <p:cNvPr id="406" name="Google Shape;406;p40"/>
          <p:cNvSpPr txBox="1"/>
          <p:nvPr/>
        </p:nvSpPr>
        <p:spPr>
          <a:xfrm>
            <a:off x="6868025" y="2664975"/>
            <a:ext cx="339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❌</a:t>
            </a:r>
            <a:endParaRPr/>
          </a:p>
        </p:txBody>
      </p:sp>
      <p:sp>
        <p:nvSpPr>
          <p:cNvPr id="407" name="Google Shape;407;p40"/>
          <p:cNvSpPr txBox="1"/>
          <p:nvPr/>
        </p:nvSpPr>
        <p:spPr>
          <a:xfrm>
            <a:off x="6868025" y="3060200"/>
            <a:ext cx="339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❌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1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Multi-Statement Inconsistency</a:t>
            </a:r>
            <a:endParaRPr sz="2400"/>
          </a:p>
        </p:txBody>
      </p:sp>
      <p:sp>
        <p:nvSpPr>
          <p:cNvPr id="413" name="Google Shape;413;p41"/>
          <p:cNvSpPr txBox="1"/>
          <p:nvPr>
            <p:ph idx="1" type="body"/>
          </p:nvPr>
        </p:nvSpPr>
        <p:spPr>
          <a:xfrm>
            <a:off x="498500" y="1507100"/>
            <a:ext cx="5545800" cy="1064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INSERT INTO </a:t>
            </a:r>
            <a:r>
              <a:rPr lang="en-GB" sz="1500">
                <a:solidFill>
                  <a:srgbClr val="000000"/>
                </a:solidFill>
              </a:rPr>
              <a:t>ARCHIVE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	SELECT </a:t>
            </a:r>
            <a:r>
              <a:rPr lang="en-GB" sz="1500">
                <a:solidFill>
                  <a:srgbClr val="000000"/>
                </a:solidFill>
              </a:rPr>
              <a:t>*</a:t>
            </a:r>
            <a:r>
              <a:rPr lang="en-GB" sz="1500">
                <a:solidFill>
                  <a:srgbClr val="9900FF"/>
                </a:solidFill>
              </a:rPr>
              <a:t> FROM </a:t>
            </a:r>
            <a:r>
              <a:rPr lang="en-GB" sz="1500">
                <a:solidFill>
                  <a:srgbClr val="000000"/>
                </a:solidFill>
              </a:rPr>
              <a:t>APPLY</a:t>
            </a:r>
            <a:r>
              <a:rPr lang="en-GB" sz="1500">
                <a:solidFill>
                  <a:srgbClr val="9900FF"/>
                </a:solidFill>
              </a:rPr>
              <a:t> WHERE </a:t>
            </a:r>
            <a:r>
              <a:rPr lang="en-GB" sz="1500">
                <a:solidFill>
                  <a:srgbClr val="000000"/>
                </a:solidFill>
              </a:rPr>
              <a:t>DECISION = ‘N’;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DELETE FROM </a:t>
            </a:r>
            <a:r>
              <a:rPr lang="en-GB" sz="1500">
                <a:solidFill>
                  <a:srgbClr val="000000"/>
                </a:solidFill>
              </a:rPr>
              <a:t>APPLY</a:t>
            </a:r>
            <a:r>
              <a:rPr lang="en-GB" sz="1500">
                <a:solidFill>
                  <a:srgbClr val="9900FF"/>
                </a:solidFill>
              </a:rPr>
              <a:t> WHERE </a:t>
            </a:r>
            <a:r>
              <a:rPr lang="en-GB" sz="1500">
                <a:solidFill>
                  <a:srgbClr val="000000"/>
                </a:solidFill>
              </a:rPr>
              <a:t>DECISION = ‘N’;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414" name="Google Shape;414;p41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415" name="Google Shape;415;p41"/>
          <p:cNvSpPr txBox="1"/>
          <p:nvPr/>
        </p:nvSpPr>
        <p:spPr>
          <a:xfrm>
            <a:off x="0" y="179600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C1</a:t>
            </a:r>
            <a:endParaRPr/>
          </a:p>
        </p:txBody>
      </p:sp>
      <p:sp>
        <p:nvSpPr>
          <p:cNvPr id="416" name="Google Shape;416;p41"/>
          <p:cNvSpPr txBox="1"/>
          <p:nvPr/>
        </p:nvSpPr>
        <p:spPr>
          <a:xfrm>
            <a:off x="0" y="349535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C2</a:t>
            </a:r>
            <a:endParaRPr/>
          </a:p>
        </p:txBody>
      </p:sp>
      <p:sp>
        <p:nvSpPr>
          <p:cNvPr id="417" name="Google Shape;417;p41"/>
          <p:cNvSpPr txBox="1"/>
          <p:nvPr>
            <p:ph idx="1" type="body"/>
          </p:nvPr>
        </p:nvSpPr>
        <p:spPr>
          <a:xfrm>
            <a:off x="498500" y="3228800"/>
            <a:ext cx="55458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SELECT COUNT</a:t>
            </a:r>
            <a:r>
              <a:rPr lang="en-GB" sz="1500">
                <a:solidFill>
                  <a:srgbClr val="000000"/>
                </a:solidFill>
              </a:rPr>
              <a:t>(*) </a:t>
            </a:r>
            <a:r>
              <a:rPr lang="en-GB" sz="1500">
                <a:solidFill>
                  <a:srgbClr val="9900FF"/>
                </a:solidFill>
              </a:rPr>
              <a:t>FROM </a:t>
            </a:r>
            <a:r>
              <a:rPr lang="en-GB" sz="1500">
                <a:solidFill>
                  <a:srgbClr val="000000"/>
                </a:solidFill>
              </a:rPr>
              <a:t>APPLY</a:t>
            </a:r>
            <a:r>
              <a:rPr lang="en-GB" sz="1500">
                <a:solidFill>
                  <a:srgbClr val="9900FF"/>
                </a:solidFill>
              </a:rPr>
              <a:t>;</a:t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SELECT COUNT</a:t>
            </a:r>
            <a:r>
              <a:rPr lang="en-GB" sz="1500">
                <a:solidFill>
                  <a:srgbClr val="000000"/>
                </a:solidFill>
              </a:rPr>
              <a:t>(*)</a:t>
            </a:r>
            <a:r>
              <a:rPr lang="en-GB" sz="1500">
                <a:solidFill>
                  <a:srgbClr val="9900FF"/>
                </a:solidFill>
              </a:rPr>
              <a:t> FROM </a:t>
            </a:r>
            <a:r>
              <a:rPr lang="en-GB" sz="1500">
                <a:solidFill>
                  <a:srgbClr val="000000"/>
                </a:solidFill>
              </a:rPr>
              <a:t>ARCHIVE;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418" name="Google Shape;418;p41"/>
          <p:cNvSpPr txBox="1"/>
          <p:nvPr/>
        </p:nvSpPr>
        <p:spPr>
          <a:xfrm>
            <a:off x="6929675" y="1519975"/>
            <a:ext cx="11943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1"/>
          <p:cNvSpPr/>
          <p:nvPr/>
        </p:nvSpPr>
        <p:spPr>
          <a:xfrm>
            <a:off x="6316950" y="2345300"/>
            <a:ext cx="1044900" cy="12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1"/>
          <p:cNvSpPr/>
          <p:nvPr/>
        </p:nvSpPr>
        <p:spPr>
          <a:xfrm>
            <a:off x="7827400" y="2332850"/>
            <a:ext cx="1044900" cy="12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1"/>
          <p:cNvSpPr txBox="1"/>
          <p:nvPr/>
        </p:nvSpPr>
        <p:spPr>
          <a:xfrm>
            <a:off x="6344100" y="2046050"/>
            <a:ext cx="10449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APPLY</a:t>
            </a:r>
            <a:endParaRPr sz="1200"/>
          </a:p>
        </p:txBody>
      </p:sp>
      <p:sp>
        <p:nvSpPr>
          <p:cNvPr id="422" name="Google Shape;422;p41"/>
          <p:cNvSpPr txBox="1"/>
          <p:nvPr/>
        </p:nvSpPr>
        <p:spPr>
          <a:xfrm>
            <a:off x="7854550" y="2046050"/>
            <a:ext cx="10449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ARCHIVE</a:t>
            </a:r>
            <a:endParaRPr sz="1200"/>
          </a:p>
        </p:txBody>
      </p:sp>
      <p:sp>
        <p:nvSpPr>
          <p:cNvPr id="423" name="Google Shape;423;p41"/>
          <p:cNvSpPr txBox="1"/>
          <p:nvPr/>
        </p:nvSpPr>
        <p:spPr>
          <a:xfrm>
            <a:off x="2999250" y="2571800"/>
            <a:ext cx="3248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C2 is </a:t>
            </a:r>
            <a:r>
              <a:rPr lang="en-GB">
                <a:solidFill>
                  <a:srgbClr val="FF0000"/>
                </a:solidFill>
              </a:rPr>
              <a:t>simultaneously</a:t>
            </a:r>
            <a:r>
              <a:rPr lang="en-GB">
                <a:solidFill>
                  <a:srgbClr val="FF0000"/>
                </a:solidFill>
              </a:rPr>
              <a:t> counting total records of both tables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424" name="Google Shape;424;p41"/>
          <p:cNvCxnSpPr/>
          <p:nvPr/>
        </p:nvCxnSpPr>
        <p:spPr>
          <a:xfrm>
            <a:off x="7219900" y="2586175"/>
            <a:ext cx="8007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p41"/>
          <p:cNvCxnSpPr/>
          <p:nvPr/>
        </p:nvCxnSpPr>
        <p:spPr>
          <a:xfrm>
            <a:off x="7219900" y="2833575"/>
            <a:ext cx="8007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" name="Google Shape;426;p41"/>
          <p:cNvCxnSpPr/>
          <p:nvPr/>
        </p:nvCxnSpPr>
        <p:spPr>
          <a:xfrm>
            <a:off x="7219900" y="3228800"/>
            <a:ext cx="8007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7" name="Google Shape;427;p41"/>
          <p:cNvSpPr txBox="1"/>
          <p:nvPr/>
        </p:nvSpPr>
        <p:spPr>
          <a:xfrm>
            <a:off x="6868025" y="2417575"/>
            <a:ext cx="339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❌</a:t>
            </a:r>
            <a:endParaRPr/>
          </a:p>
        </p:txBody>
      </p:sp>
      <p:sp>
        <p:nvSpPr>
          <p:cNvPr id="428" name="Google Shape;428;p41"/>
          <p:cNvSpPr txBox="1"/>
          <p:nvPr/>
        </p:nvSpPr>
        <p:spPr>
          <a:xfrm>
            <a:off x="6868025" y="2664975"/>
            <a:ext cx="339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❌</a:t>
            </a:r>
            <a:endParaRPr/>
          </a:p>
        </p:txBody>
      </p:sp>
      <p:sp>
        <p:nvSpPr>
          <p:cNvPr id="429" name="Google Shape;429;p41"/>
          <p:cNvSpPr txBox="1"/>
          <p:nvPr/>
        </p:nvSpPr>
        <p:spPr>
          <a:xfrm>
            <a:off x="6868025" y="3060200"/>
            <a:ext cx="339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❌</a:t>
            </a:r>
            <a:endParaRPr/>
          </a:p>
        </p:txBody>
      </p:sp>
      <p:sp>
        <p:nvSpPr>
          <p:cNvPr id="430" name="Google Shape;430;p41"/>
          <p:cNvSpPr/>
          <p:nvPr/>
        </p:nvSpPr>
        <p:spPr>
          <a:xfrm>
            <a:off x="6134200" y="3759225"/>
            <a:ext cx="732850" cy="275275"/>
          </a:xfrm>
          <a:custGeom>
            <a:rect b="b" l="l" r="r" t="t"/>
            <a:pathLst>
              <a:path extrusionOk="0" h="11011" w="29314">
                <a:moveTo>
                  <a:pt x="0" y="10314"/>
                </a:moveTo>
                <a:cubicBezTo>
                  <a:pt x="6336" y="10314"/>
                  <a:pt x="13118" y="12126"/>
                  <a:pt x="19000" y="9772"/>
                </a:cubicBezTo>
                <a:cubicBezTo>
                  <a:pt x="23397" y="8013"/>
                  <a:pt x="25965" y="3349"/>
                  <a:pt x="29314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31" name="Google Shape;431;p41"/>
          <p:cNvSpPr/>
          <p:nvPr/>
        </p:nvSpPr>
        <p:spPr>
          <a:xfrm>
            <a:off x="6286600" y="3759225"/>
            <a:ext cx="1837402" cy="427667"/>
          </a:xfrm>
          <a:custGeom>
            <a:rect b="b" l="l" r="r" t="t"/>
            <a:pathLst>
              <a:path extrusionOk="0" h="11011" w="29314">
                <a:moveTo>
                  <a:pt x="0" y="10314"/>
                </a:moveTo>
                <a:cubicBezTo>
                  <a:pt x="6336" y="10314"/>
                  <a:pt x="13118" y="12126"/>
                  <a:pt x="19000" y="9772"/>
                </a:cubicBezTo>
                <a:cubicBezTo>
                  <a:pt x="23397" y="8013"/>
                  <a:pt x="25965" y="3349"/>
                  <a:pt x="29314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Real-World Impacts</a:t>
            </a:r>
            <a:endParaRPr/>
          </a:p>
        </p:txBody>
      </p:sp>
      <p:sp>
        <p:nvSpPr>
          <p:cNvPr id="437" name="Google Shape;43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Duplicate orders or payments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Missing inventory updates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Incorrect grades or balances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→ Database reliability depends on </a:t>
            </a:r>
            <a:r>
              <a:rPr b="1" lang="en-GB">
                <a:solidFill>
                  <a:schemeClr val="dk1"/>
                </a:solidFill>
              </a:rPr>
              <a:t>controlled concurrency.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3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Core Requirements</a:t>
            </a:r>
            <a:endParaRPr/>
          </a:p>
        </p:txBody>
      </p:sp>
      <p:sp>
        <p:nvSpPr>
          <p:cNvPr id="443" name="Google Shape;443;p43"/>
          <p:cNvSpPr txBox="1"/>
          <p:nvPr>
            <p:ph idx="1" type="body"/>
          </p:nvPr>
        </p:nvSpPr>
        <p:spPr>
          <a:xfrm>
            <a:off x="199200" y="1583300"/>
            <a:ext cx="8745600" cy="2916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Concurrent Access:</a:t>
            </a:r>
            <a:r>
              <a:rPr lang="en-GB">
                <a:solidFill>
                  <a:schemeClr val="dk1"/>
                </a:solidFill>
              </a:rPr>
              <a:t> many users accessing the same data simultaneously.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-GB"/>
              <a:t>Concurrency GOAL:</a:t>
            </a:r>
            <a:r>
              <a:rPr lang="en-GB"/>
              <a:t> Execute a sequence of SQL statements so they </a:t>
            </a:r>
            <a:r>
              <a:rPr i="1" lang="en-GB"/>
              <a:t>appear</a:t>
            </a:r>
            <a:r>
              <a:rPr lang="en-GB"/>
              <a:t> to be running in </a:t>
            </a:r>
            <a:r>
              <a:rPr b="1" lang="en-GB"/>
              <a:t>isolation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Simple solution: actually execute them in isolation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But it is better to enable concurrency whenever safe to do so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Resilience to Failures:</a:t>
            </a:r>
            <a:r>
              <a:rPr lang="en-GB">
                <a:solidFill>
                  <a:schemeClr val="dk1"/>
                </a:solidFill>
              </a:rPr>
              <a:t> system crashes or power loss shouldn’t corrupt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4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Resilience to System Failures</a:t>
            </a:r>
            <a:endParaRPr/>
          </a:p>
        </p:txBody>
      </p:sp>
      <p:sp>
        <p:nvSpPr>
          <p:cNvPr id="449" name="Google Shape;449;p44"/>
          <p:cNvSpPr/>
          <p:nvPr/>
        </p:nvSpPr>
        <p:spPr>
          <a:xfrm>
            <a:off x="3526550" y="3699725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450" name="Google Shape;450;p44"/>
          <p:cNvSpPr/>
          <p:nvPr/>
        </p:nvSpPr>
        <p:spPr>
          <a:xfrm>
            <a:off x="3526450" y="3002300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451" name="Google Shape;451;p44"/>
          <p:cNvCxnSpPr>
            <a:stCxn id="450" idx="2"/>
            <a:endCxn id="449" idx="0"/>
          </p:cNvCxnSpPr>
          <p:nvPr/>
        </p:nvCxnSpPr>
        <p:spPr>
          <a:xfrm>
            <a:off x="4571950" y="3440300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52" name="Google Shape;452;p44"/>
          <p:cNvSpPr/>
          <p:nvPr/>
        </p:nvSpPr>
        <p:spPr>
          <a:xfrm>
            <a:off x="3920525" y="1397850"/>
            <a:ext cx="1302858" cy="928962"/>
          </a:xfrm>
          <a:prstGeom prst="flowChartMultidocumen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4"/>
          <p:cNvSpPr/>
          <p:nvPr/>
        </p:nvSpPr>
        <p:spPr>
          <a:xfrm>
            <a:off x="4436300" y="2378200"/>
            <a:ext cx="271500" cy="572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4"/>
          <p:cNvSpPr txBox="1"/>
          <p:nvPr/>
        </p:nvSpPr>
        <p:spPr>
          <a:xfrm>
            <a:off x="4763475" y="2405675"/>
            <a:ext cx="1221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Bulk Load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5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Resilience to System Failures</a:t>
            </a:r>
            <a:endParaRPr/>
          </a:p>
        </p:txBody>
      </p:sp>
      <p:sp>
        <p:nvSpPr>
          <p:cNvPr id="460" name="Google Shape;460;p45"/>
          <p:cNvSpPr/>
          <p:nvPr/>
        </p:nvSpPr>
        <p:spPr>
          <a:xfrm>
            <a:off x="3526550" y="3699725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461" name="Google Shape;461;p45"/>
          <p:cNvSpPr/>
          <p:nvPr/>
        </p:nvSpPr>
        <p:spPr>
          <a:xfrm>
            <a:off x="3526450" y="3002300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462" name="Google Shape;462;p45"/>
          <p:cNvCxnSpPr>
            <a:stCxn id="461" idx="2"/>
            <a:endCxn id="460" idx="0"/>
          </p:cNvCxnSpPr>
          <p:nvPr/>
        </p:nvCxnSpPr>
        <p:spPr>
          <a:xfrm>
            <a:off x="4571950" y="3440300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63" name="Google Shape;463;p45"/>
          <p:cNvSpPr/>
          <p:nvPr/>
        </p:nvSpPr>
        <p:spPr>
          <a:xfrm>
            <a:off x="3920525" y="1397850"/>
            <a:ext cx="1302858" cy="928962"/>
          </a:xfrm>
          <a:prstGeom prst="flowChartMultidocumen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5"/>
          <p:cNvSpPr/>
          <p:nvPr/>
        </p:nvSpPr>
        <p:spPr>
          <a:xfrm>
            <a:off x="4436300" y="2378200"/>
            <a:ext cx="271500" cy="572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5"/>
          <p:cNvSpPr txBox="1"/>
          <p:nvPr/>
        </p:nvSpPr>
        <p:spPr>
          <a:xfrm>
            <a:off x="4763475" y="2405675"/>
            <a:ext cx="1221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Bulk Load</a:t>
            </a:r>
            <a:endParaRPr sz="1800"/>
          </a:p>
        </p:txBody>
      </p:sp>
      <p:sp>
        <p:nvSpPr>
          <p:cNvPr id="466" name="Google Shape;466;p45"/>
          <p:cNvSpPr/>
          <p:nvPr/>
        </p:nvSpPr>
        <p:spPr>
          <a:xfrm>
            <a:off x="3703925" y="1628550"/>
            <a:ext cx="1738249" cy="366425"/>
          </a:xfrm>
          <a:custGeom>
            <a:rect b="b" l="l" r="r" t="t"/>
            <a:pathLst>
              <a:path extrusionOk="0" h="14657" w="99885">
                <a:moveTo>
                  <a:pt x="0" y="14657"/>
                </a:moveTo>
                <a:cubicBezTo>
                  <a:pt x="21111" y="11408"/>
                  <a:pt x="42698" y="13028"/>
                  <a:pt x="64057" y="13028"/>
                </a:cubicBezTo>
                <a:cubicBezTo>
                  <a:pt x="73405" y="13028"/>
                  <a:pt x="82838" y="10153"/>
                  <a:pt x="91199" y="5971"/>
                </a:cubicBezTo>
                <a:cubicBezTo>
                  <a:pt x="94341" y="4399"/>
                  <a:pt x="99885" y="3513"/>
                  <a:pt x="99885" y="0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7" name="Google Shape;467;p45"/>
          <p:cNvSpPr/>
          <p:nvPr/>
        </p:nvSpPr>
        <p:spPr>
          <a:xfrm>
            <a:off x="2963540" y="2293550"/>
            <a:ext cx="429250" cy="1791400"/>
          </a:xfrm>
          <a:custGeom>
            <a:rect b="b" l="l" r="r" t="t"/>
            <a:pathLst>
              <a:path extrusionOk="0" h="71656" w="17170">
                <a:moveTo>
                  <a:pt x="6313" y="0"/>
                </a:moveTo>
                <a:cubicBezTo>
                  <a:pt x="2620" y="20324"/>
                  <a:pt x="-3478" y="42288"/>
                  <a:pt x="3056" y="61884"/>
                </a:cubicBezTo>
                <a:cubicBezTo>
                  <a:pt x="4866" y="67312"/>
                  <a:pt x="13127" y="67606"/>
                  <a:pt x="17170" y="71656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68" name="Google Shape;468;p45"/>
          <p:cNvSpPr txBox="1"/>
          <p:nvPr/>
        </p:nvSpPr>
        <p:spPr>
          <a:xfrm>
            <a:off x="144100" y="1415463"/>
            <a:ext cx="3248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The system crashes in the middle on bulk load. Only a portion of data has been moved to disk.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6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Core Requirements</a:t>
            </a:r>
            <a:endParaRPr/>
          </a:p>
        </p:txBody>
      </p:sp>
      <p:sp>
        <p:nvSpPr>
          <p:cNvPr id="474" name="Google Shape;474;p46"/>
          <p:cNvSpPr txBox="1"/>
          <p:nvPr>
            <p:ph idx="1" type="body"/>
          </p:nvPr>
        </p:nvSpPr>
        <p:spPr>
          <a:xfrm>
            <a:off x="199200" y="1583300"/>
            <a:ext cx="8745600" cy="2916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Concurrent Access:</a:t>
            </a:r>
            <a:r>
              <a:rPr lang="en-GB">
                <a:solidFill>
                  <a:schemeClr val="dk1"/>
                </a:solidFill>
              </a:rPr>
              <a:t> many users accessing the same data simultaneously.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-GB"/>
              <a:t>Concurrency GOAL:</a:t>
            </a:r>
            <a:r>
              <a:rPr lang="en-GB"/>
              <a:t> Execute a sequence of SQL statements so they </a:t>
            </a:r>
            <a:r>
              <a:rPr i="1" lang="en-GB"/>
              <a:t>appear</a:t>
            </a:r>
            <a:r>
              <a:rPr lang="en-GB"/>
              <a:t> to be running in </a:t>
            </a:r>
            <a:r>
              <a:rPr b="1" lang="en-GB"/>
              <a:t>isolation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Simple solution: actually execute them in isolation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But it is better to enable concurrency whenever safe to do so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Resilience to Failures:</a:t>
            </a:r>
            <a:r>
              <a:rPr lang="en-GB">
                <a:solidFill>
                  <a:schemeClr val="dk1"/>
                </a:solidFill>
              </a:rPr>
              <a:t> system crashes or power loss shouldn’t corrupt data.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-GB"/>
              <a:t>System Failure Goal:</a:t>
            </a:r>
            <a:r>
              <a:rPr lang="en-GB"/>
              <a:t>Guarantee </a:t>
            </a:r>
            <a:r>
              <a:rPr b="1" lang="en-GB"/>
              <a:t>all-or-nothing execution</a:t>
            </a:r>
            <a:r>
              <a:rPr lang="en-GB"/>
              <a:t>, regardless of failures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"/>
          <p:cNvSpPr txBox="1"/>
          <p:nvPr>
            <p:ph idx="1" type="body"/>
          </p:nvPr>
        </p:nvSpPr>
        <p:spPr>
          <a:xfrm>
            <a:off x="672450" y="1995750"/>
            <a:ext cx="7799100" cy="11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The </a:t>
            </a:r>
            <a:r>
              <a:rPr b="1" lang="en-GB" sz="2400">
                <a:solidFill>
                  <a:srgbClr val="434343"/>
                </a:solidFill>
              </a:rPr>
              <a:t>solution</a:t>
            </a:r>
            <a:r>
              <a:rPr lang="en-GB" sz="2400">
                <a:solidFill>
                  <a:srgbClr val="434343"/>
                </a:solidFill>
              </a:rPr>
              <a:t> for both concurrency and failures is to use database </a:t>
            </a:r>
            <a:r>
              <a:rPr b="1" lang="en-GB" sz="2400">
                <a:solidFill>
                  <a:srgbClr val="434343"/>
                </a:solidFill>
              </a:rPr>
              <a:t>Transactions</a:t>
            </a:r>
            <a:endParaRPr b="1"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8"/>
          <p:cNvSpPr txBox="1"/>
          <p:nvPr>
            <p:ph idx="1" type="body"/>
          </p:nvPr>
        </p:nvSpPr>
        <p:spPr>
          <a:xfrm>
            <a:off x="636150" y="2006550"/>
            <a:ext cx="7871700" cy="11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434343"/>
                </a:solidFill>
              </a:rPr>
              <a:t>A transaction is </a:t>
            </a:r>
            <a:r>
              <a:rPr b="1" lang="en-GB" sz="2400">
                <a:solidFill>
                  <a:srgbClr val="434343"/>
                </a:solidFill>
              </a:rPr>
              <a:t>a single or a series of SQL operations </a:t>
            </a:r>
            <a:r>
              <a:rPr lang="en-GB" sz="2400">
                <a:solidFill>
                  <a:srgbClr val="434343"/>
                </a:solidFill>
              </a:rPr>
              <a:t>treated as </a:t>
            </a:r>
            <a:r>
              <a:rPr b="1" lang="en-GB" sz="2400">
                <a:solidFill>
                  <a:srgbClr val="434343"/>
                </a:solidFill>
              </a:rPr>
              <a:t>a logical unit of work</a:t>
            </a:r>
            <a:r>
              <a:rPr lang="en-GB" sz="2400">
                <a:solidFill>
                  <a:srgbClr val="434343"/>
                </a:solidFill>
              </a:rPr>
              <a:t>.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9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Transactions</a:t>
            </a:r>
            <a:endParaRPr/>
          </a:p>
        </p:txBody>
      </p:sp>
      <p:sp>
        <p:nvSpPr>
          <p:cNvPr id="490" name="Google Shape;490;p49"/>
          <p:cNvSpPr txBox="1"/>
          <p:nvPr>
            <p:ph idx="1" type="body"/>
          </p:nvPr>
        </p:nvSpPr>
        <p:spPr>
          <a:xfrm>
            <a:off x="199200" y="1583300"/>
            <a:ext cx="8745600" cy="29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Transactions appear to run in </a:t>
            </a:r>
            <a:r>
              <a:rPr b="1" lang="en-GB">
                <a:highlight>
                  <a:srgbClr val="FFFF00"/>
                </a:highlight>
              </a:rPr>
              <a:t>isolation</a:t>
            </a:r>
            <a:endParaRPr b="1">
              <a:highlight>
                <a:srgbClr val="FFFF00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the system fails, each </a:t>
            </a:r>
            <a:r>
              <a:rPr lang="en-GB"/>
              <a:t>transaction</a:t>
            </a:r>
            <a:r>
              <a:rPr lang="en-GB"/>
              <a:t> changes are </a:t>
            </a:r>
            <a:r>
              <a:rPr b="1" lang="en-GB">
                <a:highlight>
                  <a:srgbClr val="B6D7A8"/>
                </a:highlight>
              </a:rPr>
              <a:t>entirely completed or entirely aborted</a:t>
            </a:r>
            <a:r>
              <a:rPr lang="en-GB"/>
              <a:t>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successful transaction changes the database from </a:t>
            </a:r>
            <a:r>
              <a:rPr b="1" lang="en-GB">
                <a:highlight>
                  <a:srgbClr val="F9CB9C"/>
                </a:highlight>
              </a:rPr>
              <a:t>one consistent state to another.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0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Transactions</a:t>
            </a:r>
            <a:endParaRPr/>
          </a:p>
        </p:txBody>
      </p:sp>
      <p:cxnSp>
        <p:nvCxnSpPr>
          <p:cNvPr id="496" name="Google Shape;496;p50"/>
          <p:cNvCxnSpPr/>
          <p:nvPr/>
        </p:nvCxnSpPr>
        <p:spPr>
          <a:xfrm flipH="1" rot="10800000">
            <a:off x="900925" y="2847775"/>
            <a:ext cx="7695000" cy="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7" name="Google Shape;497;p50"/>
          <p:cNvSpPr txBox="1"/>
          <p:nvPr/>
        </p:nvSpPr>
        <p:spPr>
          <a:xfrm>
            <a:off x="95000" y="264047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C1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1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Transactions</a:t>
            </a:r>
            <a:endParaRPr/>
          </a:p>
        </p:txBody>
      </p:sp>
      <p:cxnSp>
        <p:nvCxnSpPr>
          <p:cNvPr id="503" name="Google Shape;503;p51"/>
          <p:cNvCxnSpPr/>
          <p:nvPr/>
        </p:nvCxnSpPr>
        <p:spPr>
          <a:xfrm flipH="1" rot="10800000">
            <a:off x="900925" y="2847775"/>
            <a:ext cx="7695000" cy="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4" name="Google Shape;504;p51"/>
          <p:cNvSpPr txBox="1"/>
          <p:nvPr/>
        </p:nvSpPr>
        <p:spPr>
          <a:xfrm>
            <a:off x="95000" y="264047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C1</a:t>
            </a:r>
            <a:endParaRPr b="1" sz="1800">
              <a:solidFill>
                <a:srgbClr val="FF0000"/>
              </a:solidFill>
            </a:endParaRPr>
          </a:p>
        </p:txBody>
      </p:sp>
      <p:cxnSp>
        <p:nvCxnSpPr>
          <p:cNvPr id="505" name="Google Shape;505;p51"/>
          <p:cNvCxnSpPr/>
          <p:nvPr/>
        </p:nvCxnSpPr>
        <p:spPr>
          <a:xfrm>
            <a:off x="1262125" y="2741400"/>
            <a:ext cx="0" cy="25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51"/>
          <p:cNvSpPr txBox="1"/>
          <p:nvPr/>
        </p:nvSpPr>
        <p:spPr>
          <a:xfrm>
            <a:off x="211950" y="1021928"/>
            <a:ext cx="32487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Transaction </a:t>
            </a:r>
            <a:r>
              <a:rPr b="1" lang="en-GB" sz="1800">
                <a:highlight>
                  <a:srgbClr val="FFFF00"/>
                </a:highlight>
              </a:rPr>
              <a:t>begins</a:t>
            </a:r>
            <a:r>
              <a:rPr lang="en-GB" sz="1800"/>
              <a:t> automatically on first SQL statement</a:t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2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Transactions</a:t>
            </a:r>
            <a:endParaRPr/>
          </a:p>
        </p:txBody>
      </p:sp>
      <p:cxnSp>
        <p:nvCxnSpPr>
          <p:cNvPr id="512" name="Google Shape;512;p52"/>
          <p:cNvCxnSpPr/>
          <p:nvPr/>
        </p:nvCxnSpPr>
        <p:spPr>
          <a:xfrm flipH="1" rot="10800000">
            <a:off x="900925" y="2847775"/>
            <a:ext cx="7695000" cy="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3" name="Google Shape;513;p52"/>
          <p:cNvSpPr txBox="1"/>
          <p:nvPr/>
        </p:nvSpPr>
        <p:spPr>
          <a:xfrm>
            <a:off x="95000" y="264047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C1</a:t>
            </a:r>
            <a:endParaRPr b="1" sz="1800">
              <a:solidFill>
                <a:srgbClr val="FF0000"/>
              </a:solidFill>
            </a:endParaRPr>
          </a:p>
        </p:txBody>
      </p:sp>
      <p:cxnSp>
        <p:nvCxnSpPr>
          <p:cNvPr id="514" name="Google Shape;514;p52"/>
          <p:cNvCxnSpPr/>
          <p:nvPr/>
        </p:nvCxnSpPr>
        <p:spPr>
          <a:xfrm>
            <a:off x="1262125" y="2741400"/>
            <a:ext cx="0" cy="25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52"/>
          <p:cNvSpPr txBox="1"/>
          <p:nvPr/>
        </p:nvSpPr>
        <p:spPr>
          <a:xfrm>
            <a:off x="211950" y="1021928"/>
            <a:ext cx="32487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Transaction </a:t>
            </a:r>
            <a:r>
              <a:rPr b="1" lang="en-GB" sz="1800">
                <a:highlight>
                  <a:srgbClr val="FFFF00"/>
                </a:highlight>
              </a:rPr>
              <a:t>begins</a:t>
            </a:r>
            <a:r>
              <a:rPr lang="en-GB" sz="1800"/>
              <a:t> automatically on first SQL statement</a:t>
            </a:r>
            <a:endParaRPr sz="1800"/>
          </a:p>
        </p:txBody>
      </p:sp>
      <p:sp>
        <p:nvSpPr>
          <p:cNvPr id="516" name="Google Shape;516;p52"/>
          <p:cNvSpPr txBox="1"/>
          <p:nvPr/>
        </p:nvSpPr>
        <p:spPr>
          <a:xfrm>
            <a:off x="1552800" y="2888575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SELECT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517" name="Google Shape;517;p52"/>
          <p:cNvSpPr txBox="1"/>
          <p:nvPr/>
        </p:nvSpPr>
        <p:spPr>
          <a:xfrm>
            <a:off x="2320800" y="2888575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UPDATE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518" name="Google Shape;518;p52"/>
          <p:cNvSpPr txBox="1"/>
          <p:nvPr/>
        </p:nvSpPr>
        <p:spPr>
          <a:xfrm>
            <a:off x="3088800" y="2888575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DELETE</a:t>
            </a:r>
            <a:endParaRPr b="1" sz="1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3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Transactions</a:t>
            </a:r>
            <a:endParaRPr/>
          </a:p>
        </p:txBody>
      </p:sp>
      <p:cxnSp>
        <p:nvCxnSpPr>
          <p:cNvPr id="524" name="Google Shape;524;p53"/>
          <p:cNvCxnSpPr/>
          <p:nvPr/>
        </p:nvCxnSpPr>
        <p:spPr>
          <a:xfrm flipH="1" rot="10800000">
            <a:off x="900925" y="2847775"/>
            <a:ext cx="7695000" cy="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5" name="Google Shape;525;p53"/>
          <p:cNvSpPr txBox="1"/>
          <p:nvPr/>
        </p:nvSpPr>
        <p:spPr>
          <a:xfrm>
            <a:off x="95000" y="264047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C1</a:t>
            </a:r>
            <a:endParaRPr b="1" sz="1800">
              <a:solidFill>
                <a:srgbClr val="FF0000"/>
              </a:solidFill>
            </a:endParaRPr>
          </a:p>
        </p:txBody>
      </p:sp>
      <p:cxnSp>
        <p:nvCxnSpPr>
          <p:cNvPr id="526" name="Google Shape;526;p53"/>
          <p:cNvCxnSpPr/>
          <p:nvPr/>
        </p:nvCxnSpPr>
        <p:spPr>
          <a:xfrm>
            <a:off x="1262125" y="2741400"/>
            <a:ext cx="0" cy="25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53"/>
          <p:cNvSpPr txBox="1"/>
          <p:nvPr/>
        </p:nvSpPr>
        <p:spPr>
          <a:xfrm>
            <a:off x="211950" y="1021928"/>
            <a:ext cx="32487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Transaction </a:t>
            </a:r>
            <a:r>
              <a:rPr b="1" lang="en-GB" sz="1800">
                <a:highlight>
                  <a:srgbClr val="FFFF00"/>
                </a:highlight>
              </a:rPr>
              <a:t>begins</a:t>
            </a:r>
            <a:r>
              <a:rPr lang="en-GB" sz="1800"/>
              <a:t> automatically on first SQL statement</a:t>
            </a:r>
            <a:endParaRPr sz="1800"/>
          </a:p>
        </p:txBody>
      </p:sp>
      <p:sp>
        <p:nvSpPr>
          <p:cNvPr id="528" name="Google Shape;528;p53"/>
          <p:cNvSpPr txBox="1"/>
          <p:nvPr/>
        </p:nvSpPr>
        <p:spPr>
          <a:xfrm>
            <a:off x="1552800" y="2888575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SELECT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529" name="Google Shape;529;p53"/>
          <p:cNvSpPr txBox="1"/>
          <p:nvPr/>
        </p:nvSpPr>
        <p:spPr>
          <a:xfrm>
            <a:off x="2320800" y="2888575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UPDATE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530" name="Google Shape;530;p53"/>
          <p:cNvSpPr txBox="1"/>
          <p:nvPr/>
        </p:nvSpPr>
        <p:spPr>
          <a:xfrm>
            <a:off x="3088800" y="2888575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DELETE</a:t>
            </a:r>
            <a:endParaRPr b="1" sz="1000">
              <a:solidFill>
                <a:srgbClr val="FF0000"/>
              </a:solidFill>
            </a:endParaRPr>
          </a:p>
        </p:txBody>
      </p:sp>
      <p:cxnSp>
        <p:nvCxnSpPr>
          <p:cNvPr id="531" name="Google Shape;531;p53"/>
          <p:cNvCxnSpPr/>
          <p:nvPr/>
        </p:nvCxnSpPr>
        <p:spPr>
          <a:xfrm>
            <a:off x="4033775" y="2739325"/>
            <a:ext cx="0" cy="25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" name="Google Shape;532;p53"/>
          <p:cNvSpPr txBox="1"/>
          <p:nvPr/>
        </p:nvSpPr>
        <p:spPr>
          <a:xfrm>
            <a:off x="3530525" y="3095875"/>
            <a:ext cx="11109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COMMIT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533" name="Google Shape;533;p53"/>
          <p:cNvSpPr txBox="1"/>
          <p:nvPr/>
        </p:nvSpPr>
        <p:spPr>
          <a:xfrm>
            <a:off x="2834300" y="3875003"/>
            <a:ext cx="32487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b="1" lang="en-GB" sz="1800">
                <a:highlight>
                  <a:srgbClr val="FFFF00"/>
                </a:highlight>
              </a:rPr>
              <a:t>COMMIT</a:t>
            </a:r>
            <a:r>
              <a:rPr lang="en-GB" sz="1800"/>
              <a:t> command ends a transaction ...</a:t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4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Transactions</a:t>
            </a:r>
            <a:endParaRPr/>
          </a:p>
        </p:txBody>
      </p:sp>
      <p:cxnSp>
        <p:nvCxnSpPr>
          <p:cNvPr id="539" name="Google Shape;539;p54"/>
          <p:cNvCxnSpPr/>
          <p:nvPr/>
        </p:nvCxnSpPr>
        <p:spPr>
          <a:xfrm flipH="1" rot="10800000">
            <a:off x="900925" y="2847775"/>
            <a:ext cx="7695000" cy="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0" name="Google Shape;540;p54"/>
          <p:cNvSpPr txBox="1"/>
          <p:nvPr/>
        </p:nvSpPr>
        <p:spPr>
          <a:xfrm>
            <a:off x="95000" y="264047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C1</a:t>
            </a:r>
            <a:endParaRPr b="1" sz="1800">
              <a:solidFill>
                <a:srgbClr val="FF0000"/>
              </a:solidFill>
            </a:endParaRPr>
          </a:p>
        </p:txBody>
      </p:sp>
      <p:cxnSp>
        <p:nvCxnSpPr>
          <p:cNvPr id="541" name="Google Shape;541;p54"/>
          <p:cNvCxnSpPr/>
          <p:nvPr/>
        </p:nvCxnSpPr>
        <p:spPr>
          <a:xfrm>
            <a:off x="1262125" y="2741400"/>
            <a:ext cx="0" cy="25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2" name="Google Shape;542;p54"/>
          <p:cNvSpPr txBox="1"/>
          <p:nvPr/>
        </p:nvSpPr>
        <p:spPr>
          <a:xfrm>
            <a:off x="211950" y="1021928"/>
            <a:ext cx="32487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Transaction </a:t>
            </a:r>
            <a:r>
              <a:rPr b="1" lang="en-GB" sz="1800">
                <a:highlight>
                  <a:srgbClr val="FFFF00"/>
                </a:highlight>
              </a:rPr>
              <a:t>begins</a:t>
            </a:r>
            <a:r>
              <a:rPr lang="en-GB" sz="1800"/>
              <a:t> automatically on first SQL statement</a:t>
            </a:r>
            <a:endParaRPr sz="1800"/>
          </a:p>
        </p:txBody>
      </p:sp>
      <p:sp>
        <p:nvSpPr>
          <p:cNvPr id="543" name="Google Shape;543;p54"/>
          <p:cNvSpPr txBox="1"/>
          <p:nvPr/>
        </p:nvSpPr>
        <p:spPr>
          <a:xfrm>
            <a:off x="1552800" y="2888575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SELECT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544" name="Google Shape;544;p54"/>
          <p:cNvSpPr txBox="1"/>
          <p:nvPr/>
        </p:nvSpPr>
        <p:spPr>
          <a:xfrm>
            <a:off x="2320800" y="2888575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UPDATE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545" name="Google Shape;545;p54"/>
          <p:cNvSpPr txBox="1"/>
          <p:nvPr/>
        </p:nvSpPr>
        <p:spPr>
          <a:xfrm>
            <a:off x="3088800" y="2888575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DELETE</a:t>
            </a:r>
            <a:endParaRPr b="1" sz="1000">
              <a:solidFill>
                <a:srgbClr val="FF0000"/>
              </a:solidFill>
            </a:endParaRPr>
          </a:p>
        </p:txBody>
      </p:sp>
      <p:cxnSp>
        <p:nvCxnSpPr>
          <p:cNvPr id="546" name="Google Shape;546;p54"/>
          <p:cNvCxnSpPr/>
          <p:nvPr/>
        </p:nvCxnSpPr>
        <p:spPr>
          <a:xfrm>
            <a:off x="4033775" y="2739325"/>
            <a:ext cx="0" cy="25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54"/>
          <p:cNvSpPr txBox="1"/>
          <p:nvPr/>
        </p:nvSpPr>
        <p:spPr>
          <a:xfrm>
            <a:off x="3530525" y="3095875"/>
            <a:ext cx="11109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COMMIT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548" name="Google Shape;548;p54"/>
          <p:cNvSpPr txBox="1"/>
          <p:nvPr/>
        </p:nvSpPr>
        <p:spPr>
          <a:xfrm>
            <a:off x="2834300" y="3875003"/>
            <a:ext cx="32487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b="1" lang="en-GB" sz="1800">
                <a:highlight>
                  <a:srgbClr val="FFFF00"/>
                </a:highlight>
              </a:rPr>
              <a:t>COMMIT</a:t>
            </a:r>
            <a:r>
              <a:rPr lang="en-GB" sz="1800"/>
              <a:t> command ends a transaction ...</a:t>
            </a:r>
            <a:endParaRPr sz="1800"/>
          </a:p>
        </p:txBody>
      </p:sp>
      <p:sp>
        <p:nvSpPr>
          <p:cNvPr id="549" name="Google Shape;549;p54"/>
          <p:cNvSpPr/>
          <p:nvPr/>
        </p:nvSpPr>
        <p:spPr>
          <a:xfrm rot="-5400000">
            <a:off x="2473975" y="1137925"/>
            <a:ext cx="290700" cy="2714400"/>
          </a:xfrm>
          <a:prstGeom prst="rightBrace">
            <a:avLst>
              <a:gd fmla="val 144728" name="adj1"/>
              <a:gd fmla="val 51059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54"/>
          <p:cNvSpPr txBox="1"/>
          <p:nvPr/>
        </p:nvSpPr>
        <p:spPr>
          <a:xfrm>
            <a:off x="2335825" y="189437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T1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551" name="Google Shape;551;p54"/>
          <p:cNvSpPr/>
          <p:nvPr/>
        </p:nvSpPr>
        <p:spPr>
          <a:xfrm rot="-5400000">
            <a:off x="5435625" y="1137925"/>
            <a:ext cx="290700" cy="2714400"/>
          </a:xfrm>
          <a:prstGeom prst="rightBrace">
            <a:avLst>
              <a:gd fmla="val 144728" name="adj1"/>
              <a:gd fmla="val 51059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54"/>
          <p:cNvSpPr txBox="1"/>
          <p:nvPr/>
        </p:nvSpPr>
        <p:spPr>
          <a:xfrm>
            <a:off x="5378900" y="193062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T2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553" name="Google Shape;553;p54"/>
          <p:cNvSpPr txBox="1"/>
          <p:nvPr/>
        </p:nvSpPr>
        <p:spPr>
          <a:xfrm>
            <a:off x="5290725" y="1197240"/>
            <a:ext cx="32487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… and begins a new one</a:t>
            </a:r>
            <a:endParaRPr sz="1800"/>
          </a:p>
        </p:txBody>
      </p:sp>
      <p:sp>
        <p:nvSpPr>
          <p:cNvPr id="554" name="Google Shape;554;p54"/>
          <p:cNvSpPr txBox="1"/>
          <p:nvPr/>
        </p:nvSpPr>
        <p:spPr>
          <a:xfrm>
            <a:off x="4428975" y="2884300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UPDATE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555" name="Google Shape;555;p54"/>
          <p:cNvSpPr txBox="1"/>
          <p:nvPr/>
        </p:nvSpPr>
        <p:spPr>
          <a:xfrm>
            <a:off x="5196975" y="2884300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CREATE INDEX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556" name="Google Shape;556;p54"/>
          <p:cNvSpPr txBox="1"/>
          <p:nvPr/>
        </p:nvSpPr>
        <p:spPr>
          <a:xfrm>
            <a:off x="5964975" y="2884300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Drop Column</a:t>
            </a:r>
            <a:endParaRPr b="1" sz="10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5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Transactions</a:t>
            </a:r>
            <a:endParaRPr/>
          </a:p>
        </p:txBody>
      </p:sp>
      <p:cxnSp>
        <p:nvCxnSpPr>
          <p:cNvPr id="562" name="Google Shape;562;p55"/>
          <p:cNvCxnSpPr/>
          <p:nvPr/>
        </p:nvCxnSpPr>
        <p:spPr>
          <a:xfrm flipH="1" rot="10800000">
            <a:off x="900925" y="2847775"/>
            <a:ext cx="7695000" cy="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3" name="Google Shape;563;p55"/>
          <p:cNvSpPr txBox="1"/>
          <p:nvPr/>
        </p:nvSpPr>
        <p:spPr>
          <a:xfrm>
            <a:off x="95000" y="264047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C1</a:t>
            </a:r>
            <a:endParaRPr b="1" sz="1800">
              <a:solidFill>
                <a:srgbClr val="FF0000"/>
              </a:solidFill>
            </a:endParaRPr>
          </a:p>
        </p:txBody>
      </p:sp>
      <p:cxnSp>
        <p:nvCxnSpPr>
          <p:cNvPr id="564" name="Google Shape;564;p55"/>
          <p:cNvCxnSpPr/>
          <p:nvPr/>
        </p:nvCxnSpPr>
        <p:spPr>
          <a:xfrm>
            <a:off x="1262125" y="2741400"/>
            <a:ext cx="0" cy="25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55"/>
          <p:cNvSpPr txBox="1"/>
          <p:nvPr/>
        </p:nvSpPr>
        <p:spPr>
          <a:xfrm>
            <a:off x="1552800" y="2888575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SELECT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566" name="Google Shape;566;p55"/>
          <p:cNvSpPr txBox="1"/>
          <p:nvPr/>
        </p:nvSpPr>
        <p:spPr>
          <a:xfrm>
            <a:off x="2320800" y="2888575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UPDATE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567" name="Google Shape;567;p55"/>
          <p:cNvSpPr txBox="1"/>
          <p:nvPr/>
        </p:nvSpPr>
        <p:spPr>
          <a:xfrm>
            <a:off x="3088800" y="2888575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DELETE</a:t>
            </a:r>
            <a:endParaRPr b="1" sz="1000">
              <a:solidFill>
                <a:srgbClr val="FF0000"/>
              </a:solidFill>
            </a:endParaRPr>
          </a:p>
        </p:txBody>
      </p:sp>
      <p:cxnSp>
        <p:nvCxnSpPr>
          <p:cNvPr id="568" name="Google Shape;568;p55"/>
          <p:cNvCxnSpPr/>
          <p:nvPr/>
        </p:nvCxnSpPr>
        <p:spPr>
          <a:xfrm>
            <a:off x="4033775" y="2739325"/>
            <a:ext cx="0" cy="25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" name="Google Shape;569;p55"/>
          <p:cNvSpPr txBox="1"/>
          <p:nvPr/>
        </p:nvSpPr>
        <p:spPr>
          <a:xfrm>
            <a:off x="3530525" y="3095875"/>
            <a:ext cx="11109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COMMIT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570" name="Google Shape;570;p55"/>
          <p:cNvSpPr/>
          <p:nvPr/>
        </p:nvSpPr>
        <p:spPr>
          <a:xfrm rot="-5400000">
            <a:off x="2473975" y="1137925"/>
            <a:ext cx="290700" cy="2714400"/>
          </a:xfrm>
          <a:prstGeom prst="rightBrace">
            <a:avLst>
              <a:gd fmla="val 144728" name="adj1"/>
              <a:gd fmla="val 51059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55"/>
          <p:cNvSpPr txBox="1"/>
          <p:nvPr/>
        </p:nvSpPr>
        <p:spPr>
          <a:xfrm>
            <a:off x="2335825" y="189437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T1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572" name="Google Shape;572;p55"/>
          <p:cNvSpPr/>
          <p:nvPr/>
        </p:nvSpPr>
        <p:spPr>
          <a:xfrm rot="-5400000">
            <a:off x="5435625" y="1137925"/>
            <a:ext cx="290700" cy="2714400"/>
          </a:xfrm>
          <a:prstGeom prst="rightBrace">
            <a:avLst>
              <a:gd fmla="val 144728" name="adj1"/>
              <a:gd fmla="val 51059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5"/>
          <p:cNvSpPr txBox="1"/>
          <p:nvPr/>
        </p:nvSpPr>
        <p:spPr>
          <a:xfrm>
            <a:off x="5378900" y="193062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T2</a:t>
            </a:r>
            <a:endParaRPr b="1" sz="1800">
              <a:solidFill>
                <a:srgbClr val="FF0000"/>
              </a:solidFill>
            </a:endParaRPr>
          </a:p>
        </p:txBody>
      </p:sp>
      <p:cxnSp>
        <p:nvCxnSpPr>
          <p:cNvPr id="574" name="Google Shape;574;p55"/>
          <p:cNvCxnSpPr/>
          <p:nvPr/>
        </p:nvCxnSpPr>
        <p:spPr>
          <a:xfrm flipH="1" rot="10800000">
            <a:off x="900925" y="4339975"/>
            <a:ext cx="7695000" cy="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5" name="Google Shape;575;p55"/>
          <p:cNvSpPr txBox="1"/>
          <p:nvPr/>
        </p:nvSpPr>
        <p:spPr>
          <a:xfrm>
            <a:off x="95000" y="413267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C2</a:t>
            </a:r>
            <a:endParaRPr b="1" sz="1800">
              <a:solidFill>
                <a:srgbClr val="FF0000"/>
              </a:solidFill>
            </a:endParaRPr>
          </a:p>
        </p:txBody>
      </p:sp>
      <p:cxnSp>
        <p:nvCxnSpPr>
          <p:cNvPr id="576" name="Google Shape;576;p55"/>
          <p:cNvCxnSpPr/>
          <p:nvPr/>
        </p:nvCxnSpPr>
        <p:spPr>
          <a:xfrm>
            <a:off x="1262125" y="4233600"/>
            <a:ext cx="0" cy="25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55"/>
          <p:cNvCxnSpPr/>
          <p:nvPr/>
        </p:nvCxnSpPr>
        <p:spPr>
          <a:xfrm>
            <a:off x="2902825" y="4231525"/>
            <a:ext cx="0" cy="25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" name="Google Shape;578;p55"/>
          <p:cNvSpPr/>
          <p:nvPr/>
        </p:nvSpPr>
        <p:spPr>
          <a:xfrm rot="-5400000">
            <a:off x="1920175" y="3183925"/>
            <a:ext cx="290700" cy="1606800"/>
          </a:xfrm>
          <a:prstGeom prst="rightBrace">
            <a:avLst>
              <a:gd fmla="val 144728" name="adj1"/>
              <a:gd fmla="val 51059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5"/>
          <p:cNvSpPr/>
          <p:nvPr/>
        </p:nvSpPr>
        <p:spPr>
          <a:xfrm rot="-5400000">
            <a:off x="4140225" y="2630125"/>
            <a:ext cx="290700" cy="2714400"/>
          </a:xfrm>
          <a:prstGeom prst="rightBrace">
            <a:avLst>
              <a:gd fmla="val 144728" name="adj1"/>
              <a:gd fmla="val 51059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0" name="Google Shape;580;p55"/>
          <p:cNvCxnSpPr/>
          <p:nvPr/>
        </p:nvCxnSpPr>
        <p:spPr>
          <a:xfrm>
            <a:off x="5702225" y="4275475"/>
            <a:ext cx="0" cy="25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" name="Google Shape;581;p55"/>
          <p:cNvSpPr/>
          <p:nvPr/>
        </p:nvSpPr>
        <p:spPr>
          <a:xfrm rot="-5400000">
            <a:off x="6360275" y="3225800"/>
            <a:ext cx="290700" cy="1606800"/>
          </a:xfrm>
          <a:prstGeom prst="rightBrace">
            <a:avLst>
              <a:gd fmla="val 144728" name="adj1"/>
              <a:gd fmla="val 51059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2" name="Google Shape;582;p55"/>
          <p:cNvCxnSpPr/>
          <p:nvPr/>
        </p:nvCxnSpPr>
        <p:spPr>
          <a:xfrm>
            <a:off x="7378625" y="4275475"/>
            <a:ext cx="0" cy="25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55"/>
          <p:cNvSpPr txBox="1"/>
          <p:nvPr/>
        </p:nvSpPr>
        <p:spPr>
          <a:xfrm>
            <a:off x="4428975" y="2884300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UPDATE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584" name="Google Shape;584;p55"/>
          <p:cNvSpPr txBox="1"/>
          <p:nvPr/>
        </p:nvSpPr>
        <p:spPr>
          <a:xfrm>
            <a:off x="5196975" y="2884300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CREATE INDEX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585" name="Google Shape;585;p55"/>
          <p:cNvSpPr txBox="1"/>
          <p:nvPr/>
        </p:nvSpPr>
        <p:spPr>
          <a:xfrm>
            <a:off x="5964975" y="2884300"/>
            <a:ext cx="768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0000"/>
                </a:solidFill>
              </a:rPr>
              <a:t>Drop Column</a:t>
            </a:r>
            <a:endParaRPr b="1" sz="10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6"/>
          <p:cNvSpPr txBox="1"/>
          <p:nvPr>
            <p:ph type="title"/>
          </p:nvPr>
        </p:nvSpPr>
        <p:spPr>
          <a:xfrm>
            <a:off x="490250" y="450150"/>
            <a:ext cx="8250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Transaction Properties</a:t>
            </a:r>
            <a:endParaRPr sz="36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ACID</a:t>
            </a:r>
            <a:endParaRPr/>
          </a:p>
        </p:txBody>
      </p:sp>
      <p:sp>
        <p:nvSpPr>
          <p:cNvPr id="596" name="Google Shape;59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Every transaction must satisfy the </a:t>
            </a:r>
            <a:r>
              <a:rPr b="1" lang="en-GB">
                <a:solidFill>
                  <a:schemeClr val="dk1"/>
                </a:solidFill>
              </a:rPr>
              <a:t>ACID</a:t>
            </a:r>
            <a:r>
              <a:rPr lang="en-GB">
                <a:solidFill>
                  <a:schemeClr val="dk1"/>
                </a:solidFill>
              </a:rPr>
              <a:t> properties: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A – Atomicity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C – Consistency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I – Isolation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D – Durability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8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ACID Properties: Atomicity</a:t>
            </a:r>
            <a:endParaRPr/>
          </a:p>
        </p:txBody>
      </p:sp>
      <p:sp>
        <p:nvSpPr>
          <p:cNvPr id="602" name="Google Shape;602;p58"/>
          <p:cNvSpPr/>
          <p:nvPr/>
        </p:nvSpPr>
        <p:spPr>
          <a:xfrm>
            <a:off x="4959600" y="3722300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603" name="Google Shape;603;p58"/>
          <p:cNvSpPr/>
          <p:nvPr/>
        </p:nvSpPr>
        <p:spPr>
          <a:xfrm>
            <a:off x="4959500" y="3024875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604" name="Google Shape;604;p58"/>
          <p:cNvCxnSpPr>
            <a:stCxn id="603" idx="2"/>
            <a:endCxn id="602" idx="0"/>
          </p:cNvCxnSpPr>
          <p:nvPr/>
        </p:nvCxnSpPr>
        <p:spPr>
          <a:xfrm>
            <a:off x="6005000" y="3462875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05" name="Google Shape;605;p58"/>
          <p:cNvSpPr/>
          <p:nvPr/>
        </p:nvSpPr>
        <p:spPr>
          <a:xfrm>
            <a:off x="5670200" y="1449275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6" name="Google Shape;606;p58"/>
          <p:cNvCxnSpPr/>
          <p:nvPr/>
        </p:nvCxnSpPr>
        <p:spPr>
          <a:xfrm>
            <a:off x="5914200" y="2109100"/>
            <a:ext cx="40800" cy="69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7" name="Google Shape;607;p58"/>
          <p:cNvSpPr txBox="1"/>
          <p:nvPr/>
        </p:nvSpPr>
        <p:spPr>
          <a:xfrm>
            <a:off x="6117200" y="2001862"/>
            <a:ext cx="5670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  T2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608" name="Google Shape;608;p58"/>
          <p:cNvCxnSpPr/>
          <p:nvPr/>
        </p:nvCxnSpPr>
        <p:spPr>
          <a:xfrm flipH="1" rot="10800000">
            <a:off x="6619575" y="1782638"/>
            <a:ext cx="288000" cy="252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58"/>
          <p:cNvCxnSpPr/>
          <p:nvPr/>
        </p:nvCxnSpPr>
        <p:spPr>
          <a:xfrm>
            <a:off x="6619575" y="2035538"/>
            <a:ext cx="301500" cy="332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" name="Google Shape;610;p58"/>
          <p:cNvSpPr txBox="1"/>
          <p:nvPr/>
        </p:nvSpPr>
        <p:spPr>
          <a:xfrm>
            <a:off x="6825125" y="1646600"/>
            <a:ext cx="10485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S1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S2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S3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Commit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11" name="Google Shape;611;p58"/>
          <p:cNvSpPr txBox="1"/>
          <p:nvPr/>
        </p:nvSpPr>
        <p:spPr>
          <a:xfrm>
            <a:off x="7737575" y="1881950"/>
            <a:ext cx="10485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CRASH!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12" name="Google Shape;612;p58"/>
          <p:cNvSpPr txBox="1"/>
          <p:nvPr/>
        </p:nvSpPr>
        <p:spPr>
          <a:xfrm>
            <a:off x="311700" y="1048100"/>
            <a:ext cx="4647900" cy="3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“All or nothing.”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Either every operation in the transaction is completed, or none is.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If any part fails → </a:t>
            </a:r>
            <a:r>
              <a:rPr b="1" lang="en-GB" sz="1800">
                <a:solidFill>
                  <a:schemeClr val="dk1"/>
                </a:solidFill>
              </a:rPr>
              <a:t>ROLLBACK</a:t>
            </a:r>
            <a:r>
              <a:rPr lang="en-GB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Ensured using </a:t>
            </a:r>
            <a:r>
              <a:rPr b="1" lang="en-GB" sz="1800">
                <a:solidFill>
                  <a:schemeClr val="dk1"/>
                </a:solidFill>
              </a:rPr>
              <a:t>transaction logs</a:t>
            </a:r>
            <a:r>
              <a:rPr lang="en-GB" sz="1800">
                <a:solidFill>
                  <a:schemeClr val="dk1"/>
                </a:solidFill>
              </a:rPr>
              <a:t> that record before/after images.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9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ACID Properties: Consistency</a:t>
            </a:r>
            <a:endParaRPr/>
          </a:p>
        </p:txBody>
      </p:sp>
      <p:sp>
        <p:nvSpPr>
          <p:cNvPr id="618" name="Google Shape;618;p59"/>
          <p:cNvSpPr txBox="1"/>
          <p:nvPr/>
        </p:nvSpPr>
        <p:spPr>
          <a:xfrm>
            <a:off x="311700" y="1048100"/>
            <a:ext cx="4647900" cy="3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Transactions must transform the database from one </a:t>
            </a:r>
            <a:r>
              <a:rPr b="1" lang="en-GB" sz="1800">
                <a:solidFill>
                  <a:schemeClr val="dk1"/>
                </a:solidFill>
              </a:rPr>
              <a:t>valid state</a:t>
            </a:r>
            <a:r>
              <a:rPr lang="en-GB" sz="1800">
                <a:solidFill>
                  <a:schemeClr val="dk1"/>
                </a:solidFill>
              </a:rPr>
              <a:t> to another.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All integrity constraints must hold when transaction begins and after the transaction ends(PKs, FKs, CHECKs)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Because of </a:t>
            </a:r>
            <a:r>
              <a:rPr b="1" lang="en-GB" sz="1800">
                <a:solidFill>
                  <a:schemeClr val="dk1"/>
                </a:solidFill>
              </a:rPr>
              <a:t>serializability</a:t>
            </a:r>
            <a:r>
              <a:rPr lang="en-GB" sz="1800">
                <a:solidFill>
                  <a:schemeClr val="dk1"/>
                </a:solidFill>
              </a:rPr>
              <a:t>, constraints always hold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19" name="Google Shape;619;p59"/>
          <p:cNvSpPr/>
          <p:nvPr/>
        </p:nvSpPr>
        <p:spPr>
          <a:xfrm>
            <a:off x="6649050" y="3722300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620" name="Google Shape;620;p59"/>
          <p:cNvSpPr/>
          <p:nvPr/>
        </p:nvSpPr>
        <p:spPr>
          <a:xfrm>
            <a:off x="6648950" y="3024875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621" name="Google Shape;621;p59"/>
          <p:cNvCxnSpPr>
            <a:stCxn id="620" idx="2"/>
            <a:endCxn id="619" idx="0"/>
          </p:cNvCxnSpPr>
          <p:nvPr/>
        </p:nvCxnSpPr>
        <p:spPr>
          <a:xfrm>
            <a:off x="7694450" y="3462875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22" name="Google Shape;622;p59"/>
          <p:cNvSpPr/>
          <p:nvPr/>
        </p:nvSpPr>
        <p:spPr>
          <a:xfrm>
            <a:off x="5955550" y="145145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59"/>
          <p:cNvSpPr/>
          <p:nvPr/>
        </p:nvSpPr>
        <p:spPr>
          <a:xfrm>
            <a:off x="7836600" y="145145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9"/>
          <p:cNvSpPr/>
          <p:nvPr/>
        </p:nvSpPr>
        <p:spPr>
          <a:xfrm>
            <a:off x="8385300" y="151630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5" name="Google Shape;625;p59"/>
          <p:cNvCxnSpPr/>
          <p:nvPr/>
        </p:nvCxnSpPr>
        <p:spPr>
          <a:xfrm>
            <a:off x="6402550" y="1997863"/>
            <a:ext cx="561600" cy="82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6" name="Google Shape;626;p59"/>
          <p:cNvCxnSpPr/>
          <p:nvPr/>
        </p:nvCxnSpPr>
        <p:spPr>
          <a:xfrm flipH="1">
            <a:off x="8175000" y="2063100"/>
            <a:ext cx="301800" cy="73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7" name="Google Shape;627;p59"/>
          <p:cNvCxnSpPr/>
          <p:nvPr/>
        </p:nvCxnSpPr>
        <p:spPr>
          <a:xfrm flipH="1">
            <a:off x="7831800" y="1995650"/>
            <a:ext cx="88500" cy="50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8" name="Google Shape;628;p59"/>
          <p:cNvCxnSpPr/>
          <p:nvPr/>
        </p:nvCxnSpPr>
        <p:spPr>
          <a:xfrm flipH="1">
            <a:off x="7414400" y="1911325"/>
            <a:ext cx="843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9" name="Google Shape;629;p59"/>
          <p:cNvCxnSpPr/>
          <p:nvPr/>
        </p:nvCxnSpPr>
        <p:spPr>
          <a:xfrm>
            <a:off x="6841000" y="1987225"/>
            <a:ext cx="279600" cy="4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0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Serializability</a:t>
            </a:r>
            <a:endParaRPr/>
          </a:p>
        </p:txBody>
      </p:sp>
      <p:sp>
        <p:nvSpPr>
          <p:cNvPr id="635" name="Google Shape;635;p60"/>
          <p:cNvSpPr/>
          <p:nvPr/>
        </p:nvSpPr>
        <p:spPr>
          <a:xfrm>
            <a:off x="1753225" y="3722300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636" name="Google Shape;636;p60"/>
          <p:cNvSpPr/>
          <p:nvPr/>
        </p:nvSpPr>
        <p:spPr>
          <a:xfrm>
            <a:off x="1753125" y="3024875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637" name="Google Shape;637;p60"/>
          <p:cNvCxnSpPr>
            <a:stCxn id="636" idx="2"/>
            <a:endCxn id="635" idx="0"/>
          </p:cNvCxnSpPr>
          <p:nvPr/>
        </p:nvCxnSpPr>
        <p:spPr>
          <a:xfrm>
            <a:off x="2798625" y="3462875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38" name="Google Shape;638;p60"/>
          <p:cNvSpPr/>
          <p:nvPr/>
        </p:nvSpPr>
        <p:spPr>
          <a:xfrm>
            <a:off x="1059725" y="145145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60"/>
          <p:cNvSpPr/>
          <p:nvPr/>
        </p:nvSpPr>
        <p:spPr>
          <a:xfrm>
            <a:off x="2940775" y="145145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60"/>
          <p:cNvSpPr/>
          <p:nvPr/>
        </p:nvSpPr>
        <p:spPr>
          <a:xfrm>
            <a:off x="3489475" y="151630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1" name="Google Shape;641;p60"/>
          <p:cNvCxnSpPr/>
          <p:nvPr/>
        </p:nvCxnSpPr>
        <p:spPr>
          <a:xfrm>
            <a:off x="1506725" y="1997863"/>
            <a:ext cx="561600" cy="82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2" name="Google Shape;642;p60"/>
          <p:cNvCxnSpPr/>
          <p:nvPr/>
        </p:nvCxnSpPr>
        <p:spPr>
          <a:xfrm flipH="1">
            <a:off x="3279175" y="2063100"/>
            <a:ext cx="301800" cy="73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3" name="Google Shape;643;p60"/>
          <p:cNvCxnSpPr/>
          <p:nvPr/>
        </p:nvCxnSpPr>
        <p:spPr>
          <a:xfrm flipH="1">
            <a:off x="2935975" y="1995650"/>
            <a:ext cx="88500" cy="50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4" name="Google Shape;644;p60"/>
          <p:cNvCxnSpPr/>
          <p:nvPr/>
        </p:nvCxnSpPr>
        <p:spPr>
          <a:xfrm flipH="1">
            <a:off x="2518575" y="1911325"/>
            <a:ext cx="843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5" name="Google Shape;645;p60"/>
          <p:cNvCxnSpPr/>
          <p:nvPr/>
        </p:nvCxnSpPr>
        <p:spPr>
          <a:xfrm>
            <a:off x="1945175" y="1987225"/>
            <a:ext cx="279600" cy="4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1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Serializability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61"/>
          <p:cNvSpPr/>
          <p:nvPr/>
        </p:nvSpPr>
        <p:spPr>
          <a:xfrm>
            <a:off x="1753225" y="3722300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652" name="Google Shape;652;p61"/>
          <p:cNvSpPr/>
          <p:nvPr/>
        </p:nvSpPr>
        <p:spPr>
          <a:xfrm>
            <a:off x="1753125" y="3024875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653" name="Google Shape;653;p61"/>
          <p:cNvCxnSpPr>
            <a:stCxn id="652" idx="2"/>
            <a:endCxn id="651" idx="0"/>
          </p:cNvCxnSpPr>
          <p:nvPr/>
        </p:nvCxnSpPr>
        <p:spPr>
          <a:xfrm>
            <a:off x="2798625" y="3462875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54" name="Google Shape;654;p61"/>
          <p:cNvSpPr/>
          <p:nvPr/>
        </p:nvSpPr>
        <p:spPr>
          <a:xfrm>
            <a:off x="1059725" y="145145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61"/>
          <p:cNvSpPr/>
          <p:nvPr/>
        </p:nvSpPr>
        <p:spPr>
          <a:xfrm>
            <a:off x="2940775" y="145145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61"/>
          <p:cNvSpPr/>
          <p:nvPr/>
        </p:nvSpPr>
        <p:spPr>
          <a:xfrm>
            <a:off x="3489475" y="151630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7" name="Google Shape;657;p61"/>
          <p:cNvCxnSpPr/>
          <p:nvPr/>
        </p:nvCxnSpPr>
        <p:spPr>
          <a:xfrm>
            <a:off x="1506725" y="1997863"/>
            <a:ext cx="561600" cy="82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8" name="Google Shape;658;p61"/>
          <p:cNvCxnSpPr/>
          <p:nvPr/>
        </p:nvCxnSpPr>
        <p:spPr>
          <a:xfrm flipH="1">
            <a:off x="3279175" y="2063100"/>
            <a:ext cx="301800" cy="73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9" name="Google Shape;659;p61"/>
          <p:cNvCxnSpPr/>
          <p:nvPr/>
        </p:nvCxnSpPr>
        <p:spPr>
          <a:xfrm flipH="1">
            <a:off x="2935975" y="1995650"/>
            <a:ext cx="88500" cy="50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0" name="Google Shape;660;p61"/>
          <p:cNvCxnSpPr/>
          <p:nvPr/>
        </p:nvCxnSpPr>
        <p:spPr>
          <a:xfrm flipH="1">
            <a:off x="2518575" y="1911325"/>
            <a:ext cx="843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1" name="Google Shape;661;p61"/>
          <p:cNvCxnSpPr/>
          <p:nvPr/>
        </p:nvCxnSpPr>
        <p:spPr>
          <a:xfrm>
            <a:off x="1945175" y="1987225"/>
            <a:ext cx="279600" cy="4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2" name="Google Shape;662;p61"/>
          <p:cNvSpPr txBox="1"/>
          <p:nvPr/>
        </p:nvSpPr>
        <p:spPr>
          <a:xfrm>
            <a:off x="1378175" y="252390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63" name="Google Shape;663;p61"/>
          <p:cNvSpPr txBox="1"/>
          <p:nvPr/>
        </p:nvSpPr>
        <p:spPr>
          <a:xfrm>
            <a:off x="1225475" y="231005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64" name="Google Shape;664;p61"/>
          <p:cNvSpPr txBox="1"/>
          <p:nvPr/>
        </p:nvSpPr>
        <p:spPr>
          <a:xfrm>
            <a:off x="1084375" y="212897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65" name="Google Shape;665;p61"/>
          <p:cNvSpPr txBox="1"/>
          <p:nvPr/>
        </p:nvSpPr>
        <p:spPr>
          <a:xfrm>
            <a:off x="3146575" y="261058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T9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66" name="Google Shape;666;p61"/>
          <p:cNvSpPr txBox="1"/>
          <p:nvPr/>
        </p:nvSpPr>
        <p:spPr>
          <a:xfrm>
            <a:off x="3580975" y="220243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67" name="Google Shape;667;p61"/>
          <p:cNvSpPr txBox="1"/>
          <p:nvPr/>
        </p:nvSpPr>
        <p:spPr>
          <a:xfrm>
            <a:off x="3343875" y="238748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T10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68" name="Google Shape;668;p61"/>
          <p:cNvSpPr txBox="1"/>
          <p:nvPr/>
        </p:nvSpPr>
        <p:spPr>
          <a:xfrm>
            <a:off x="5137725" y="1089178"/>
            <a:ext cx="32487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Multiple users </a:t>
            </a:r>
            <a:r>
              <a:rPr lang="en-GB" sz="1800"/>
              <a:t>simultaneously</a:t>
            </a:r>
            <a:r>
              <a:rPr lang="en-GB" sz="1800"/>
              <a:t> are issuing transactions against the DB</a:t>
            </a:r>
            <a:endParaRPr sz="1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2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Serializability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62"/>
          <p:cNvSpPr/>
          <p:nvPr/>
        </p:nvSpPr>
        <p:spPr>
          <a:xfrm>
            <a:off x="1753225" y="3722300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675" name="Google Shape;675;p62"/>
          <p:cNvSpPr/>
          <p:nvPr/>
        </p:nvSpPr>
        <p:spPr>
          <a:xfrm>
            <a:off x="1753125" y="3024875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676" name="Google Shape;676;p62"/>
          <p:cNvCxnSpPr>
            <a:stCxn id="675" idx="2"/>
            <a:endCxn id="674" idx="0"/>
          </p:cNvCxnSpPr>
          <p:nvPr/>
        </p:nvCxnSpPr>
        <p:spPr>
          <a:xfrm>
            <a:off x="2798625" y="3462875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77" name="Google Shape;677;p62"/>
          <p:cNvSpPr/>
          <p:nvPr/>
        </p:nvSpPr>
        <p:spPr>
          <a:xfrm>
            <a:off x="1059725" y="145145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62"/>
          <p:cNvSpPr/>
          <p:nvPr/>
        </p:nvSpPr>
        <p:spPr>
          <a:xfrm>
            <a:off x="2940775" y="145145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62"/>
          <p:cNvSpPr/>
          <p:nvPr/>
        </p:nvSpPr>
        <p:spPr>
          <a:xfrm>
            <a:off x="3489475" y="151630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0" name="Google Shape;680;p62"/>
          <p:cNvCxnSpPr/>
          <p:nvPr/>
        </p:nvCxnSpPr>
        <p:spPr>
          <a:xfrm>
            <a:off x="1506725" y="1997863"/>
            <a:ext cx="561600" cy="82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1" name="Google Shape;681;p62"/>
          <p:cNvCxnSpPr/>
          <p:nvPr/>
        </p:nvCxnSpPr>
        <p:spPr>
          <a:xfrm flipH="1">
            <a:off x="3279175" y="2063100"/>
            <a:ext cx="301800" cy="73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62"/>
          <p:cNvCxnSpPr/>
          <p:nvPr/>
        </p:nvCxnSpPr>
        <p:spPr>
          <a:xfrm flipH="1">
            <a:off x="2935975" y="1995650"/>
            <a:ext cx="88500" cy="50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3" name="Google Shape;683;p62"/>
          <p:cNvCxnSpPr/>
          <p:nvPr/>
        </p:nvCxnSpPr>
        <p:spPr>
          <a:xfrm flipH="1">
            <a:off x="2518575" y="1911325"/>
            <a:ext cx="843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4" name="Google Shape;684;p62"/>
          <p:cNvCxnSpPr/>
          <p:nvPr/>
        </p:nvCxnSpPr>
        <p:spPr>
          <a:xfrm>
            <a:off x="1945175" y="1987225"/>
            <a:ext cx="279600" cy="4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5" name="Google Shape;685;p62"/>
          <p:cNvSpPr txBox="1"/>
          <p:nvPr/>
        </p:nvSpPr>
        <p:spPr>
          <a:xfrm>
            <a:off x="1378175" y="252390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86" name="Google Shape;686;p62"/>
          <p:cNvSpPr txBox="1"/>
          <p:nvPr/>
        </p:nvSpPr>
        <p:spPr>
          <a:xfrm>
            <a:off x="1225475" y="231005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87" name="Google Shape;687;p62"/>
          <p:cNvSpPr txBox="1"/>
          <p:nvPr/>
        </p:nvSpPr>
        <p:spPr>
          <a:xfrm>
            <a:off x="1084375" y="212897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88" name="Google Shape;688;p62"/>
          <p:cNvSpPr txBox="1"/>
          <p:nvPr/>
        </p:nvSpPr>
        <p:spPr>
          <a:xfrm>
            <a:off x="3146575" y="261058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T9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89" name="Google Shape;689;p62"/>
          <p:cNvSpPr txBox="1"/>
          <p:nvPr/>
        </p:nvSpPr>
        <p:spPr>
          <a:xfrm>
            <a:off x="3580975" y="220243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90" name="Google Shape;690;p62"/>
          <p:cNvSpPr txBox="1"/>
          <p:nvPr/>
        </p:nvSpPr>
        <p:spPr>
          <a:xfrm>
            <a:off x="3343875" y="238748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T10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91" name="Google Shape;691;p62"/>
          <p:cNvSpPr txBox="1"/>
          <p:nvPr/>
        </p:nvSpPr>
        <p:spPr>
          <a:xfrm>
            <a:off x="5137725" y="1089178"/>
            <a:ext cx="32487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Multiple users simultaneously are issuing transactions against the DB</a:t>
            </a:r>
            <a:endParaRPr sz="1800"/>
          </a:p>
        </p:txBody>
      </p:sp>
      <p:sp>
        <p:nvSpPr>
          <p:cNvPr id="692" name="Google Shape;692;p62"/>
          <p:cNvSpPr txBox="1"/>
          <p:nvPr/>
        </p:nvSpPr>
        <p:spPr>
          <a:xfrm>
            <a:off x="5126075" y="2383953"/>
            <a:ext cx="32487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Each of the transactions themselves include one or more statements. </a:t>
            </a:r>
            <a:endParaRPr sz="1800"/>
          </a:p>
        </p:txBody>
      </p:sp>
      <p:cxnSp>
        <p:nvCxnSpPr>
          <p:cNvPr id="693" name="Google Shape;693;p62"/>
          <p:cNvCxnSpPr>
            <a:stCxn id="689" idx="3"/>
          </p:cNvCxnSpPr>
          <p:nvPr/>
        </p:nvCxnSpPr>
        <p:spPr>
          <a:xfrm flipH="1" rot="10800000">
            <a:off x="4147975" y="2177238"/>
            <a:ext cx="288000" cy="252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62"/>
          <p:cNvCxnSpPr>
            <a:stCxn id="689" idx="3"/>
          </p:cNvCxnSpPr>
          <p:nvPr/>
        </p:nvCxnSpPr>
        <p:spPr>
          <a:xfrm>
            <a:off x="4147975" y="2430138"/>
            <a:ext cx="301500" cy="332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5" name="Google Shape;695;p62"/>
          <p:cNvSpPr txBox="1"/>
          <p:nvPr/>
        </p:nvSpPr>
        <p:spPr>
          <a:xfrm>
            <a:off x="4353525" y="2041212"/>
            <a:ext cx="5670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S1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S2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S3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3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Serializability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63"/>
          <p:cNvSpPr/>
          <p:nvPr/>
        </p:nvSpPr>
        <p:spPr>
          <a:xfrm>
            <a:off x="1753225" y="3722300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702" name="Google Shape;702;p63"/>
          <p:cNvSpPr/>
          <p:nvPr/>
        </p:nvSpPr>
        <p:spPr>
          <a:xfrm>
            <a:off x="1753125" y="3024875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703" name="Google Shape;703;p63"/>
          <p:cNvCxnSpPr>
            <a:stCxn id="702" idx="2"/>
            <a:endCxn id="701" idx="0"/>
          </p:cNvCxnSpPr>
          <p:nvPr/>
        </p:nvCxnSpPr>
        <p:spPr>
          <a:xfrm>
            <a:off x="2798625" y="3462875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04" name="Google Shape;704;p63"/>
          <p:cNvSpPr/>
          <p:nvPr/>
        </p:nvSpPr>
        <p:spPr>
          <a:xfrm>
            <a:off x="1059725" y="145145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63"/>
          <p:cNvSpPr/>
          <p:nvPr/>
        </p:nvSpPr>
        <p:spPr>
          <a:xfrm>
            <a:off x="2940775" y="145145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63"/>
          <p:cNvSpPr/>
          <p:nvPr/>
        </p:nvSpPr>
        <p:spPr>
          <a:xfrm>
            <a:off x="3489475" y="151630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7" name="Google Shape;707;p63"/>
          <p:cNvCxnSpPr/>
          <p:nvPr/>
        </p:nvCxnSpPr>
        <p:spPr>
          <a:xfrm>
            <a:off x="1506725" y="1997863"/>
            <a:ext cx="561600" cy="82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8" name="Google Shape;708;p63"/>
          <p:cNvCxnSpPr/>
          <p:nvPr/>
        </p:nvCxnSpPr>
        <p:spPr>
          <a:xfrm flipH="1">
            <a:off x="3279175" y="2063100"/>
            <a:ext cx="301800" cy="73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9" name="Google Shape;709;p63"/>
          <p:cNvCxnSpPr/>
          <p:nvPr/>
        </p:nvCxnSpPr>
        <p:spPr>
          <a:xfrm flipH="1">
            <a:off x="2935975" y="1995650"/>
            <a:ext cx="88500" cy="50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0" name="Google Shape;710;p63"/>
          <p:cNvCxnSpPr/>
          <p:nvPr/>
        </p:nvCxnSpPr>
        <p:spPr>
          <a:xfrm flipH="1">
            <a:off x="2518575" y="1911325"/>
            <a:ext cx="843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1" name="Google Shape;711;p63"/>
          <p:cNvCxnSpPr/>
          <p:nvPr/>
        </p:nvCxnSpPr>
        <p:spPr>
          <a:xfrm>
            <a:off x="1945175" y="1987225"/>
            <a:ext cx="279600" cy="4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2" name="Google Shape;712;p63"/>
          <p:cNvSpPr txBox="1"/>
          <p:nvPr/>
        </p:nvSpPr>
        <p:spPr>
          <a:xfrm>
            <a:off x="1378175" y="252390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13" name="Google Shape;713;p63"/>
          <p:cNvSpPr txBox="1"/>
          <p:nvPr/>
        </p:nvSpPr>
        <p:spPr>
          <a:xfrm>
            <a:off x="1225475" y="231005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14" name="Google Shape;714;p63"/>
          <p:cNvSpPr txBox="1"/>
          <p:nvPr/>
        </p:nvSpPr>
        <p:spPr>
          <a:xfrm>
            <a:off x="1084375" y="212897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15" name="Google Shape;715;p63"/>
          <p:cNvSpPr txBox="1"/>
          <p:nvPr/>
        </p:nvSpPr>
        <p:spPr>
          <a:xfrm>
            <a:off x="3146575" y="261058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T9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16" name="Google Shape;716;p63"/>
          <p:cNvSpPr txBox="1"/>
          <p:nvPr/>
        </p:nvSpPr>
        <p:spPr>
          <a:xfrm>
            <a:off x="3580975" y="220243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17" name="Google Shape;717;p63"/>
          <p:cNvSpPr txBox="1"/>
          <p:nvPr/>
        </p:nvSpPr>
        <p:spPr>
          <a:xfrm>
            <a:off x="3343875" y="238748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T10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718" name="Google Shape;718;p63"/>
          <p:cNvCxnSpPr>
            <a:stCxn id="716" idx="3"/>
          </p:cNvCxnSpPr>
          <p:nvPr/>
        </p:nvCxnSpPr>
        <p:spPr>
          <a:xfrm flipH="1" rot="10800000">
            <a:off x="4147975" y="2177238"/>
            <a:ext cx="288000" cy="252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63"/>
          <p:cNvCxnSpPr>
            <a:stCxn id="716" idx="3"/>
          </p:cNvCxnSpPr>
          <p:nvPr/>
        </p:nvCxnSpPr>
        <p:spPr>
          <a:xfrm>
            <a:off x="4147975" y="2430138"/>
            <a:ext cx="301500" cy="332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0" name="Google Shape;720;p63"/>
          <p:cNvSpPr txBox="1"/>
          <p:nvPr/>
        </p:nvSpPr>
        <p:spPr>
          <a:xfrm>
            <a:off x="4353525" y="2041212"/>
            <a:ext cx="5670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S1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S2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21" name="Google Shape;721;p63"/>
          <p:cNvSpPr txBox="1"/>
          <p:nvPr/>
        </p:nvSpPr>
        <p:spPr>
          <a:xfrm>
            <a:off x="5224050" y="1921326"/>
            <a:ext cx="32487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While the operations (statements) can be interleaved, execution must be equivalent to some sequential (serial) order of all transactions.</a:t>
            </a:r>
            <a:endParaRPr sz="1800"/>
          </a:p>
        </p:txBody>
      </p:sp>
      <p:sp>
        <p:nvSpPr>
          <p:cNvPr id="722" name="Google Shape;722;p63"/>
          <p:cNvSpPr txBox="1"/>
          <p:nvPr/>
        </p:nvSpPr>
        <p:spPr>
          <a:xfrm>
            <a:off x="5072700" y="3996275"/>
            <a:ext cx="3551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T1	T2	T9	T10	T3	….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4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Serializability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64"/>
          <p:cNvSpPr/>
          <p:nvPr/>
        </p:nvSpPr>
        <p:spPr>
          <a:xfrm>
            <a:off x="1753225" y="3722300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729" name="Google Shape;729;p64"/>
          <p:cNvSpPr/>
          <p:nvPr/>
        </p:nvSpPr>
        <p:spPr>
          <a:xfrm>
            <a:off x="1753125" y="3024875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730" name="Google Shape;730;p64"/>
          <p:cNvCxnSpPr>
            <a:stCxn id="729" idx="2"/>
            <a:endCxn id="728" idx="0"/>
          </p:cNvCxnSpPr>
          <p:nvPr/>
        </p:nvCxnSpPr>
        <p:spPr>
          <a:xfrm>
            <a:off x="2798625" y="3462875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31" name="Google Shape;731;p64"/>
          <p:cNvSpPr/>
          <p:nvPr/>
        </p:nvSpPr>
        <p:spPr>
          <a:xfrm>
            <a:off x="1059725" y="145145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64"/>
          <p:cNvSpPr/>
          <p:nvPr/>
        </p:nvSpPr>
        <p:spPr>
          <a:xfrm>
            <a:off x="2940775" y="145145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64"/>
          <p:cNvSpPr/>
          <p:nvPr/>
        </p:nvSpPr>
        <p:spPr>
          <a:xfrm>
            <a:off x="3489475" y="151630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4" name="Google Shape;734;p64"/>
          <p:cNvCxnSpPr/>
          <p:nvPr/>
        </p:nvCxnSpPr>
        <p:spPr>
          <a:xfrm>
            <a:off x="1506725" y="1997863"/>
            <a:ext cx="561600" cy="82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5" name="Google Shape;735;p64"/>
          <p:cNvCxnSpPr/>
          <p:nvPr/>
        </p:nvCxnSpPr>
        <p:spPr>
          <a:xfrm flipH="1">
            <a:off x="3279175" y="2063100"/>
            <a:ext cx="301800" cy="73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6" name="Google Shape;736;p64"/>
          <p:cNvCxnSpPr/>
          <p:nvPr/>
        </p:nvCxnSpPr>
        <p:spPr>
          <a:xfrm flipH="1">
            <a:off x="2935975" y="1995650"/>
            <a:ext cx="88500" cy="50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7" name="Google Shape;737;p64"/>
          <p:cNvCxnSpPr/>
          <p:nvPr/>
        </p:nvCxnSpPr>
        <p:spPr>
          <a:xfrm flipH="1">
            <a:off x="2518575" y="1911325"/>
            <a:ext cx="843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8" name="Google Shape;738;p64"/>
          <p:cNvCxnSpPr/>
          <p:nvPr/>
        </p:nvCxnSpPr>
        <p:spPr>
          <a:xfrm>
            <a:off x="1945175" y="1987225"/>
            <a:ext cx="279600" cy="4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9" name="Google Shape;739;p64"/>
          <p:cNvSpPr txBox="1"/>
          <p:nvPr/>
        </p:nvSpPr>
        <p:spPr>
          <a:xfrm>
            <a:off x="1378175" y="252390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40" name="Google Shape;740;p64"/>
          <p:cNvSpPr txBox="1"/>
          <p:nvPr/>
        </p:nvSpPr>
        <p:spPr>
          <a:xfrm>
            <a:off x="1225475" y="231005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41" name="Google Shape;741;p64"/>
          <p:cNvSpPr txBox="1"/>
          <p:nvPr/>
        </p:nvSpPr>
        <p:spPr>
          <a:xfrm>
            <a:off x="1084375" y="212897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42" name="Google Shape;742;p64"/>
          <p:cNvSpPr txBox="1"/>
          <p:nvPr/>
        </p:nvSpPr>
        <p:spPr>
          <a:xfrm>
            <a:off x="3146575" y="261058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T9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43" name="Google Shape;743;p64"/>
          <p:cNvSpPr txBox="1"/>
          <p:nvPr/>
        </p:nvSpPr>
        <p:spPr>
          <a:xfrm>
            <a:off x="3580975" y="220243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44" name="Google Shape;744;p64"/>
          <p:cNvSpPr txBox="1"/>
          <p:nvPr/>
        </p:nvSpPr>
        <p:spPr>
          <a:xfrm>
            <a:off x="3343875" y="238748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T10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745" name="Google Shape;745;p64"/>
          <p:cNvCxnSpPr>
            <a:stCxn id="743" idx="3"/>
          </p:cNvCxnSpPr>
          <p:nvPr/>
        </p:nvCxnSpPr>
        <p:spPr>
          <a:xfrm flipH="1" rot="10800000">
            <a:off x="4147975" y="2177238"/>
            <a:ext cx="288000" cy="252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64"/>
          <p:cNvCxnSpPr>
            <a:stCxn id="743" idx="3"/>
          </p:cNvCxnSpPr>
          <p:nvPr/>
        </p:nvCxnSpPr>
        <p:spPr>
          <a:xfrm>
            <a:off x="4147975" y="2430138"/>
            <a:ext cx="301500" cy="332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7" name="Google Shape;747;p64"/>
          <p:cNvSpPr txBox="1"/>
          <p:nvPr/>
        </p:nvSpPr>
        <p:spPr>
          <a:xfrm>
            <a:off x="4353525" y="2041212"/>
            <a:ext cx="5670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S1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S2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48" name="Google Shape;748;p64"/>
          <p:cNvSpPr txBox="1"/>
          <p:nvPr/>
        </p:nvSpPr>
        <p:spPr>
          <a:xfrm>
            <a:off x="5224050" y="1921326"/>
            <a:ext cx="32487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While the operations (statements) can be interleaved, execution must be equivalent to some sequential (serial) order of all transactions.</a:t>
            </a:r>
            <a:endParaRPr sz="1800"/>
          </a:p>
        </p:txBody>
      </p:sp>
      <p:sp>
        <p:nvSpPr>
          <p:cNvPr id="749" name="Google Shape;749;p64"/>
          <p:cNvSpPr txBox="1"/>
          <p:nvPr/>
        </p:nvSpPr>
        <p:spPr>
          <a:xfrm>
            <a:off x="5072700" y="3996275"/>
            <a:ext cx="3551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T1	T2	T9	T10	T3	….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5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Serializability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65"/>
          <p:cNvSpPr/>
          <p:nvPr/>
        </p:nvSpPr>
        <p:spPr>
          <a:xfrm>
            <a:off x="1753225" y="3722300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756" name="Google Shape;756;p65"/>
          <p:cNvSpPr/>
          <p:nvPr/>
        </p:nvSpPr>
        <p:spPr>
          <a:xfrm>
            <a:off x="1753125" y="3024875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757" name="Google Shape;757;p65"/>
          <p:cNvCxnSpPr>
            <a:stCxn id="756" idx="2"/>
            <a:endCxn id="755" idx="0"/>
          </p:cNvCxnSpPr>
          <p:nvPr/>
        </p:nvCxnSpPr>
        <p:spPr>
          <a:xfrm>
            <a:off x="2798625" y="3462875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58" name="Google Shape;758;p65"/>
          <p:cNvSpPr/>
          <p:nvPr/>
        </p:nvSpPr>
        <p:spPr>
          <a:xfrm>
            <a:off x="1059725" y="145145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65"/>
          <p:cNvSpPr/>
          <p:nvPr/>
        </p:nvSpPr>
        <p:spPr>
          <a:xfrm>
            <a:off x="2940775" y="145145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65"/>
          <p:cNvSpPr/>
          <p:nvPr/>
        </p:nvSpPr>
        <p:spPr>
          <a:xfrm>
            <a:off x="3489475" y="1516300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1" name="Google Shape;761;p65"/>
          <p:cNvCxnSpPr/>
          <p:nvPr/>
        </p:nvCxnSpPr>
        <p:spPr>
          <a:xfrm>
            <a:off x="1506725" y="1997863"/>
            <a:ext cx="561600" cy="82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2" name="Google Shape;762;p65"/>
          <p:cNvCxnSpPr/>
          <p:nvPr/>
        </p:nvCxnSpPr>
        <p:spPr>
          <a:xfrm flipH="1">
            <a:off x="3279175" y="2063100"/>
            <a:ext cx="301800" cy="73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3" name="Google Shape;763;p65"/>
          <p:cNvCxnSpPr/>
          <p:nvPr/>
        </p:nvCxnSpPr>
        <p:spPr>
          <a:xfrm flipH="1">
            <a:off x="2935975" y="1995650"/>
            <a:ext cx="88500" cy="50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4" name="Google Shape;764;p65"/>
          <p:cNvCxnSpPr/>
          <p:nvPr/>
        </p:nvCxnSpPr>
        <p:spPr>
          <a:xfrm flipH="1">
            <a:off x="2518575" y="1911325"/>
            <a:ext cx="84300" cy="51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5" name="Google Shape;765;p65"/>
          <p:cNvCxnSpPr/>
          <p:nvPr/>
        </p:nvCxnSpPr>
        <p:spPr>
          <a:xfrm>
            <a:off x="1945175" y="1987225"/>
            <a:ext cx="279600" cy="4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6" name="Google Shape;766;p65"/>
          <p:cNvSpPr txBox="1"/>
          <p:nvPr/>
        </p:nvSpPr>
        <p:spPr>
          <a:xfrm>
            <a:off x="1378175" y="252390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67" name="Google Shape;767;p65"/>
          <p:cNvSpPr txBox="1"/>
          <p:nvPr/>
        </p:nvSpPr>
        <p:spPr>
          <a:xfrm>
            <a:off x="1225475" y="231005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68" name="Google Shape;768;p65"/>
          <p:cNvSpPr txBox="1"/>
          <p:nvPr/>
        </p:nvSpPr>
        <p:spPr>
          <a:xfrm>
            <a:off x="1084375" y="2128975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69" name="Google Shape;769;p65"/>
          <p:cNvSpPr txBox="1"/>
          <p:nvPr/>
        </p:nvSpPr>
        <p:spPr>
          <a:xfrm>
            <a:off x="3146575" y="261058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T9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70" name="Google Shape;770;p65"/>
          <p:cNvSpPr txBox="1"/>
          <p:nvPr/>
        </p:nvSpPr>
        <p:spPr>
          <a:xfrm>
            <a:off x="3580975" y="220243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71" name="Google Shape;771;p65"/>
          <p:cNvSpPr txBox="1"/>
          <p:nvPr/>
        </p:nvSpPr>
        <p:spPr>
          <a:xfrm>
            <a:off x="3343875" y="2387488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T10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772" name="Google Shape;772;p65"/>
          <p:cNvCxnSpPr>
            <a:stCxn id="770" idx="3"/>
          </p:cNvCxnSpPr>
          <p:nvPr/>
        </p:nvCxnSpPr>
        <p:spPr>
          <a:xfrm flipH="1" rot="10800000">
            <a:off x="4147975" y="2177238"/>
            <a:ext cx="288000" cy="252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65"/>
          <p:cNvCxnSpPr>
            <a:stCxn id="770" idx="3"/>
          </p:cNvCxnSpPr>
          <p:nvPr/>
        </p:nvCxnSpPr>
        <p:spPr>
          <a:xfrm>
            <a:off x="4147975" y="2430138"/>
            <a:ext cx="301500" cy="332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4" name="Google Shape;774;p65"/>
          <p:cNvSpPr txBox="1"/>
          <p:nvPr/>
        </p:nvSpPr>
        <p:spPr>
          <a:xfrm>
            <a:off x="4353525" y="2041212"/>
            <a:ext cx="5670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S1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S2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75" name="Google Shape;775;p65"/>
          <p:cNvSpPr txBox="1"/>
          <p:nvPr/>
        </p:nvSpPr>
        <p:spPr>
          <a:xfrm>
            <a:off x="5224050" y="1921326"/>
            <a:ext cx="32487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While the operations (statements) can be interleaved, execution must be equivalent to some sequential (serial) order of all transactions.</a:t>
            </a:r>
            <a:endParaRPr sz="1800"/>
          </a:p>
        </p:txBody>
      </p:sp>
      <p:sp>
        <p:nvSpPr>
          <p:cNvPr id="776" name="Google Shape;776;p65"/>
          <p:cNvSpPr txBox="1"/>
          <p:nvPr/>
        </p:nvSpPr>
        <p:spPr>
          <a:xfrm>
            <a:off x="5072700" y="3996275"/>
            <a:ext cx="3551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T1	T2	T9	T10	T3	….</a:t>
            </a:r>
            <a:endParaRPr/>
          </a:p>
        </p:txBody>
      </p:sp>
      <p:sp>
        <p:nvSpPr>
          <p:cNvPr id="777" name="Google Shape;777;p65"/>
          <p:cNvSpPr txBox="1"/>
          <p:nvPr/>
        </p:nvSpPr>
        <p:spPr>
          <a:xfrm>
            <a:off x="5072700" y="4450175"/>
            <a:ext cx="35514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Guaranteed through </a:t>
            </a:r>
            <a:r>
              <a:rPr b="1" lang="en-GB">
                <a:highlight>
                  <a:srgbClr val="FFFF00"/>
                </a:highlight>
              </a:rPr>
              <a:t>locking</a:t>
            </a:r>
            <a:r>
              <a:rPr lang="en-GB"/>
              <a:t> methods. 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6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Access: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highlight>
                  <a:srgbClr val="FFFF00"/>
                </a:highlight>
              </a:rPr>
              <a:t>Attribute-Level</a:t>
            </a:r>
            <a:r>
              <a:rPr lang="en-GB" sz="2400"/>
              <a:t> Inconsistency</a:t>
            </a:r>
            <a:endParaRPr sz="2400"/>
          </a:p>
        </p:txBody>
      </p:sp>
      <p:sp>
        <p:nvSpPr>
          <p:cNvPr id="783" name="Google Shape;783;p66"/>
          <p:cNvSpPr txBox="1"/>
          <p:nvPr>
            <p:ph idx="1" type="body"/>
          </p:nvPr>
        </p:nvSpPr>
        <p:spPr>
          <a:xfrm>
            <a:off x="1155175" y="15833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CUSTOMER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+ </a:t>
            </a:r>
            <a:r>
              <a:rPr lang="en-GB" sz="1500">
                <a:solidFill>
                  <a:schemeClr val="dk1"/>
                </a:solidFill>
              </a:rPr>
              <a:t>100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CUS_CODE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12345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784" name="Google Shape;784;p66"/>
          <p:cNvSpPr txBox="1"/>
          <p:nvPr>
            <p:ph idx="1" type="body"/>
          </p:nvPr>
        </p:nvSpPr>
        <p:spPr>
          <a:xfrm>
            <a:off x="1155175" y="32288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CUSTOMER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CUS_BALANCE</a:t>
            </a:r>
            <a:r>
              <a:rPr lang="en-GB" sz="1500">
                <a:solidFill>
                  <a:srgbClr val="9900FF"/>
                </a:solidFill>
              </a:rPr>
              <a:t> + </a:t>
            </a:r>
            <a:r>
              <a:rPr lang="en-GB" sz="1500">
                <a:solidFill>
                  <a:schemeClr val="dk1"/>
                </a:solidFill>
              </a:rPr>
              <a:t>250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CUS_CODE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12345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785" name="Google Shape;785;p66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786" name="Google Shape;786;p66"/>
          <p:cNvSpPr txBox="1"/>
          <p:nvPr/>
        </p:nvSpPr>
        <p:spPr>
          <a:xfrm>
            <a:off x="498125" y="179600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T1</a:t>
            </a:r>
            <a:endParaRPr/>
          </a:p>
        </p:txBody>
      </p:sp>
      <p:sp>
        <p:nvSpPr>
          <p:cNvPr id="787" name="Google Shape;787;p66"/>
          <p:cNvSpPr txBox="1"/>
          <p:nvPr/>
        </p:nvSpPr>
        <p:spPr>
          <a:xfrm>
            <a:off x="498125" y="349535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</a:t>
            </a:r>
            <a:endParaRPr/>
          </a:p>
        </p:txBody>
      </p:sp>
      <p:sp>
        <p:nvSpPr>
          <p:cNvPr id="788" name="Google Shape;788;p66"/>
          <p:cNvSpPr txBox="1"/>
          <p:nvPr/>
        </p:nvSpPr>
        <p:spPr>
          <a:xfrm>
            <a:off x="5828550" y="2571800"/>
            <a:ext cx="27327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T1 ; T2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 Or 	T2 ; T1 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→ + 350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7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Access: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highlight>
                  <a:srgbClr val="FFFF00"/>
                </a:highlight>
              </a:rPr>
              <a:t>Tuple-Level</a:t>
            </a:r>
            <a:r>
              <a:rPr lang="en-GB" sz="2400"/>
              <a:t> Inconsistency</a:t>
            </a:r>
            <a:endParaRPr sz="2400"/>
          </a:p>
        </p:txBody>
      </p:sp>
      <p:sp>
        <p:nvSpPr>
          <p:cNvPr id="794" name="Google Shape;794;p67"/>
          <p:cNvSpPr txBox="1"/>
          <p:nvPr>
            <p:ph idx="1" type="body"/>
          </p:nvPr>
        </p:nvSpPr>
        <p:spPr>
          <a:xfrm>
            <a:off x="1155175" y="15833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PRODUCT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P_QOH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P_QOH</a:t>
            </a:r>
            <a:r>
              <a:rPr lang="en-GB" sz="1500">
                <a:solidFill>
                  <a:srgbClr val="9900FF"/>
                </a:solidFill>
              </a:rPr>
              <a:t> - </a:t>
            </a:r>
            <a:r>
              <a:rPr lang="en-GB" sz="1500">
                <a:solidFill>
                  <a:schemeClr val="dk1"/>
                </a:solidFill>
              </a:rPr>
              <a:t>5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P_CODE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795" name="Google Shape;795;p67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796" name="Google Shape;796;p67"/>
          <p:cNvSpPr txBox="1"/>
          <p:nvPr/>
        </p:nvSpPr>
        <p:spPr>
          <a:xfrm>
            <a:off x="498125" y="179600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T1</a:t>
            </a:r>
            <a:endParaRPr/>
          </a:p>
        </p:txBody>
      </p:sp>
      <p:sp>
        <p:nvSpPr>
          <p:cNvPr id="797" name="Google Shape;797;p67"/>
          <p:cNvSpPr txBox="1"/>
          <p:nvPr/>
        </p:nvSpPr>
        <p:spPr>
          <a:xfrm>
            <a:off x="498125" y="3495350"/>
            <a:ext cx="46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</a:t>
            </a:r>
            <a:endParaRPr/>
          </a:p>
        </p:txBody>
      </p:sp>
      <p:sp>
        <p:nvSpPr>
          <p:cNvPr id="798" name="Google Shape;798;p67"/>
          <p:cNvSpPr txBox="1"/>
          <p:nvPr>
            <p:ph idx="1" type="body"/>
          </p:nvPr>
        </p:nvSpPr>
        <p:spPr>
          <a:xfrm>
            <a:off x="1155175" y="3228800"/>
            <a:ext cx="45363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PRODUCT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P_REORDER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1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P_CODE</a:t>
            </a:r>
            <a:r>
              <a:rPr lang="en-GB" sz="1500">
                <a:solidFill>
                  <a:srgbClr val="9900FF"/>
                </a:solidFill>
              </a:rPr>
              <a:t> = ‘</a:t>
            </a:r>
            <a:r>
              <a:rPr lang="en-GB" sz="1500">
                <a:solidFill>
                  <a:srgbClr val="000000"/>
                </a:solidFill>
              </a:rPr>
              <a:t>123</a:t>
            </a:r>
            <a:r>
              <a:rPr lang="en-GB" sz="1500">
                <a:solidFill>
                  <a:srgbClr val="9900FF"/>
                </a:solidFill>
              </a:rPr>
              <a:t>’;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799" name="Google Shape;799;p67"/>
          <p:cNvSpPr txBox="1"/>
          <p:nvPr/>
        </p:nvSpPr>
        <p:spPr>
          <a:xfrm>
            <a:off x="5828550" y="2571800"/>
            <a:ext cx="27327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T1 ; T2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 Or 	T2 ; T1 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→ both changes will be made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8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Access: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highlight>
                  <a:srgbClr val="FFFF00"/>
                </a:highlight>
              </a:rPr>
              <a:t>Table-Level</a:t>
            </a:r>
            <a:r>
              <a:rPr lang="en-GB" sz="2400"/>
              <a:t> Inconsistency</a:t>
            </a:r>
            <a:endParaRPr sz="2400"/>
          </a:p>
        </p:txBody>
      </p:sp>
      <p:sp>
        <p:nvSpPr>
          <p:cNvPr id="805" name="Google Shape;805;p68"/>
          <p:cNvSpPr txBox="1"/>
          <p:nvPr>
            <p:ph idx="1" type="body"/>
          </p:nvPr>
        </p:nvSpPr>
        <p:spPr>
          <a:xfrm>
            <a:off x="498500" y="1507100"/>
            <a:ext cx="5545800" cy="1064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APPLY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DECISION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‘Y’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rgbClr val="000000"/>
                </a:solidFill>
              </a:rPr>
              <a:t>S_ID </a:t>
            </a:r>
            <a:r>
              <a:rPr lang="en-GB" sz="1500">
                <a:solidFill>
                  <a:srgbClr val="9900FF"/>
                </a:solidFill>
              </a:rPr>
              <a:t>IN </a:t>
            </a:r>
            <a:r>
              <a:rPr lang="en-GB" sz="1500">
                <a:solidFill>
                  <a:srgbClr val="000000"/>
                </a:solidFill>
              </a:rPr>
              <a:t>(</a:t>
            </a:r>
            <a:endParaRPr sz="15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</a:rPr>
              <a:t>SELECT</a:t>
            </a:r>
            <a:r>
              <a:rPr lang="en-GB" sz="1400">
                <a:solidFill>
                  <a:srgbClr val="000000"/>
                </a:solidFill>
              </a:rPr>
              <a:t> S_ID </a:t>
            </a:r>
            <a:r>
              <a:rPr lang="en-GB" sz="1400">
                <a:solidFill>
                  <a:srgbClr val="9900FF"/>
                </a:solidFill>
              </a:rPr>
              <a:t>FROM</a:t>
            </a:r>
            <a:r>
              <a:rPr lang="en-GB" sz="1400">
                <a:solidFill>
                  <a:srgbClr val="000000"/>
                </a:solidFill>
              </a:rPr>
              <a:t> STUDENT  </a:t>
            </a:r>
            <a:r>
              <a:rPr lang="en-GB" sz="1400">
                <a:solidFill>
                  <a:srgbClr val="9900FF"/>
                </a:solidFill>
              </a:rPr>
              <a:t>WHERE</a:t>
            </a:r>
            <a:r>
              <a:rPr lang="en-GB" sz="1400">
                <a:solidFill>
                  <a:srgbClr val="000000"/>
                </a:solidFill>
              </a:rPr>
              <a:t> </a:t>
            </a:r>
            <a:r>
              <a:rPr lang="en-GB" sz="1400">
                <a:solidFill>
                  <a:schemeClr val="dk1"/>
                </a:solidFill>
              </a:rPr>
              <a:t>GPA</a:t>
            </a:r>
            <a:r>
              <a:rPr lang="en-GB" sz="1400">
                <a:solidFill>
                  <a:srgbClr val="9900FF"/>
                </a:solidFill>
              </a:rPr>
              <a:t> &gt; </a:t>
            </a:r>
            <a:r>
              <a:rPr lang="en-GB" sz="1400">
                <a:solidFill>
                  <a:srgbClr val="000000"/>
                </a:solidFill>
              </a:rPr>
              <a:t>3.9</a:t>
            </a:r>
            <a:r>
              <a:rPr lang="en-GB" sz="1500">
                <a:solidFill>
                  <a:schemeClr val="dk1"/>
                </a:solidFill>
              </a:rPr>
              <a:t>)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806" name="Google Shape;806;p68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807" name="Google Shape;807;p68"/>
          <p:cNvSpPr txBox="1"/>
          <p:nvPr/>
        </p:nvSpPr>
        <p:spPr>
          <a:xfrm>
            <a:off x="0" y="179600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T1</a:t>
            </a:r>
            <a:endParaRPr/>
          </a:p>
        </p:txBody>
      </p:sp>
      <p:sp>
        <p:nvSpPr>
          <p:cNvPr id="808" name="Google Shape;808;p68"/>
          <p:cNvSpPr txBox="1"/>
          <p:nvPr/>
        </p:nvSpPr>
        <p:spPr>
          <a:xfrm>
            <a:off x="0" y="349535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</a:t>
            </a:r>
            <a:endParaRPr/>
          </a:p>
        </p:txBody>
      </p:sp>
      <p:sp>
        <p:nvSpPr>
          <p:cNvPr id="809" name="Google Shape;809;p68"/>
          <p:cNvSpPr txBox="1"/>
          <p:nvPr>
            <p:ph idx="1" type="body"/>
          </p:nvPr>
        </p:nvSpPr>
        <p:spPr>
          <a:xfrm>
            <a:off x="498500" y="3228800"/>
            <a:ext cx="55458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UPDATE </a:t>
            </a:r>
            <a:r>
              <a:rPr lang="en-GB" sz="1500">
                <a:solidFill>
                  <a:schemeClr val="dk1"/>
                </a:solidFill>
              </a:rPr>
              <a:t>STUDENT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SET </a:t>
            </a:r>
            <a:r>
              <a:rPr lang="en-GB" sz="1500">
                <a:solidFill>
                  <a:schemeClr val="dk1"/>
                </a:solidFill>
              </a:rPr>
              <a:t>GPA</a:t>
            </a:r>
            <a:r>
              <a:rPr lang="en-GB" sz="1500">
                <a:solidFill>
                  <a:srgbClr val="9900FF"/>
                </a:solidFill>
              </a:rPr>
              <a:t> = </a:t>
            </a:r>
            <a:r>
              <a:rPr lang="en-GB" sz="1500">
                <a:solidFill>
                  <a:schemeClr val="dk1"/>
                </a:solidFill>
              </a:rPr>
              <a:t>GPA * 1.1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    WHERE </a:t>
            </a:r>
            <a:r>
              <a:rPr lang="en-GB" sz="1500">
                <a:solidFill>
                  <a:schemeClr val="dk1"/>
                </a:solidFill>
              </a:rPr>
              <a:t>HS_SIZE &gt; 2500</a:t>
            </a:r>
            <a:r>
              <a:rPr lang="en-GB" sz="1500">
                <a:solidFill>
                  <a:srgbClr val="9900FF"/>
                </a:solidFill>
              </a:rPr>
              <a:t>;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810" name="Google Shape;810;p68"/>
          <p:cNvSpPr txBox="1"/>
          <p:nvPr/>
        </p:nvSpPr>
        <p:spPr>
          <a:xfrm>
            <a:off x="5828550" y="2571800"/>
            <a:ext cx="27327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T1 ; T2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 Or 	T2 ; T1 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→ Order matters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9"/>
          <p:cNvSpPr txBox="1"/>
          <p:nvPr>
            <p:ph type="title"/>
          </p:nvPr>
        </p:nvSpPr>
        <p:spPr>
          <a:xfrm>
            <a:off x="311700" y="380700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Concurrent Access: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highlight>
                  <a:srgbClr val="FFFF00"/>
                </a:highlight>
              </a:rPr>
              <a:t>Multi-statement</a:t>
            </a:r>
            <a:r>
              <a:rPr lang="en-GB" sz="2400"/>
              <a:t> Inconsistency</a:t>
            </a:r>
            <a:endParaRPr sz="2400"/>
          </a:p>
        </p:txBody>
      </p:sp>
      <p:sp>
        <p:nvSpPr>
          <p:cNvPr id="816" name="Google Shape;816;p69"/>
          <p:cNvSpPr txBox="1"/>
          <p:nvPr>
            <p:ph idx="1" type="body"/>
          </p:nvPr>
        </p:nvSpPr>
        <p:spPr>
          <a:xfrm>
            <a:off x="498500" y="1507100"/>
            <a:ext cx="5545800" cy="1064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INSERT INTO </a:t>
            </a:r>
            <a:r>
              <a:rPr lang="en-GB" sz="1500">
                <a:solidFill>
                  <a:srgbClr val="000000"/>
                </a:solidFill>
              </a:rPr>
              <a:t>ARCHIVE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	SELECT </a:t>
            </a:r>
            <a:r>
              <a:rPr lang="en-GB" sz="1500">
                <a:solidFill>
                  <a:srgbClr val="000000"/>
                </a:solidFill>
              </a:rPr>
              <a:t>*</a:t>
            </a:r>
            <a:r>
              <a:rPr lang="en-GB" sz="1500">
                <a:solidFill>
                  <a:srgbClr val="9900FF"/>
                </a:solidFill>
              </a:rPr>
              <a:t> FROM </a:t>
            </a:r>
            <a:r>
              <a:rPr lang="en-GB" sz="1500">
                <a:solidFill>
                  <a:srgbClr val="000000"/>
                </a:solidFill>
              </a:rPr>
              <a:t>APPLY</a:t>
            </a:r>
            <a:r>
              <a:rPr lang="en-GB" sz="1500">
                <a:solidFill>
                  <a:srgbClr val="9900FF"/>
                </a:solidFill>
              </a:rPr>
              <a:t> WHERE </a:t>
            </a:r>
            <a:r>
              <a:rPr lang="en-GB" sz="1500">
                <a:solidFill>
                  <a:srgbClr val="000000"/>
                </a:solidFill>
              </a:rPr>
              <a:t>DECISION = ‘N’;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DELETE FROM </a:t>
            </a:r>
            <a:r>
              <a:rPr lang="en-GB" sz="1500">
                <a:solidFill>
                  <a:srgbClr val="000000"/>
                </a:solidFill>
              </a:rPr>
              <a:t>APPLY</a:t>
            </a:r>
            <a:r>
              <a:rPr lang="en-GB" sz="1500">
                <a:solidFill>
                  <a:srgbClr val="9900FF"/>
                </a:solidFill>
              </a:rPr>
              <a:t> WHERE </a:t>
            </a:r>
            <a:r>
              <a:rPr lang="en-GB" sz="1500">
                <a:solidFill>
                  <a:srgbClr val="000000"/>
                </a:solidFill>
              </a:rPr>
              <a:t>DECISION = ‘N’;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817" name="Google Shape;817;p69"/>
          <p:cNvSpPr txBox="1"/>
          <p:nvPr/>
        </p:nvSpPr>
        <p:spPr>
          <a:xfrm>
            <a:off x="1155175" y="2731700"/>
            <a:ext cx="2571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Concurrent with ...</a:t>
            </a:r>
            <a:endParaRPr/>
          </a:p>
        </p:txBody>
      </p:sp>
      <p:sp>
        <p:nvSpPr>
          <p:cNvPr id="818" name="Google Shape;818;p69"/>
          <p:cNvSpPr txBox="1"/>
          <p:nvPr/>
        </p:nvSpPr>
        <p:spPr>
          <a:xfrm>
            <a:off x="0" y="179600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T1</a:t>
            </a:r>
            <a:endParaRPr/>
          </a:p>
        </p:txBody>
      </p:sp>
      <p:sp>
        <p:nvSpPr>
          <p:cNvPr id="819" name="Google Shape;819;p69"/>
          <p:cNvSpPr txBox="1"/>
          <p:nvPr/>
        </p:nvSpPr>
        <p:spPr>
          <a:xfrm>
            <a:off x="0" y="3495350"/>
            <a:ext cx="567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</a:t>
            </a:r>
            <a:endParaRPr/>
          </a:p>
        </p:txBody>
      </p:sp>
      <p:sp>
        <p:nvSpPr>
          <p:cNvPr id="820" name="Google Shape;820;p69"/>
          <p:cNvSpPr txBox="1"/>
          <p:nvPr>
            <p:ph idx="1" type="body"/>
          </p:nvPr>
        </p:nvSpPr>
        <p:spPr>
          <a:xfrm>
            <a:off x="498500" y="3228800"/>
            <a:ext cx="5545800" cy="988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SELECT COUNT</a:t>
            </a:r>
            <a:r>
              <a:rPr lang="en-GB" sz="1500">
                <a:solidFill>
                  <a:srgbClr val="000000"/>
                </a:solidFill>
              </a:rPr>
              <a:t>(*) </a:t>
            </a:r>
            <a:r>
              <a:rPr lang="en-GB" sz="1500">
                <a:solidFill>
                  <a:srgbClr val="9900FF"/>
                </a:solidFill>
              </a:rPr>
              <a:t>FROM </a:t>
            </a:r>
            <a:r>
              <a:rPr lang="en-GB" sz="1500">
                <a:solidFill>
                  <a:srgbClr val="000000"/>
                </a:solidFill>
              </a:rPr>
              <a:t>APPLY</a:t>
            </a:r>
            <a:r>
              <a:rPr lang="en-GB" sz="1500">
                <a:solidFill>
                  <a:srgbClr val="9900FF"/>
                </a:solidFill>
              </a:rPr>
              <a:t>;</a:t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9900FF"/>
                </a:solidFill>
              </a:rPr>
              <a:t>SELECT COUNT</a:t>
            </a:r>
            <a:r>
              <a:rPr lang="en-GB" sz="1500">
                <a:solidFill>
                  <a:srgbClr val="000000"/>
                </a:solidFill>
              </a:rPr>
              <a:t>(*)</a:t>
            </a:r>
            <a:r>
              <a:rPr lang="en-GB" sz="1500">
                <a:solidFill>
                  <a:srgbClr val="9900FF"/>
                </a:solidFill>
              </a:rPr>
              <a:t> FROM </a:t>
            </a:r>
            <a:r>
              <a:rPr lang="en-GB" sz="1500">
                <a:solidFill>
                  <a:srgbClr val="000000"/>
                </a:solidFill>
              </a:rPr>
              <a:t>ARCHIVE;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821" name="Google Shape;821;p69"/>
          <p:cNvSpPr txBox="1"/>
          <p:nvPr/>
        </p:nvSpPr>
        <p:spPr>
          <a:xfrm>
            <a:off x="5828550" y="2571800"/>
            <a:ext cx="27327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T1 ; T2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 Or 	T2 ; T1 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→ Order matters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Isolation</a:t>
            </a:r>
            <a:endParaRPr/>
          </a:p>
        </p:txBody>
      </p:sp>
      <p:sp>
        <p:nvSpPr>
          <p:cNvPr id="827" name="Google Shape;827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Transactions appear to run </a:t>
            </a:r>
            <a:r>
              <a:rPr b="1" lang="en-GB">
                <a:solidFill>
                  <a:schemeClr val="dk1"/>
                </a:solidFill>
              </a:rPr>
              <a:t>as if alone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Results must be the same as if executed serially.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Prevents anomalies from interleaving operations.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1"/>
          <p:cNvSpPr txBox="1"/>
          <p:nvPr>
            <p:ph type="title"/>
          </p:nvPr>
        </p:nvSpPr>
        <p:spPr>
          <a:xfrm>
            <a:off x="311700" y="380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Durability</a:t>
            </a:r>
            <a:endParaRPr/>
          </a:p>
        </p:txBody>
      </p:sp>
      <p:sp>
        <p:nvSpPr>
          <p:cNvPr id="833" name="Google Shape;833;p71"/>
          <p:cNvSpPr/>
          <p:nvPr/>
        </p:nvSpPr>
        <p:spPr>
          <a:xfrm>
            <a:off x="5918275" y="3722300"/>
            <a:ext cx="2091000" cy="7776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834" name="Google Shape;834;p71"/>
          <p:cNvSpPr/>
          <p:nvPr/>
        </p:nvSpPr>
        <p:spPr>
          <a:xfrm>
            <a:off x="5918175" y="3024875"/>
            <a:ext cx="2091000" cy="438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DBMS</a:t>
            </a:r>
            <a:endParaRPr/>
          </a:p>
        </p:txBody>
      </p:sp>
      <p:cxnSp>
        <p:nvCxnSpPr>
          <p:cNvPr id="835" name="Google Shape;835;p71"/>
          <p:cNvCxnSpPr>
            <a:stCxn id="834" idx="2"/>
            <a:endCxn id="833" idx="0"/>
          </p:cNvCxnSpPr>
          <p:nvPr/>
        </p:nvCxnSpPr>
        <p:spPr>
          <a:xfrm>
            <a:off x="6963675" y="3462875"/>
            <a:ext cx="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6" name="Google Shape;836;p71"/>
          <p:cNvSpPr/>
          <p:nvPr/>
        </p:nvSpPr>
        <p:spPr>
          <a:xfrm>
            <a:off x="6628875" y="1449275"/>
            <a:ext cx="447000" cy="438000"/>
          </a:xfrm>
          <a:prstGeom prst="smileyFace">
            <a:avLst>
              <a:gd fmla="val 4653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7" name="Google Shape;837;p71"/>
          <p:cNvCxnSpPr/>
          <p:nvPr/>
        </p:nvCxnSpPr>
        <p:spPr>
          <a:xfrm>
            <a:off x="6872875" y="2109100"/>
            <a:ext cx="40800" cy="69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8" name="Google Shape;838;p71"/>
          <p:cNvSpPr txBox="1"/>
          <p:nvPr/>
        </p:nvSpPr>
        <p:spPr>
          <a:xfrm>
            <a:off x="7075875" y="2001862"/>
            <a:ext cx="5670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  T2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T1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839" name="Google Shape;839;p71"/>
          <p:cNvCxnSpPr/>
          <p:nvPr/>
        </p:nvCxnSpPr>
        <p:spPr>
          <a:xfrm flipH="1" rot="10800000">
            <a:off x="7578250" y="1782638"/>
            <a:ext cx="288000" cy="252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71"/>
          <p:cNvCxnSpPr/>
          <p:nvPr/>
        </p:nvCxnSpPr>
        <p:spPr>
          <a:xfrm>
            <a:off x="7578250" y="2035538"/>
            <a:ext cx="301500" cy="332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1" name="Google Shape;841;p71"/>
          <p:cNvSpPr txBox="1"/>
          <p:nvPr/>
        </p:nvSpPr>
        <p:spPr>
          <a:xfrm>
            <a:off x="7783800" y="1646600"/>
            <a:ext cx="10485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S1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S2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S3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Commit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CRASH!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42" name="Google Shape;842;p71"/>
          <p:cNvSpPr txBox="1"/>
          <p:nvPr/>
        </p:nvSpPr>
        <p:spPr>
          <a:xfrm>
            <a:off x="565725" y="1449275"/>
            <a:ext cx="52206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Once committed, data changes </a:t>
            </a:r>
            <a:r>
              <a:rPr b="1" lang="en-GB" sz="1800">
                <a:solidFill>
                  <a:schemeClr val="dk1"/>
                </a:solidFill>
              </a:rPr>
              <a:t>persist even after failure</a:t>
            </a:r>
            <a:r>
              <a:rPr lang="en-GB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Implemented using: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Write-ahead logs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Checkpoints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Recovery procedures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Example</a:t>
            </a:r>
            <a:endParaRPr/>
          </a:p>
        </p:txBody>
      </p:sp>
      <p:sp>
        <p:nvSpPr>
          <p:cNvPr id="848" name="Google Shape;848;p72"/>
          <p:cNvSpPr txBox="1"/>
          <p:nvPr>
            <p:ph idx="1" type="body"/>
          </p:nvPr>
        </p:nvSpPr>
        <p:spPr>
          <a:xfrm>
            <a:off x="311700" y="3452825"/>
            <a:ext cx="8520600" cy="1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If power fails before COMMIT → changes rolled back.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49" name="Google Shape;84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0125"/>
            <a:ext cx="8520600" cy="16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COMMIT &amp; ROLLBACK</a:t>
            </a:r>
            <a:endParaRPr/>
          </a:p>
        </p:txBody>
      </p:sp>
      <p:sp>
        <p:nvSpPr>
          <p:cNvPr id="855" name="Google Shape;855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COMMIT</a:t>
            </a:r>
            <a:r>
              <a:rPr lang="en-GB">
                <a:solidFill>
                  <a:schemeClr val="dk1"/>
                </a:solidFill>
              </a:rPr>
              <a:t> saves all changes.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ROLLBACK</a:t>
            </a:r>
            <a:r>
              <a:rPr lang="en-GB">
                <a:solidFill>
                  <a:schemeClr val="dk1"/>
                </a:solidFill>
              </a:rPr>
              <a:t> cancels the transaction.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SAVEPOINT</a:t>
            </a:r>
            <a:r>
              <a:rPr lang="en-GB">
                <a:solidFill>
                  <a:schemeClr val="dk1"/>
                </a:solidFill>
              </a:rPr>
              <a:t> allows partial rollback.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Discussion</a:t>
            </a:r>
            <a:endParaRPr/>
          </a:p>
        </p:txBody>
      </p:sp>
      <p:sp>
        <p:nvSpPr>
          <p:cNvPr id="861" name="Google Shape;861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Why can’t we rely solely on the application layer to ensure transaction success?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Lecture 1 Recap</a:t>
            </a:r>
            <a:endParaRPr/>
          </a:p>
        </p:txBody>
      </p:sp>
      <p:sp>
        <p:nvSpPr>
          <p:cNvPr id="867" name="Google Shape;867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/>
              <a:t>Transactions group SQL statements into atomic units.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/>
              <a:t>Concurrency causes anomalies.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/>
              <a:t>ACID ensures correctness and reliability.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/>
              <a:t>COMMIT / ROLLBACK implement control.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Lecture 2 – Concurrency Control &amp; Recovery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Need for Concurrency Control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Goal: allow safe parallel execution without inconsistency.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Approaches: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Locking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Timestamp ordering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GB">
                <a:solidFill>
                  <a:schemeClr val="dk1"/>
                </a:solidFill>
              </a:rPr>
              <a:t>assigns each transaction a unique start time and ensures all operations occur in that same chronological order, so the final outcome matches the order of their timestamps.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Optimistic control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-GB">
                <a:solidFill>
                  <a:srgbClr val="0D0D0D"/>
                </a:solidFill>
                <a:highlight>
                  <a:srgbClr val="FFFFFF"/>
                </a:highlight>
              </a:rPr>
              <a:t>assumes conflicts between transactions are rare; transactions run without locking, and the system checks for conflicts at commit time, rolling back any that clash.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Locking</a:t>
            </a:r>
            <a:endParaRPr/>
          </a:p>
        </p:txBody>
      </p:sp>
      <p:sp>
        <p:nvSpPr>
          <p:cNvPr id="884" name="Google Shape;884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 lock prevents others from modifying data being accessed.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Two main types: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Shared Lock (S):</a:t>
            </a:r>
            <a:r>
              <a:rPr lang="en-GB">
                <a:solidFill>
                  <a:schemeClr val="dk1"/>
                </a:solidFill>
              </a:rPr>
              <a:t> read-only, multiple allowed.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Exclusive Lock (X):</a:t>
            </a:r>
            <a:r>
              <a:rPr lang="en-GB">
                <a:solidFill>
                  <a:schemeClr val="dk1"/>
                </a:solidFill>
              </a:rPr>
              <a:t> write, only one allowed.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Lock Granularity</a:t>
            </a:r>
            <a:endParaRPr/>
          </a:p>
        </p:txBody>
      </p:sp>
      <p:sp>
        <p:nvSpPr>
          <p:cNvPr id="890" name="Google Shape;890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Database-level:</a:t>
            </a:r>
            <a:r>
              <a:rPr lang="en-GB">
                <a:solidFill>
                  <a:schemeClr val="dk1"/>
                </a:solidFill>
              </a:rPr>
              <a:t> simplest, lowest concurrency.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Table-level:</a:t>
            </a:r>
            <a:r>
              <a:rPr lang="en-GB">
                <a:solidFill>
                  <a:schemeClr val="dk1"/>
                </a:solidFill>
              </a:rPr>
              <a:t> moderate concurrency.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Row-level:</a:t>
            </a:r>
            <a:r>
              <a:rPr lang="en-GB">
                <a:solidFill>
                  <a:schemeClr val="dk1"/>
                </a:solidFill>
              </a:rPr>
              <a:t> high concurrency, higher overhead.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Lock Example</a:t>
            </a:r>
            <a:endParaRPr/>
          </a:p>
        </p:txBody>
      </p:sp>
      <p:sp>
        <p:nvSpPr>
          <p:cNvPr id="896" name="Google Shape;896;p8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T1: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 product SET price=price*1.1 WHERE v_code=21344;</a:t>
            </a:r>
            <a:b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solidFill>
                  <a:schemeClr val="dk1"/>
                </a:solidFill>
              </a:rPr>
              <a:t>T2: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 product SET qoh=qoh+5 WHERE v_code=21344;</a:t>
            </a:r>
            <a:b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solidFill>
                  <a:schemeClr val="dk1"/>
                </a:solidFill>
              </a:rPr>
              <a:t>→ Row-level exclusive lock ensures operations happen sequentially.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Deadlocks</a:t>
            </a:r>
            <a:endParaRPr/>
          </a:p>
        </p:txBody>
      </p:sp>
      <p:sp>
        <p:nvSpPr>
          <p:cNvPr id="902" name="Google Shape;902;p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two transactions wait on each other forever.</a:t>
            </a:r>
            <a:br>
              <a:rPr lang="en-GB"/>
            </a:br>
            <a:r>
              <a:rPr lang="en-GB"/>
              <a:t>Example: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T1 locks Table A, waits for Table B.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T2 locks Table B, waits for Table A.</a:t>
            </a:r>
            <a:br>
              <a:rPr lang="en-GB"/>
            </a:br>
            <a:r>
              <a:rPr lang="en-GB"/>
              <a:t>→ Neither can proceed.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Deadlock Solutions</a:t>
            </a:r>
            <a:endParaRPr/>
          </a:p>
        </p:txBody>
      </p:sp>
      <p:sp>
        <p:nvSpPr>
          <p:cNvPr id="908" name="Google Shape;908;p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Detection:</a:t>
            </a:r>
            <a:r>
              <a:rPr lang="en-GB">
                <a:solidFill>
                  <a:schemeClr val="dk1"/>
                </a:solidFill>
              </a:rPr>
              <a:t> DBMS checks for cycles and aborts one transaction.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Prevention: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Order locks consistently.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Use timeouts.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Request all resources at once.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Isolation Levels</a:t>
            </a:r>
            <a:endParaRPr/>
          </a:p>
        </p:txBody>
      </p:sp>
      <p:pic>
        <p:nvPicPr>
          <p:cNvPr id="914" name="Google Shape;91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788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PostgreSQL Example</a:t>
            </a:r>
            <a:endParaRPr/>
          </a:p>
        </p:txBody>
      </p:sp>
      <p:pic>
        <p:nvPicPr>
          <p:cNvPr id="920" name="Google Shape;92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133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Scheduling &amp; Serializability</a:t>
            </a:r>
            <a:endParaRPr/>
          </a:p>
        </p:txBody>
      </p:sp>
      <p:sp>
        <p:nvSpPr>
          <p:cNvPr id="926" name="Google Shape;926;p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RDBMSs use concurrency control algorithms to schedule concurrent execution of all transaction operations.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DBMS interleaves operations but ensures result = some serial order.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Serializability guarantees </a:t>
            </a:r>
            <a:r>
              <a:rPr b="1" lang="en-GB">
                <a:solidFill>
                  <a:schemeClr val="dk1"/>
                </a:solidFill>
              </a:rPr>
              <a:t>logical isolation</a:t>
            </a:r>
            <a:r>
              <a:rPr lang="en-GB">
                <a:solidFill>
                  <a:schemeClr val="dk1"/>
                </a:solidFill>
              </a:rPr>
              <a:t> even when physically concurrent.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Transaction Logs</a:t>
            </a:r>
            <a:endParaRPr/>
          </a:p>
        </p:txBody>
      </p:sp>
      <p:sp>
        <p:nvSpPr>
          <p:cNvPr id="932" name="Google Shape;932;p8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To recover from failure, DBMS maintains </a:t>
            </a:r>
            <a:r>
              <a:rPr b="1" lang="en-GB">
                <a:solidFill>
                  <a:schemeClr val="dk1"/>
                </a:solidFill>
              </a:rPr>
              <a:t>log records</a:t>
            </a:r>
            <a:r>
              <a:rPr lang="en-GB">
                <a:solidFill>
                  <a:schemeClr val="dk1"/>
                </a:solidFill>
              </a:rPr>
              <a:t> for: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Transaction start and end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Each data item change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Before-image and after-image values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Used for undo/redo operations.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Recovery Process</a:t>
            </a:r>
            <a:endParaRPr/>
          </a:p>
        </p:txBody>
      </p:sp>
      <p:sp>
        <p:nvSpPr>
          <p:cNvPr id="938" name="Google Shape;938;p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Read log after crash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Identify committed and uncommitted transactions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Redo</a:t>
            </a:r>
            <a:r>
              <a:rPr lang="en-GB">
                <a:solidFill>
                  <a:schemeClr val="dk1"/>
                </a:solidFill>
              </a:rPr>
              <a:t> committed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Undo</a:t>
            </a:r>
            <a:r>
              <a:rPr lang="en-GB">
                <a:solidFill>
                  <a:schemeClr val="dk1"/>
                </a:solidFill>
              </a:rPr>
              <a:t> uncommitted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→ Restore consistent state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 Crash Recovery</a:t>
            </a:r>
            <a:endParaRPr/>
          </a:p>
        </p:txBody>
      </p:sp>
      <p:sp>
        <p:nvSpPr>
          <p:cNvPr id="944" name="Google Shape;944;p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Log excerpt: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→ Redo T1, Undo T2.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45" name="Google Shape;94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75" y="1922724"/>
            <a:ext cx="4810124" cy="17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Checkpoints</a:t>
            </a:r>
            <a:endParaRPr/>
          </a:p>
        </p:txBody>
      </p:sp>
      <p:sp>
        <p:nvSpPr>
          <p:cNvPr id="951" name="Google Shape;951;p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/>
              <a:t>Periodic snapshots of current DB + log position.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/>
              <a:t>Simplifies recovery by avoiding reprocessing entire log.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checkpoints are internal to the DBMS</a:t>
            </a:r>
            <a:r>
              <a:rPr lang="en-GB">
                <a:solidFill>
                  <a:schemeClr val="dk1"/>
                </a:solidFill>
              </a:rPr>
              <a:t> and not directly visible or controlled by ordinary users.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only a </a:t>
            </a:r>
            <a:r>
              <a:rPr b="1" lang="en-GB">
                <a:solidFill>
                  <a:schemeClr val="dk1"/>
                </a:solidFill>
              </a:rPr>
              <a:t>database administrator</a:t>
            </a:r>
            <a:r>
              <a:rPr lang="en-GB">
                <a:solidFill>
                  <a:schemeClr val="dk1"/>
                </a:solidFill>
              </a:rPr>
              <a:t> can monitor or configure checkpoint behavior (for example, in PostgreSQL via settings like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checkpoint_timeout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checkpoint_completion_target</a:t>
            </a:r>
            <a:r>
              <a:rPr lang="en-GB">
                <a:solidFill>
                  <a:schemeClr val="dk1"/>
                </a:solidFill>
              </a:rPr>
              <a:t>, etc.).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Savepoints</a:t>
            </a:r>
            <a:endParaRPr/>
          </a:p>
        </p:txBody>
      </p:sp>
      <p:sp>
        <p:nvSpPr>
          <p:cNvPr id="957" name="Google Shape;957;p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Mid-transaction markers.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Let you roll back partially without aborting entire transaction.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Rollback in PostgreSQL</a:t>
            </a:r>
            <a:endParaRPr/>
          </a:p>
        </p:txBody>
      </p:sp>
      <p:sp>
        <p:nvSpPr>
          <p:cNvPr id="963" name="Google Shape;963;p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 psql: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→ verifies that no rows were deleted.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64" name="Google Shape;96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75" y="1893100"/>
            <a:ext cx="5753099" cy="107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Concurrency Example Discussion</a:t>
            </a:r>
            <a:endParaRPr/>
          </a:p>
        </p:txBody>
      </p:sp>
      <p:sp>
        <p:nvSpPr>
          <p:cNvPr id="970" name="Google Shape;970;p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Scenario: Two students try to register for the last seat at once.</a:t>
            </a:r>
            <a:br>
              <a:rPr lang="en-GB"/>
            </a:br>
            <a:r>
              <a:rPr lang="en-GB"/>
              <a:t>Ask: What anomalies could occur without proper locking?</a:t>
            </a:r>
            <a:br>
              <a:rPr lang="en-GB"/>
            </a:br>
            <a:r>
              <a:rPr lang="en-GB"/>
              <a:t>→ Lost updates, double booking.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Best Practices</a:t>
            </a:r>
            <a:endParaRPr/>
          </a:p>
        </p:txBody>
      </p:sp>
      <p:sp>
        <p:nvSpPr>
          <p:cNvPr id="976" name="Google Shape;976;p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Always use </a:t>
            </a:r>
            <a:r>
              <a:rPr b="1" lang="en-GB">
                <a:solidFill>
                  <a:schemeClr val="dk1"/>
                </a:solidFill>
              </a:rPr>
              <a:t>transactions</a:t>
            </a:r>
            <a:r>
              <a:rPr lang="en-GB">
                <a:solidFill>
                  <a:schemeClr val="dk1"/>
                </a:solidFill>
              </a:rPr>
              <a:t> for multi-statement updates.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Keep transactions </a:t>
            </a:r>
            <a:r>
              <a:rPr b="1" lang="en-GB">
                <a:solidFill>
                  <a:schemeClr val="dk1"/>
                </a:solidFill>
              </a:rPr>
              <a:t>short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focused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Use proper </a:t>
            </a:r>
            <a:r>
              <a:rPr b="1" lang="en-GB">
                <a:solidFill>
                  <a:schemeClr val="dk1"/>
                </a:solidFill>
              </a:rPr>
              <a:t>isolation level</a:t>
            </a:r>
            <a:r>
              <a:rPr lang="en-GB">
                <a:solidFill>
                  <a:schemeClr val="dk1"/>
                </a:solidFill>
              </a:rPr>
              <a:t> for workload.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Monitor for </a:t>
            </a:r>
            <a:r>
              <a:rPr b="1" lang="en-GB">
                <a:solidFill>
                  <a:schemeClr val="dk1"/>
                </a:solidFill>
              </a:rPr>
              <a:t>deadlocks</a:t>
            </a:r>
            <a:r>
              <a:rPr lang="en-GB">
                <a:solidFill>
                  <a:schemeClr val="dk1"/>
                </a:solidFill>
              </a:rPr>
              <a:t> and long-running transactions.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982" name="Google Shape;982;p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Transactions: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Ensure </a:t>
            </a:r>
            <a:r>
              <a:rPr b="1" lang="en-GB">
                <a:solidFill>
                  <a:schemeClr val="dk1"/>
                </a:solidFill>
              </a:rPr>
              <a:t>ACID</a:t>
            </a:r>
            <a:r>
              <a:rPr lang="en-GB">
                <a:solidFill>
                  <a:schemeClr val="dk1"/>
                </a:solidFill>
              </a:rPr>
              <a:t> properties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Require </a:t>
            </a:r>
            <a:r>
              <a:rPr b="1" lang="en-GB">
                <a:solidFill>
                  <a:schemeClr val="dk1"/>
                </a:solidFill>
              </a:rPr>
              <a:t>locks</a:t>
            </a:r>
            <a:r>
              <a:rPr lang="en-GB">
                <a:solidFill>
                  <a:schemeClr val="dk1"/>
                </a:solidFill>
              </a:rPr>
              <a:t> for concurrency safety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Use </a:t>
            </a:r>
            <a:r>
              <a:rPr b="1" lang="en-GB">
                <a:solidFill>
                  <a:schemeClr val="dk1"/>
                </a:solidFill>
              </a:rPr>
              <a:t>logs</a:t>
            </a:r>
            <a:r>
              <a:rPr lang="en-GB">
                <a:solidFill>
                  <a:schemeClr val="dk1"/>
                </a:solidFill>
              </a:rPr>
              <a:t> for recovery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Enable reliable multi-user databases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Reflection Questions</a:t>
            </a:r>
            <a:endParaRPr/>
          </a:p>
        </p:txBody>
      </p:sp>
      <p:sp>
        <p:nvSpPr>
          <p:cNvPr id="988" name="Google Shape;988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/>
              <a:t>Why does a relational DB need both atomicity and durability?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/>
              <a:t>What could happen if isolation is relaxed too far?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/>
              <a:t>In your project, where might concurrency issues appear?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