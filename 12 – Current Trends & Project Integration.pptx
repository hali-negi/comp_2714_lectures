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7.xml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45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33.xml"/>
  <Override ContentType="application/vnd.openxmlformats-officedocument.presentationml.notesSlide+xml" PartName="/ppt/notesSlides/notesSlide41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4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34.xml"/>
  <Override ContentType="application/vnd.openxmlformats-officedocument.presentationml.notesSlide+xml" PartName="/ppt/notesSlides/notesSlide3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43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35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9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36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44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40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43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35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42.xml"/>
  <Override ContentType="application/vnd.openxmlformats-officedocument.presentationml.slide+xml" PartName="/ppt/slides/slide25.xml"/>
  <Override ContentType="application/vnd.openxmlformats-officedocument.presentationml.slide+xml" PartName="/ppt/slides/slide34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33.xml"/>
  <Override ContentType="application/vnd.openxmlformats-officedocument.presentationml.slide+xml" PartName="/ppt/slides/slide38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37.xml"/>
  <Override ContentType="application/vnd.openxmlformats-officedocument.presentationml.slide+xml" PartName="/ppt/slides/slide1.xml"/>
  <Override ContentType="application/vnd.openxmlformats-officedocument.presentationml.slide+xml" PartName="/ppt/slides/slide45.xml"/>
  <Override ContentType="application/vnd.openxmlformats-officedocument.presentationml.slide+xml" PartName="/ppt/slides/slide28.xml"/>
  <Override ContentType="application/vnd.openxmlformats-officedocument.presentationml.slide+xml" PartName="/ppt/slides/slide4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6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44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slide+xml" PartName="/ppt/slides/slide40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  <p:sldId id="299" r:id="rId50"/>
    <p:sldId id="300" r:id="rId51"/>
  </p:sldIdLst>
  <p:sldSz cy="5143500" cx="9144000"/>
  <p:notesSz cx="6858000" cy="9144000"/>
  <p:embeddedFontLst>
    <p:embeddedFont>
      <p:font typeface="Roboto Mono"/>
      <p:regular r:id="rId52"/>
      <p:bold r:id="rId53"/>
      <p:italic r:id="rId54"/>
      <p:boldItalic r:id="rId5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AA346B61-747F-4E6A-B312-0C31826E2838}">
  <a:tblStyle styleId="{AA346B61-747F-4E6A-B312-0C31826E2838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slide" Target="slides/slide34.xml"/><Relationship Id="rId42" Type="http://schemas.openxmlformats.org/officeDocument/2006/relationships/slide" Target="slides/slide36.xml"/><Relationship Id="rId41" Type="http://schemas.openxmlformats.org/officeDocument/2006/relationships/slide" Target="slides/slide35.xml"/><Relationship Id="rId44" Type="http://schemas.openxmlformats.org/officeDocument/2006/relationships/slide" Target="slides/slide38.xml"/><Relationship Id="rId43" Type="http://schemas.openxmlformats.org/officeDocument/2006/relationships/slide" Target="slides/slide37.xml"/><Relationship Id="rId46" Type="http://schemas.openxmlformats.org/officeDocument/2006/relationships/slide" Target="slides/slide40.xml"/><Relationship Id="rId45" Type="http://schemas.openxmlformats.org/officeDocument/2006/relationships/slide" Target="slides/slide39.xml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48" Type="http://schemas.openxmlformats.org/officeDocument/2006/relationships/slide" Target="slides/slide42.xml"/><Relationship Id="rId47" Type="http://schemas.openxmlformats.org/officeDocument/2006/relationships/slide" Target="slides/slide41.xml"/><Relationship Id="rId49" Type="http://schemas.openxmlformats.org/officeDocument/2006/relationships/slide" Target="slides/slide4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slide" Target="slides/slide29.xml"/><Relationship Id="rId34" Type="http://schemas.openxmlformats.org/officeDocument/2006/relationships/slide" Target="slides/slide28.xml"/><Relationship Id="rId37" Type="http://schemas.openxmlformats.org/officeDocument/2006/relationships/slide" Target="slides/slide31.xml"/><Relationship Id="rId36" Type="http://schemas.openxmlformats.org/officeDocument/2006/relationships/slide" Target="slides/slide30.xml"/><Relationship Id="rId39" Type="http://schemas.openxmlformats.org/officeDocument/2006/relationships/slide" Target="slides/slide33.xml"/><Relationship Id="rId38" Type="http://schemas.openxmlformats.org/officeDocument/2006/relationships/slide" Target="slides/slide32.xml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slide" Target="slides/slide45.xml"/><Relationship Id="rId50" Type="http://schemas.openxmlformats.org/officeDocument/2006/relationships/slide" Target="slides/slide44.xml"/><Relationship Id="rId53" Type="http://schemas.openxmlformats.org/officeDocument/2006/relationships/font" Target="fonts/RobotoMono-bold.fntdata"/><Relationship Id="rId52" Type="http://schemas.openxmlformats.org/officeDocument/2006/relationships/font" Target="fonts/RobotoMono-regular.fntdata"/><Relationship Id="rId11" Type="http://schemas.openxmlformats.org/officeDocument/2006/relationships/slide" Target="slides/slide5.xml"/><Relationship Id="rId55" Type="http://schemas.openxmlformats.org/officeDocument/2006/relationships/font" Target="fonts/RobotoMono-boldItalic.fntdata"/><Relationship Id="rId10" Type="http://schemas.openxmlformats.org/officeDocument/2006/relationships/slide" Target="slides/slide4.xml"/><Relationship Id="rId54" Type="http://schemas.openxmlformats.org/officeDocument/2006/relationships/font" Target="fonts/RobotoMono-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a116e7256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" name="Google Shape;58;g3a116e7256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g3a116e72569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" name="Google Shape;63;g3a116e72569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Reconnect to </a:t>
            </a:r>
            <a:r>
              <a:rPr i="1" lang="en-GB">
                <a:solidFill>
                  <a:schemeClr val="dk1"/>
                </a:solidFill>
              </a:rPr>
              <a:t>Module 1 – Introduction to Database Systems</a:t>
            </a:r>
            <a:r>
              <a:rPr lang="en-GB">
                <a:solidFill>
                  <a:schemeClr val="dk1"/>
                </a:solidFill>
              </a:rPr>
              <a:t>, specifically the section </a:t>
            </a:r>
            <a:r>
              <a:rPr i="1" lang="en-GB">
                <a:solidFill>
                  <a:schemeClr val="dk1"/>
                </a:solidFill>
              </a:rPr>
              <a:t>“Data &amp; Information”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Mention that decision-making is the ultimate purpose of database systems — not just storage.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Give a quick example: </a:t>
            </a:r>
            <a:r>
              <a:rPr i="1" lang="en-GB">
                <a:solidFill>
                  <a:schemeClr val="dk1"/>
                </a:solidFill>
              </a:rPr>
              <a:t>“Sales data” vs. “monthly sales report.”</a:t>
            </a:r>
            <a:br>
              <a:rPr i="1" lang="en-GB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Emphasize that the entire course—from ER modeling to SQL—was about structuring data to make it meaningful.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a116e72569_0_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a116e72569_0_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slide connects all modules into one narrative arc — emphasize that every topic was part of a single design pipeline.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Use examples from the </a:t>
            </a:r>
            <a:r>
              <a:rPr i="1" lang="en-GB">
                <a:solidFill>
                  <a:schemeClr val="dk1"/>
                </a:solidFill>
              </a:rPr>
              <a:t>Lab Tracker</a:t>
            </a:r>
            <a:r>
              <a:rPr lang="en-GB">
                <a:solidFill>
                  <a:schemeClr val="dk1"/>
                </a:solidFill>
              </a:rPr>
              <a:t> project to illustrate each stage (e.g., “You built your EERD in Module 2–3, normalized it in 4, and implemented it in 5–6”).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Reinforce how understanding the </a:t>
            </a:r>
            <a:r>
              <a:rPr b="1" lang="en-GB">
                <a:solidFill>
                  <a:schemeClr val="dk1"/>
                </a:solidFill>
              </a:rPr>
              <a:t>relational model</a:t>
            </a:r>
            <a:r>
              <a:rPr lang="en-GB">
                <a:solidFill>
                  <a:schemeClr val="dk1"/>
                </a:solidFill>
              </a:rPr>
              <a:t> (LO1) formed the base for all later work (LO2–LO6).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Encourage students to recognize how the course scaffolded from design → implementation → integrity → analytics.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a116e72569_0_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a116e72569_0_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a116e72569_0_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a116e72569_0_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a116e72569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a116e72569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a116e72569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a116e72569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Emphasize that this architecture protects the </a:t>
            </a:r>
            <a:r>
              <a:rPr b="1" lang="en-GB">
                <a:solidFill>
                  <a:schemeClr val="dk1"/>
                </a:solidFill>
              </a:rPr>
              <a:t>database</a:t>
            </a:r>
            <a:r>
              <a:rPr lang="en-GB">
                <a:solidFill>
                  <a:schemeClr val="dk1"/>
                </a:solidFill>
              </a:rPr>
              <a:t> from direct user access — SQL statements are executed through the </a:t>
            </a:r>
            <a:r>
              <a:rPr b="1" lang="en-GB">
                <a:solidFill>
                  <a:schemeClr val="dk1"/>
                </a:solidFill>
              </a:rPr>
              <a:t>application layer</a:t>
            </a:r>
            <a:r>
              <a:rPr lang="en-GB">
                <a:solidFill>
                  <a:schemeClr val="dk1"/>
                </a:solidFill>
              </a:rPr>
              <a:t>, which enforces business logic.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Relate to </a:t>
            </a:r>
            <a:r>
              <a:rPr b="1" lang="en-GB">
                <a:solidFill>
                  <a:schemeClr val="dk1"/>
                </a:solidFill>
              </a:rPr>
              <a:t>security principles</a:t>
            </a:r>
            <a:r>
              <a:rPr lang="en-GB">
                <a:solidFill>
                  <a:schemeClr val="dk1"/>
                </a:solidFill>
              </a:rPr>
              <a:t> from </a:t>
            </a:r>
            <a:r>
              <a:rPr i="1" lang="en-GB">
                <a:solidFill>
                  <a:schemeClr val="dk1"/>
                </a:solidFill>
              </a:rPr>
              <a:t>Module 8</a:t>
            </a:r>
            <a:r>
              <a:rPr lang="en-GB">
                <a:solidFill>
                  <a:schemeClr val="dk1"/>
                </a:solidFill>
              </a:rPr>
              <a:t> — least privilege and access control apply at the application tier as well.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Mention how this model scales easily (you can have multiple web servers connecting to one DB).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Example: When students used </a:t>
            </a:r>
            <a:r>
              <a:rPr b="1" lang="en-GB">
                <a:solidFill>
                  <a:schemeClr val="dk1"/>
                </a:solidFill>
              </a:rPr>
              <a:t>pgAdmin</a:t>
            </a:r>
            <a:r>
              <a:rPr lang="en-GB">
                <a:solidFill>
                  <a:schemeClr val="dk1"/>
                </a:solidFill>
              </a:rPr>
              <a:t> to execute SQL, they acted as both the application and data tier — in production, these would be separate systems.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slide introduces the transition from classroom SQL execution to professional web-integrated environments.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g3a116e72569_0_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8" name="Google Shape;98;g3a116e72569_0_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Explain that in a real deployment, end users never see or type SQL — it’s embedded inside backend logic.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Mention </a:t>
            </a:r>
            <a:r>
              <a:rPr b="1" lang="en-GB">
                <a:solidFill>
                  <a:schemeClr val="dk1"/>
                </a:solidFill>
              </a:rPr>
              <a:t>connection parameters</a:t>
            </a:r>
            <a:r>
              <a:rPr lang="en-GB">
                <a:solidFill>
                  <a:schemeClr val="dk1"/>
                </a:solidFill>
              </a:rPr>
              <a:t> (hostname, port, user, password, database name) and </a:t>
            </a:r>
            <a:r>
              <a:rPr b="1" lang="en-GB">
                <a:solidFill>
                  <a:schemeClr val="dk1"/>
                </a:solidFill>
              </a:rPr>
              <a:t>connection pools</a:t>
            </a:r>
            <a:r>
              <a:rPr lang="en-GB">
                <a:solidFill>
                  <a:schemeClr val="dk1"/>
                </a:solidFill>
              </a:rPr>
              <a:t> (preview for next slide).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Give a simple example: a Flask web app using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cursor.execute("SELECT * FROM student")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Reinforce that the </a:t>
            </a:r>
            <a:r>
              <a:rPr b="1" lang="en-GB">
                <a:solidFill>
                  <a:schemeClr val="dk1"/>
                </a:solidFill>
              </a:rPr>
              <a:t>application layer acts as a gatekeeper</a:t>
            </a:r>
            <a:r>
              <a:rPr lang="en-GB">
                <a:solidFill>
                  <a:schemeClr val="dk1"/>
                </a:solidFill>
              </a:rPr>
              <a:t>: it validates input, formats SQL, and manages results.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Link to security concepts from Module 8: roles and privileges must still be enforced at the DB level.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g3a116e72569_0_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4" name="Google Shape;104;g3a116e72569_0_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Use a familiar example: </a:t>
            </a:r>
            <a:r>
              <a:rPr i="1" lang="en-GB">
                <a:solidFill>
                  <a:schemeClr val="dk1"/>
                </a:solidFill>
              </a:rPr>
              <a:t>When you register for a BCIT course online, the system inserts a new record in an ENROLLMENT table.</a:t>
            </a:r>
            <a:br>
              <a:rPr i="1" lang="en-GB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Remind students: </a:t>
            </a:r>
            <a:r>
              <a:rPr b="1" lang="en-GB">
                <a:solidFill>
                  <a:schemeClr val="dk1"/>
                </a:solidFill>
              </a:rPr>
              <a:t>this is still the same SQL</a:t>
            </a:r>
            <a:r>
              <a:rPr lang="en-GB">
                <a:solidFill>
                  <a:schemeClr val="dk1"/>
                </a:solidFill>
              </a:rPr>
              <a:t> they learned — it’s just executed automatically through an application layer.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Point out that the </a:t>
            </a:r>
            <a:r>
              <a:rPr b="1" lang="en-GB">
                <a:solidFill>
                  <a:schemeClr val="dk1"/>
                </a:solidFill>
              </a:rPr>
              <a:t>Lab Tracker</a:t>
            </a:r>
            <a:r>
              <a:rPr lang="en-GB">
                <a:solidFill>
                  <a:schemeClr val="dk1"/>
                </a:solidFill>
              </a:rPr>
              <a:t> could easily be extended into a web app using this same flow.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Discuss how </a:t>
            </a:r>
            <a:r>
              <a:rPr b="1" lang="en-GB">
                <a:solidFill>
                  <a:schemeClr val="dk1"/>
                </a:solidFill>
              </a:rPr>
              <a:t>transactions</a:t>
            </a:r>
            <a:r>
              <a:rPr lang="en-GB">
                <a:solidFill>
                  <a:schemeClr val="dk1"/>
                </a:solidFill>
              </a:rPr>
              <a:t> (from Module 10) protect these operations if multiple users update data simultaneously.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Highlight the connection between </a:t>
            </a:r>
            <a:r>
              <a:rPr b="1" lang="en-GB">
                <a:solidFill>
                  <a:schemeClr val="dk1"/>
                </a:solidFill>
              </a:rPr>
              <a:t>database constraints</a:t>
            </a:r>
            <a:r>
              <a:rPr lang="en-GB">
                <a:solidFill>
                  <a:schemeClr val="dk1"/>
                </a:solidFill>
              </a:rPr>
              <a:t> (Modules 5–6) and </a:t>
            </a:r>
            <a:r>
              <a:rPr b="1" lang="en-GB">
                <a:solidFill>
                  <a:schemeClr val="dk1"/>
                </a:solidFill>
              </a:rPr>
              <a:t>application validation</a:t>
            </a:r>
            <a:r>
              <a:rPr lang="en-GB">
                <a:solidFill>
                  <a:schemeClr val="dk1"/>
                </a:solidFill>
              </a:rPr>
              <a:t> — both enforce business rules.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g3a1233ec02a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0" name="Google Shape;110;g3a1233ec02a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slide resolves the common “duplication” concern.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Use a concrete example: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App checks that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quantity &gt; 0</a:t>
            </a:r>
            <a:r>
              <a:rPr lang="en-GB">
                <a:solidFill>
                  <a:schemeClr val="dk1"/>
                </a:solidFill>
              </a:rPr>
              <a:t> → user gets instant feedback.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Database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CHECK (quantity &gt; 0)</a:t>
            </a:r>
            <a:r>
              <a:rPr lang="en-GB">
                <a:solidFill>
                  <a:schemeClr val="dk1"/>
                </a:solidFill>
              </a:rPr>
              <a:t> → guarantees rule even for imports or scripts.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Remind students that </a:t>
            </a:r>
            <a:r>
              <a:rPr i="1" lang="en-GB">
                <a:solidFill>
                  <a:schemeClr val="dk1"/>
                </a:solidFill>
              </a:rPr>
              <a:t>multiple clients</a:t>
            </a:r>
            <a:r>
              <a:rPr lang="en-GB">
                <a:solidFill>
                  <a:schemeClr val="dk1"/>
                </a:solidFill>
              </a:rPr>
              <a:t> (web app, report tool, admin script) might touch the same database — the DB must always be correct.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Relate to </a:t>
            </a:r>
            <a:r>
              <a:rPr b="1" lang="en-GB">
                <a:solidFill>
                  <a:schemeClr val="dk1"/>
                </a:solidFill>
              </a:rPr>
              <a:t>Module 9 – Procedural SQL</a:t>
            </a:r>
            <a:r>
              <a:rPr lang="en-GB">
                <a:solidFill>
                  <a:schemeClr val="dk1"/>
                </a:solidFill>
              </a:rPr>
              <a:t> (business rules via triggers) and </a:t>
            </a:r>
            <a:r>
              <a:rPr b="1" lang="en-GB">
                <a:solidFill>
                  <a:schemeClr val="dk1"/>
                </a:solidFill>
              </a:rPr>
              <a:t>Module 6 – DDL constraints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Key takeaway: </a:t>
            </a:r>
            <a:r>
              <a:rPr b="1" lang="en-GB">
                <a:solidFill>
                  <a:schemeClr val="dk1"/>
                </a:solidFill>
              </a:rPr>
              <a:t>Layered validation = defense in depth.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4" name="Shape 1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Google Shape;115;g3a116e72569_0_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6" name="Google Shape;116;g3a116e72569_0_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Emphasize the </a:t>
            </a:r>
            <a:r>
              <a:rPr b="1" lang="en-GB">
                <a:solidFill>
                  <a:schemeClr val="dk1"/>
                </a:solidFill>
              </a:rPr>
              <a:t>principle of least privilege:</a:t>
            </a:r>
            <a:r>
              <a:rPr lang="en-GB">
                <a:solidFill>
                  <a:schemeClr val="dk1"/>
                </a:solidFill>
              </a:rPr>
              <a:t> users get only what they need.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Reconnect to </a:t>
            </a:r>
            <a:r>
              <a:rPr b="1" lang="en-GB">
                <a:solidFill>
                  <a:schemeClr val="dk1"/>
                </a:solidFill>
              </a:rPr>
              <a:t>Module 8 – Data Access Control</a:t>
            </a:r>
            <a:r>
              <a:rPr lang="en-GB">
                <a:solidFill>
                  <a:schemeClr val="dk1"/>
                </a:solidFill>
              </a:rPr>
              <a:t>, showing GRANT/REVOKE and role hierarchy.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Mention </a:t>
            </a:r>
            <a:r>
              <a:rPr b="1" lang="en-GB">
                <a:solidFill>
                  <a:schemeClr val="dk1"/>
                </a:solidFill>
              </a:rPr>
              <a:t>prepared statements</a:t>
            </a:r>
            <a:r>
              <a:rPr lang="en-GB">
                <a:solidFill>
                  <a:schemeClr val="dk1"/>
                </a:solidFill>
              </a:rPr>
              <a:t> (from previous slide) as an example of shared responsibility between the app and DB.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Demonstrate a short SQL example:</a:t>
            </a:r>
            <a:br>
              <a:rPr lang="en-GB">
                <a:solidFill>
                  <a:schemeClr val="dk1"/>
                </a:solidFill>
              </a:rPr>
            </a:b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GRANT SELECT, INSERT ON student TO instructor_role;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REVOKE DELETE ON student FROM instructor_role;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Explain that production systems combine database privileges with application-level authentication (e.g., login tokens).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connects to LO4 (Data Control Language) and LO6 (Database security in practice).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0" name="Shape 1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Google Shape;121;g3a116e72569_0_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2" name="Google Shape;122;g3a116e72569_0_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Relate back to </a:t>
            </a:r>
            <a:r>
              <a:rPr i="1" lang="en-GB">
                <a:solidFill>
                  <a:schemeClr val="dk1"/>
                </a:solidFill>
              </a:rPr>
              <a:t>Slide 6 (How Web Apps Connect)</a:t>
            </a:r>
            <a:r>
              <a:rPr lang="en-GB">
                <a:solidFill>
                  <a:schemeClr val="dk1"/>
                </a:solidFill>
              </a:rPr>
              <a:t> — instead of one connection per user, the app server manages a pool.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Explain that each pool connection represents a live session with the DB; the app borrows it temporarily for a transaction.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Reinforce concurrency control (Module 10) — pooled connections must still respect </a:t>
            </a:r>
            <a:r>
              <a:rPr b="1" lang="en-GB">
                <a:solidFill>
                  <a:schemeClr val="dk1"/>
                </a:solidFill>
              </a:rPr>
              <a:t>transaction isolation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Mention that tuning pool size is part of a DBA’s performance-management role.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Key takeaway: performance isn’t only about SQL optimization; it’s also about </a:t>
            </a:r>
            <a:r>
              <a:rPr b="1" lang="en-GB">
                <a:solidFill>
                  <a:schemeClr val="dk1"/>
                </a:solidFill>
              </a:rPr>
              <a:t>efficient connection management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a116e72569_0_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a116e72569_0_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Reinforce the </a:t>
            </a:r>
            <a:r>
              <a:rPr i="1" lang="en-GB">
                <a:solidFill>
                  <a:schemeClr val="dk1"/>
                </a:solidFill>
              </a:rPr>
              <a:t>defense-in-depth</a:t>
            </a:r>
            <a:r>
              <a:rPr lang="en-GB">
                <a:solidFill>
                  <a:schemeClr val="dk1"/>
                </a:solidFill>
              </a:rPr>
              <a:t> principle introduced in </a:t>
            </a:r>
            <a:r>
              <a:rPr b="1" lang="en-GB">
                <a:solidFill>
                  <a:schemeClr val="dk1"/>
                </a:solidFill>
              </a:rPr>
              <a:t>Slide 7.1 (Where Should the Rules Live?)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Connect to </a:t>
            </a:r>
            <a:r>
              <a:rPr b="1" lang="en-GB">
                <a:solidFill>
                  <a:schemeClr val="dk1"/>
                </a:solidFill>
              </a:rPr>
              <a:t>Module 9 (Procedural SQL)</a:t>
            </a:r>
            <a:r>
              <a:rPr lang="en-GB">
                <a:solidFill>
                  <a:schemeClr val="dk1"/>
                </a:solidFill>
              </a:rPr>
              <a:t> — triggers can perform custom validations automatically.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Example snippet:</a:t>
            </a:r>
            <a:br>
              <a:rPr lang="en-GB">
                <a:solidFill>
                  <a:schemeClr val="dk1"/>
                </a:solidFill>
              </a:rPr>
            </a:b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CREATE TRIGGER check_stock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BEFORE INSERT ON order_line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 EACH ROW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WHEN (NEW.quantity &gt; (SELECT stock FROM product WHERE p_code = NEW.p_code))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RAISE EXCEPTION 'Insufficient stock';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Remind students of </a:t>
            </a:r>
            <a:r>
              <a:rPr b="1" lang="en-GB">
                <a:solidFill>
                  <a:schemeClr val="dk1"/>
                </a:solidFill>
              </a:rPr>
              <a:t>transactional control</a:t>
            </a:r>
            <a:r>
              <a:rPr lang="en-GB">
                <a:solidFill>
                  <a:schemeClr val="dk1"/>
                </a:solidFill>
              </a:rPr>
              <a:t> (Module 10): all validation occurs before COMMIT, ensuring atomicity and consistency (A &amp; C of ACID).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Tie this back to </a:t>
            </a:r>
            <a:r>
              <a:rPr b="1" lang="en-GB">
                <a:solidFill>
                  <a:schemeClr val="dk1"/>
                </a:solidFill>
              </a:rPr>
              <a:t>Learning Outcome 5</a:t>
            </a:r>
            <a:r>
              <a:rPr lang="en-GB">
                <a:solidFill>
                  <a:schemeClr val="dk1"/>
                </a:solidFill>
              </a:rPr>
              <a:t> — transaction management techniques.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g3a116e72569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4" name="Google Shape;134;g3a116e72569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Context:</a:t>
            </a:r>
            <a:r>
              <a:rPr lang="en-GB">
                <a:solidFill>
                  <a:schemeClr val="dk1"/>
                </a:solidFill>
              </a:rPr>
              <a:t> This slide introduces how modern web applications </a:t>
            </a:r>
            <a:r>
              <a:rPr i="1" lang="en-GB">
                <a:solidFill>
                  <a:schemeClr val="dk1"/>
                </a:solidFill>
              </a:rPr>
              <a:t>use SQL indirectly</a:t>
            </a:r>
            <a:r>
              <a:rPr lang="en-GB">
                <a:solidFill>
                  <a:schemeClr val="dk1"/>
                </a:solidFill>
              </a:rPr>
              <a:t> through REST APIs.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Key idea:</a:t>
            </a:r>
            <a:r>
              <a:rPr lang="en-GB">
                <a:solidFill>
                  <a:schemeClr val="dk1"/>
                </a:solidFill>
              </a:rPr>
              <a:t> The API sits between the client and the DB, translating HTTP requests into SQL safely.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Point out that this architecture prevents users from executing SQL directly, reducing the risk of injection.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Mention real frameworks: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-GB">
                <a:solidFill>
                  <a:schemeClr val="dk1"/>
                </a:solidFill>
              </a:rPr>
              <a:t>Node.js (Express + pg)</a:t>
            </a:r>
            <a:br>
              <a:rPr i="1" lang="en-GB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-GB">
                <a:solidFill>
                  <a:schemeClr val="dk1"/>
                </a:solidFill>
              </a:rPr>
              <a:t>Python Flask / FastAPI</a:t>
            </a:r>
            <a:br>
              <a:rPr i="1" lang="en-GB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-GB">
                <a:solidFill>
                  <a:schemeClr val="dk1"/>
                </a:solidFill>
              </a:rPr>
              <a:t>Java Spring Boot</a:t>
            </a:r>
            <a:br>
              <a:rPr i="1" lang="en-GB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i="1" lang="en-GB">
                <a:solidFill>
                  <a:schemeClr val="dk1"/>
                </a:solidFill>
              </a:rPr>
              <a:t>Supabase</a:t>
            </a:r>
            <a:r>
              <a:rPr lang="en-GB">
                <a:solidFill>
                  <a:schemeClr val="dk1"/>
                </a:solidFill>
              </a:rPr>
              <a:t> (provides auto-generated REST API for PostgreSQL tables)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Explain how JSON is used both as input and output:</a:t>
            </a:r>
            <a:br>
              <a:rPr lang="en-GB">
                <a:solidFill>
                  <a:schemeClr val="dk1"/>
                </a:solidFill>
              </a:rPr>
            </a:b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{ "student_id": 101, "set": "B01" }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 becomes</a:t>
            </a:r>
            <a:br>
              <a:rPr lang="en-GB">
                <a:solidFill>
                  <a:schemeClr val="dk1"/>
                </a:solidFill>
              </a:rPr>
            </a:b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INSERT INTO enrollment (student_id, set) VALUES (101, 'B01');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Reinforce that </a:t>
            </a:r>
            <a:r>
              <a:rPr b="1" lang="en-GB">
                <a:solidFill>
                  <a:schemeClr val="dk1"/>
                </a:solidFill>
              </a:rPr>
              <a:t>REST ≠ SQL replacement</a:t>
            </a:r>
            <a:r>
              <a:rPr lang="en-GB">
                <a:solidFill>
                  <a:schemeClr val="dk1"/>
                </a:solidFill>
              </a:rPr>
              <a:t> — it’s a structured, HTTP-based way of delivering SQL results to clients.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Connect this slide to the upcoming one (“From Relational to API Thinking”) where you’ll discuss how </a:t>
            </a:r>
            <a:r>
              <a:rPr i="1" lang="en-GB">
                <a:solidFill>
                  <a:schemeClr val="dk1"/>
                </a:solidFill>
              </a:rPr>
              <a:t>tables become resources</a:t>
            </a:r>
            <a:r>
              <a:rPr lang="en-GB">
                <a:solidFill>
                  <a:schemeClr val="dk1"/>
                </a:solidFill>
              </a:rPr>
              <a:t> in this model.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g3a116e72569_0_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1" name="Google Shape;141;g3a116e72569_0_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Instructor Notes: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Emphasize continuity: the </a:t>
            </a:r>
            <a:r>
              <a:rPr i="1" lang="en-GB">
                <a:solidFill>
                  <a:schemeClr val="dk1"/>
                </a:solidFill>
              </a:rPr>
              <a:t>relational mindset</a:t>
            </a:r>
            <a:r>
              <a:rPr lang="en-GB">
                <a:solidFill>
                  <a:schemeClr val="dk1"/>
                </a:solidFill>
              </a:rPr>
              <a:t> still governs structure — REST just exposes it differently.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Example mapping from your </a:t>
            </a:r>
            <a:r>
              <a:rPr b="1" lang="en-GB">
                <a:solidFill>
                  <a:schemeClr val="dk1"/>
                </a:solidFill>
              </a:rPr>
              <a:t>Lab Tracker project</a:t>
            </a:r>
            <a:r>
              <a:rPr lang="en-GB">
                <a:solidFill>
                  <a:schemeClr val="dk1"/>
                </a:solidFill>
              </a:rPr>
              <a:t>: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student</a:t>
            </a:r>
            <a:r>
              <a:rPr lang="en-GB">
                <a:solidFill>
                  <a:schemeClr val="dk1"/>
                </a:solidFill>
              </a:rPr>
              <a:t> table →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/students</a:t>
            </a:r>
            <a:b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course_offering</a:t>
            </a:r>
            <a:r>
              <a:rPr lang="en-GB">
                <a:solidFill>
                  <a:schemeClr val="dk1"/>
                </a:solidFill>
              </a:rPr>
              <a:t> →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/offerings</a:t>
            </a:r>
            <a:b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join view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enrollment_summary</a:t>
            </a:r>
            <a:r>
              <a:rPr lang="en-GB">
                <a:solidFill>
                  <a:schemeClr val="dk1"/>
                </a:solidFill>
              </a:rPr>
              <a:t> →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/reports/enrollments</a:t>
            </a:r>
            <a:b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</a:b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Show that the </a:t>
            </a:r>
            <a:r>
              <a:rPr b="1" lang="en-GB">
                <a:solidFill>
                  <a:schemeClr val="dk1"/>
                </a:solidFill>
              </a:rPr>
              <a:t>API enforces cardinality and integrity</a:t>
            </a:r>
            <a:r>
              <a:rPr lang="en-GB">
                <a:solidFill>
                  <a:schemeClr val="dk1"/>
                </a:solidFill>
              </a:rPr>
              <a:t>: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A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POST</a:t>
            </a:r>
            <a:r>
              <a:rPr lang="en-GB">
                <a:solidFill>
                  <a:schemeClr val="dk1"/>
                </a:solidFill>
              </a:rPr>
              <a:t> to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/enrollments</a:t>
            </a:r>
            <a:r>
              <a:rPr lang="en-GB">
                <a:solidFill>
                  <a:schemeClr val="dk1"/>
                </a:solidFill>
              </a:rPr>
              <a:t> must reference valid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student_id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offering_id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The API uses </a:t>
            </a:r>
            <a:r>
              <a:rPr b="1" lang="en-GB">
                <a:solidFill>
                  <a:schemeClr val="dk1"/>
                </a:solidFill>
              </a:rPr>
              <a:t>foreign keys</a:t>
            </a:r>
            <a:r>
              <a:rPr lang="en-GB">
                <a:solidFill>
                  <a:schemeClr val="dk1"/>
                </a:solidFill>
              </a:rPr>
              <a:t> or validation queries to ensure this.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Connect to </a:t>
            </a:r>
            <a:r>
              <a:rPr b="1" lang="en-GB">
                <a:solidFill>
                  <a:schemeClr val="dk1"/>
                </a:solidFill>
              </a:rPr>
              <a:t>normalization</a:t>
            </a:r>
            <a:r>
              <a:rPr lang="en-GB">
                <a:solidFill>
                  <a:schemeClr val="dk1"/>
                </a:solidFill>
              </a:rPr>
              <a:t> (Modules 4–5): even though the client may see JSON with nested data, the backend still stores normalized relations.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Mention that modern ORMs (Object-Relational Mappers) such as SQLAlchemy, Sequelize, or Prisma automate much of this mapping — but </a:t>
            </a:r>
            <a:r>
              <a:rPr i="1" lang="en-GB">
                <a:solidFill>
                  <a:schemeClr val="dk1"/>
                </a:solidFill>
              </a:rPr>
              <a:t>the relational logic remains underneath.</a:t>
            </a:r>
            <a:br>
              <a:rPr i="1" lang="en-GB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Teaching prompt:</a:t>
            </a:r>
            <a:br>
              <a:rPr b="1"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Ask: “If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/students/101/enrollments</a:t>
            </a:r>
            <a:r>
              <a:rPr lang="en-GB">
                <a:solidFill>
                  <a:schemeClr val="dk1"/>
                </a:solidFill>
              </a:rPr>
              <a:t> returns data, which tables is that query joining behind the scenes?”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Students should answer: </a:t>
            </a:r>
            <a:r>
              <a:rPr i="1" lang="en-GB">
                <a:solidFill>
                  <a:schemeClr val="dk1"/>
                </a:solidFill>
              </a:rPr>
              <a:t>STUDENT → ENROLLMENT → COURSE_OFFERING.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a116e72569_0_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8" name="Google Shape;148;g3a116e72569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1" name="Shape 1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g3a116e72569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3" name="Google Shape;153;g3a116e72569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Instructor Notes:</a:t>
            </a: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Explain that </a:t>
            </a:r>
            <a:r>
              <a:rPr i="1" lang="en-GB">
                <a:solidFill>
                  <a:schemeClr val="dk1"/>
                </a:solidFill>
              </a:rPr>
              <a:t>cloud computing</a:t>
            </a:r>
            <a:r>
              <a:rPr lang="en-GB">
                <a:solidFill>
                  <a:schemeClr val="dk1"/>
                </a:solidFill>
              </a:rPr>
              <a:t> simply means the database runs on someone else’s infrastructure — but the relational model and SQL remain the same.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Mention that PostgreSQL, MySQL, SQL Server, and Oracle all have cloud-hosted versions.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Tie to business motivations: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Avoid hardware provisioning.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Pay-as-you-go model for resources (storage, CPU).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Automatic backups and replication across regions.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Example scenario: A small business hosting its inventory system moves its PostgreSQL database to </a:t>
            </a:r>
            <a:r>
              <a:rPr b="1" lang="en-GB">
                <a:solidFill>
                  <a:schemeClr val="dk1"/>
                </a:solidFill>
              </a:rPr>
              <a:t>AWS RDS</a:t>
            </a:r>
            <a:r>
              <a:rPr lang="en-GB">
                <a:solidFill>
                  <a:schemeClr val="dk1"/>
                </a:solidFill>
              </a:rPr>
              <a:t> for reliability and easier scaling.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Transition note: “Next, we’ll look at how this is formalized through </a:t>
            </a:r>
            <a:r>
              <a:rPr i="1" lang="en-GB">
                <a:solidFill>
                  <a:schemeClr val="dk1"/>
                </a:solidFill>
              </a:rPr>
              <a:t>Database as a Service (DBaaS)</a:t>
            </a:r>
            <a:r>
              <a:rPr lang="en-GB">
                <a:solidFill>
                  <a:schemeClr val="dk1"/>
                </a:solidFill>
              </a:rPr>
              <a:t> offerings.”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a116e72569_0_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a116e72569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Reinforce the idea that DBaaS abstracts away system administration — the DBA’s role shifts from hardware maintenance to </a:t>
            </a:r>
            <a:r>
              <a:rPr i="1" lang="en-GB">
                <a:solidFill>
                  <a:schemeClr val="dk1"/>
                </a:solidFill>
              </a:rPr>
              <a:t>data design, performance, and security policies.</a:t>
            </a:r>
            <a:br>
              <a:rPr i="1" lang="en-GB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Emphasize that DBaaS still uses </a:t>
            </a:r>
            <a:r>
              <a:rPr b="1" lang="en-GB">
                <a:solidFill>
                  <a:schemeClr val="dk1"/>
                </a:solidFill>
              </a:rPr>
              <a:t>the same SQL standards</a:t>
            </a:r>
            <a:r>
              <a:rPr lang="en-GB">
                <a:solidFill>
                  <a:schemeClr val="dk1"/>
                </a:solidFill>
              </a:rPr>
              <a:t> — learning SQL in this course directly applies.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Example: In AWS RDS, you can launch a PostgreSQL instance, connect via pgAdmin, and run the same SQL used in your labs.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Explain the billing model: DBaaS services charge based on instance size, storage, and I/O operations — students will encounter this in industry.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Mention </a:t>
            </a:r>
            <a:r>
              <a:rPr b="1" lang="en-GB">
                <a:solidFill>
                  <a:schemeClr val="dk1"/>
                </a:solidFill>
              </a:rPr>
              <a:t>Supabase</a:t>
            </a:r>
            <a:r>
              <a:rPr lang="en-GB">
                <a:solidFill>
                  <a:schemeClr val="dk1"/>
                </a:solidFill>
              </a:rPr>
              <a:t> as a developer-friendly PostgreSQL service offering REST APIs and authentication (a modern open-source example).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Transition idea: “Let’s look at one key advantage of DBaaS — </a:t>
            </a:r>
            <a:r>
              <a:rPr i="1" lang="en-GB">
                <a:solidFill>
                  <a:schemeClr val="dk1"/>
                </a:solidFill>
              </a:rPr>
              <a:t>elastic scalability</a:t>
            </a:r>
            <a:r>
              <a:rPr lang="en-GB">
                <a:solidFill>
                  <a:schemeClr val="dk1"/>
                </a:solidFill>
              </a:rPr>
              <a:t>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3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g3a116e72569_0_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5" name="Google Shape;165;g3a116e72569_0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Explain that elasticity is one of the </a:t>
            </a:r>
            <a:r>
              <a:rPr b="1" lang="en-GB">
                <a:solidFill>
                  <a:schemeClr val="dk1"/>
                </a:solidFill>
              </a:rPr>
              <a:t>defining advantages of cloud computing.</a:t>
            </a:r>
            <a:br>
              <a:rPr b="1" lang="en-GB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Tie back to DBaaS (previous slide): this scaling happens automatically in managed services.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Example: An online retailer’s database can double resources during Black Friday sales and scale back afterward.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Discuss how </a:t>
            </a:r>
            <a:r>
              <a:rPr b="1" lang="en-GB">
                <a:solidFill>
                  <a:schemeClr val="dk1"/>
                </a:solidFill>
              </a:rPr>
              <a:t>horizontal scaling</a:t>
            </a:r>
            <a:r>
              <a:rPr lang="en-GB">
                <a:solidFill>
                  <a:schemeClr val="dk1"/>
                </a:solidFill>
              </a:rPr>
              <a:t> is harder for traditional relational systems (because of joins and transactions), but easier for distributed or NoSQL systems.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PostgreSQL supports </a:t>
            </a:r>
            <a:r>
              <a:rPr b="1" lang="en-GB">
                <a:solidFill>
                  <a:schemeClr val="dk1"/>
                </a:solidFill>
              </a:rPr>
              <a:t>read replicas</a:t>
            </a:r>
            <a:r>
              <a:rPr lang="en-GB">
                <a:solidFill>
                  <a:schemeClr val="dk1"/>
                </a:solidFill>
              </a:rPr>
              <a:t> and connection pooling for limited horizontal scalability.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Emphasize </a:t>
            </a:r>
            <a:r>
              <a:rPr b="1" lang="en-GB">
                <a:solidFill>
                  <a:schemeClr val="dk1"/>
                </a:solidFill>
              </a:rPr>
              <a:t>cost efficiency</a:t>
            </a:r>
            <a:r>
              <a:rPr lang="en-GB">
                <a:solidFill>
                  <a:schemeClr val="dk1"/>
                </a:solidFill>
              </a:rPr>
              <a:t>: organizations no longer need to buy hardware for peak usage — they rent it dynamically.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Transition note: “Let’s see how these cloud models are formally categorized as IaaS, PaaS, and SaaS.”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Google Shape;170;g3a116e72569_0_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1" name="Google Shape;171;g3a116e72569_0_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Explain that these models represent </a:t>
            </a:r>
            <a:r>
              <a:rPr b="1" lang="en-GB">
                <a:solidFill>
                  <a:schemeClr val="dk1"/>
                </a:solidFill>
              </a:rPr>
              <a:t>levels of abstraction</a:t>
            </a:r>
            <a:r>
              <a:rPr lang="en-GB">
                <a:solidFill>
                  <a:schemeClr val="dk1"/>
                </a:solidFill>
              </a:rPr>
              <a:t> — how much work the provider does for you.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Connect to </a:t>
            </a:r>
            <a:r>
              <a:rPr b="1" lang="en-GB">
                <a:solidFill>
                  <a:schemeClr val="dk1"/>
                </a:solidFill>
              </a:rPr>
              <a:t>Module 8 (Access Control)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b="1" lang="en-GB">
                <a:solidFill>
                  <a:schemeClr val="dk1"/>
                </a:solidFill>
              </a:rPr>
              <a:t>Module 10 (Transactions)</a:t>
            </a:r>
            <a:r>
              <a:rPr lang="en-GB">
                <a:solidFill>
                  <a:schemeClr val="dk1"/>
                </a:solidFill>
              </a:rPr>
              <a:t> — PaaS still gives SQL-level control and DCL privileges, but infrastructure-level tasks are hidden.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Give examples relevant to students: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Using PostgreSQL on AWS RDS (PaaS)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Installing PostgreSQL manually on a VM (IaaS)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Using Airtable or Notion as SaaS (they’re databases hidden behind apps).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Clarify that relational principles and SQL apply equally across all three — only the </a:t>
            </a:r>
            <a:r>
              <a:rPr i="1" lang="en-GB">
                <a:solidFill>
                  <a:schemeClr val="dk1"/>
                </a:solidFill>
              </a:rPr>
              <a:t>management layer</a:t>
            </a:r>
            <a:r>
              <a:rPr lang="en-GB">
                <a:solidFill>
                  <a:schemeClr val="dk1"/>
                </a:solidFill>
              </a:rPr>
              <a:t> changes.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Teaching cue: ask, </a:t>
            </a:r>
            <a:r>
              <a:rPr i="1" lang="en-GB">
                <a:solidFill>
                  <a:schemeClr val="dk1"/>
                </a:solidFill>
              </a:rPr>
              <a:t>“If we deploy our Lab Tracker database on Render or Supabase, which model are we using?”</a:t>
            </a:r>
            <a:r>
              <a:rPr lang="en-GB">
                <a:solidFill>
                  <a:schemeClr val="dk1"/>
                </a:solidFill>
              </a:rPr>
              <a:t> (Answer: PaaS).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Transition: “Now that we’ve seen service models, let’s explore the advantages that make cloud databases so attractive.”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3a116e72569_0_1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8" name="Google Shape;178;g3a116e72569_0_1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2" name="Shape 1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" name="Google Shape;183;g3a116e72569_0_1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4" name="Google Shape;184;g3a116e72569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3a116e72569_0_1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3a116e72569_0_1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a116e72569_0_1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a116e72569_0_1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1" name="Google Shape;201;g3a116e72569_0_1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2" name="Google Shape;202;g3a116e72569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a116e72569_0_1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7" name="Google Shape;207;g3a116e72569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slide sets the stage for the rest of Part 4 — it’s a conceptual pivot: from </a:t>
            </a:r>
            <a:r>
              <a:rPr i="1" lang="en-GB">
                <a:solidFill>
                  <a:schemeClr val="dk1"/>
                </a:solidFill>
              </a:rPr>
              <a:t>“How we deploy databases”</a:t>
            </a:r>
            <a:r>
              <a:rPr lang="en-GB">
                <a:solidFill>
                  <a:schemeClr val="dk1"/>
                </a:solidFill>
              </a:rPr>
              <a:t> to </a:t>
            </a:r>
            <a:r>
              <a:rPr i="1" lang="en-GB">
                <a:solidFill>
                  <a:schemeClr val="dk1"/>
                </a:solidFill>
              </a:rPr>
              <a:t>“How we choose between database paradigms.”</a:t>
            </a:r>
            <a:br>
              <a:rPr i="1" lang="en-GB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Stress that this isn’t about abandoning relational models — it’s about extending our toolkit.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Polyglot Persistence</a:t>
            </a:r>
            <a:r>
              <a:rPr lang="en-GB">
                <a:solidFill>
                  <a:schemeClr val="dk1"/>
                </a:solidFill>
              </a:rPr>
              <a:t> means combining systems: e.g., PostgreSQL for transactions, MongoDB for unstructured logs.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Connect to </a:t>
            </a:r>
            <a:r>
              <a:rPr b="1" lang="en-GB">
                <a:solidFill>
                  <a:schemeClr val="dk1"/>
                </a:solidFill>
              </a:rPr>
              <a:t>previous modules</a:t>
            </a:r>
            <a:r>
              <a:rPr lang="en-GB">
                <a:solidFill>
                  <a:schemeClr val="dk1"/>
                </a:solidFill>
              </a:rPr>
              <a:t>: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-GB">
                <a:solidFill>
                  <a:schemeClr val="dk1"/>
                </a:solidFill>
              </a:rPr>
              <a:t>Normalization (Module 4)</a:t>
            </a:r>
            <a:r>
              <a:rPr lang="en-GB">
                <a:solidFill>
                  <a:schemeClr val="dk1"/>
                </a:solidFill>
              </a:rPr>
              <a:t> ensures relational integrity.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-GB">
                <a:solidFill>
                  <a:schemeClr val="dk1"/>
                </a:solidFill>
              </a:rPr>
              <a:t>Warehousing (Module 11)</a:t>
            </a:r>
            <a:r>
              <a:rPr lang="en-GB">
                <a:solidFill>
                  <a:schemeClr val="dk1"/>
                </a:solidFill>
              </a:rPr>
              <a:t> already introduced specialized DBs for analytics.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Mention that relational systems like </a:t>
            </a:r>
            <a:r>
              <a:rPr b="1" lang="en-GB">
                <a:solidFill>
                  <a:schemeClr val="dk1"/>
                </a:solidFill>
              </a:rPr>
              <a:t>PostgreSQL</a:t>
            </a:r>
            <a:r>
              <a:rPr lang="en-GB">
                <a:solidFill>
                  <a:schemeClr val="dk1"/>
                </a:solidFill>
              </a:rPr>
              <a:t> have evolved — supporting JSON, key-value indexes, and graph extensions — bridging traditional and modern models.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Transition: “Let’s explore each type of NoSQL database and where it fits best.”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a116e72569_0_12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a116e72569_0_1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Emphasize that “NoSQL” isn’t anti-relational — it complements SQL systems.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Many NoSQL systems emerged from </a:t>
            </a:r>
            <a:r>
              <a:rPr b="1" lang="en-GB">
                <a:solidFill>
                  <a:schemeClr val="dk1"/>
                </a:solidFill>
              </a:rPr>
              <a:t>web-scale challenges</a:t>
            </a:r>
            <a:r>
              <a:rPr lang="en-GB">
                <a:solidFill>
                  <a:schemeClr val="dk1"/>
                </a:solidFill>
              </a:rPr>
              <a:t> (Facebook, Amazon, Google).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Explain the </a:t>
            </a:r>
            <a:r>
              <a:rPr b="1" lang="en-GB">
                <a:solidFill>
                  <a:schemeClr val="dk1"/>
                </a:solidFill>
              </a:rPr>
              <a:t>BASE</a:t>
            </a:r>
            <a:r>
              <a:rPr lang="en-GB">
                <a:solidFill>
                  <a:schemeClr val="dk1"/>
                </a:solidFill>
              </a:rPr>
              <a:t> philosophy: </a:t>
            </a:r>
            <a:r>
              <a:rPr i="1" lang="en-GB">
                <a:solidFill>
                  <a:schemeClr val="dk1"/>
                </a:solidFill>
              </a:rPr>
              <a:t>Basically Available, Soft state, Eventually consistent.</a:t>
            </a:r>
            <a:br>
              <a:rPr i="1" lang="en-GB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Contrast with </a:t>
            </a:r>
            <a:r>
              <a:rPr b="1" lang="en-GB">
                <a:solidFill>
                  <a:schemeClr val="dk1"/>
                </a:solidFill>
              </a:rPr>
              <a:t>ACID</a:t>
            </a:r>
            <a:r>
              <a:rPr lang="en-GB">
                <a:solidFill>
                  <a:schemeClr val="dk1"/>
                </a:solidFill>
              </a:rPr>
              <a:t>: </a:t>
            </a:r>
            <a:r>
              <a:rPr i="1" lang="en-GB">
                <a:solidFill>
                  <a:schemeClr val="dk1"/>
                </a:solidFill>
              </a:rPr>
              <a:t>Always consistent but slower at scale.</a:t>
            </a:r>
            <a:br>
              <a:rPr i="1" lang="en-GB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Highlight the idea of </a:t>
            </a:r>
            <a:r>
              <a:rPr b="1" lang="en-GB">
                <a:solidFill>
                  <a:schemeClr val="dk1"/>
                </a:solidFill>
              </a:rPr>
              <a:t>flexibility</a:t>
            </a:r>
            <a:r>
              <a:rPr lang="en-GB">
                <a:solidFill>
                  <a:schemeClr val="dk1"/>
                </a:solidFill>
              </a:rPr>
              <a:t>: NoSQL allows dynamic fields, nested structures, and horizontal scaling.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Tie back to relational foundations: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Students already understand normalization and relationships — now they’re seeing what happens when those rules are relaxed for speed and scale.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Mention that modern PostgreSQL blurs the line — it supports </a:t>
            </a:r>
            <a:r>
              <a:rPr b="1" lang="en-GB">
                <a:solidFill>
                  <a:schemeClr val="dk1"/>
                </a:solidFill>
              </a:rPr>
              <a:t>JSONB</a:t>
            </a:r>
            <a:r>
              <a:rPr lang="en-GB">
                <a:solidFill>
                  <a:schemeClr val="dk1"/>
                </a:solidFill>
              </a:rPr>
              <a:t> (document storage) and </a:t>
            </a:r>
            <a:r>
              <a:rPr b="1" lang="en-GB">
                <a:solidFill>
                  <a:schemeClr val="dk1"/>
                </a:solidFill>
              </a:rPr>
              <a:t>key-value indexes.</a:t>
            </a:r>
            <a:br>
              <a:rPr b="1" lang="en-GB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Transition: “So, when is NoSQL a better choice than a traditional relational system?”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8" name="Shape 2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Google Shape;219;g3a116e72569_0_1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0" name="Google Shape;220;g3a116e72569_0_1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Emphasize </a:t>
            </a:r>
            <a:r>
              <a:rPr b="1" lang="en-GB">
                <a:solidFill>
                  <a:schemeClr val="dk1"/>
                </a:solidFill>
              </a:rPr>
              <a:t>“fit for purpose”</a:t>
            </a:r>
            <a:r>
              <a:rPr lang="en-GB">
                <a:solidFill>
                  <a:schemeClr val="dk1"/>
                </a:solidFill>
              </a:rPr>
              <a:t> — NoSQL isn’t a replacement, it’s an option in a multi-database strategy.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Use real-world examples: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E-commerce:</a:t>
            </a:r>
            <a:r>
              <a:rPr lang="en-GB">
                <a:solidFill>
                  <a:schemeClr val="dk1"/>
                </a:solidFill>
              </a:rPr>
              <a:t> product catalog in MongoDB (flexible JSON), transactions in PostgreSQL.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Social networks:</a:t>
            </a:r>
            <a:r>
              <a:rPr lang="en-GB">
                <a:solidFill>
                  <a:schemeClr val="dk1"/>
                </a:solidFill>
              </a:rPr>
              <a:t> graph databases (Neo4j) for relationships, relational DBs for users.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Discuss </a:t>
            </a:r>
            <a:r>
              <a:rPr b="1" lang="en-GB">
                <a:solidFill>
                  <a:schemeClr val="dk1"/>
                </a:solidFill>
              </a:rPr>
              <a:t>CAP theorem</a:t>
            </a:r>
            <a:r>
              <a:rPr lang="en-GB">
                <a:solidFill>
                  <a:schemeClr val="dk1"/>
                </a:solidFill>
              </a:rPr>
              <a:t> briefly: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Systems must choose between </a:t>
            </a:r>
            <a:r>
              <a:rPr i="1" lang="en-GB">
                <a:solidFill>
                  <a:schemeClr val="dk1"/>
                </a:solidFill>
              </a:rPr>
              <a:t>Consistency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i="1" lang="en-GB">
                <a:solidFill>
                  <a:schemeClr val="dk1"/>
                </a:solidFill>
              </a:rPr>
              <a:t>Availability</a:t>
            </a:r>
            <a:r>
              <a:rPr lang="en-GB">
                <a:solidFill>
                  <a:schemeClr val="dk1"/>
                </a:solidFill>
              </a:rPr>
              <a:t>, and </a:t>
            </a:r>
            <a:r>
              <a:rPr i="1" lang="en-GB">
                <a:solidFill>
                  <a:schemeClr val="dk1"/>
                </a:solidFill>
              </a:rPr>
              <a:t>Partition tolerance</a:t>
            </a:r>
            <a:r>
              <a:rPr lang="en-GB">
                <a:solidFill>
                  <a:schemeClr val="dk1"/>
                </a:solidFill>
              </a:rPr>
              <a:t> during failures.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Relational DBs favor </a:t>
            </a:r>
            <a:r>
              <a:rPr i="1" lang="en-GB">
                <a:solidFill>
                  <a:schemeClr val="dk1"/>
                </a:solidFill>
              </a:rPr>
              <a:t>Consistency</a:t>
            </a:r>
            <a:r>
              <a:rPr lang="en-GB">
                <a:solidFill>
                  <a:schemeClr val="dk1"/>
                </a:solidFill>
              </a:rPr>
              <a:t>, while NoSQL systems often favor </a:t>
            </a:r>
            <a:r>
              <a:rPr i="1" lang="en-GB">
                <a:solidFill>
                  <a:schemeClr val="dk1"/>
                </a:solidFill>
              </a:rPr>
              <a:t>Availability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Highlight that many relational systems (e.g., PostgreSQL, MySQL) now support NoSQL-style features like JSON and key-value stores, reducing the gap.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Teaching prompt: </a:t>
            </a:r>
            <a:r>
              <a:rPr i="1" lang="en-GB">
                <a:solidFill>
                  <a:schemeClr val="dk1"/>
                </a:solidFill>
              </a:rPr>
              <a:t>“Would our Lab Tracker benefit from NoSQL? Why or why not?”</a:t>
            </a:r>
            <a:br>
              <a:rPr i="1"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(Expected answer: no, it’s highly structured and relational.)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Transition: “Another model that’s gaining attention focuses on relationships — literally: Graph Databases.”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4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a116e72569_0_1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6" name="Google Shape;226;g3a116e72569_0_1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Explain that graph databases invert the relational mindset: instead of joining tables, relationships are stored </a:t>
            </a:r>
            <a:r>
              <a:rPr i="1" lang="en-GB">
                <a:solidFill>
                  <a:schemeClr val="dk1"/>
                </a:solidFill>
              </a:rPr>
              <a:t>as first-class citizens.</a:t>
            </a:r>
            <a:br>
              <a:rPr i="1" lang="en-GB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-GB">
                <a:solidFill>
                  <a:schemeClr val="dk1"/>
                </a:solidFill>
              </a:rPr>
              <a:t>Traversal queries</a:t>
            </a:r>
            <a:r>
              <a:rPr lang="en-GB">
                <a:solidFill>
                  <a:schemeClr val="dk1"/>
                </a:solidFill>
              </a:rPr>
              <a:t> can answer questions like “who are the friends-of-friends of Alex?” much faster than multi-join SQL.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Contrast with relational joins: RDBMS joins compute relationships dynamically, while graph DBs store them natively.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Use real-world examples: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-GB">
                <a:solidFill>
                  <a:schemeClr val="dk1"/>
                </a:solidFill>
              </a:rPr>
              <a:t>LinkedIn’s People You May Know</a:t>
            </a:r>
            <a:r>
              <a:rPr lang="en-GB">
                <a:solidFill>
                  <a:schemeClr val="dk1"/>
                </a:solidFill>
              </a:rPr>
              <a:t> uses a graph model.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i="1" lang="en-GB">
                <a:solidFill>
                  <a:schemeClr val="dk1"/>
                </a:solidFill>
              </a:rPr>
              <a:t>Fraud detection</a:t>
            </a:r>
            <a:r>
              <a:rPr lang="en-GB">
                <a:solidFill>
                  <a:schemeClr val="dk1"/>
                </a:solidFill>
              </a:rPr>
              <a:t> identifies suspicious transaction networks.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Mention that </a:t>
            </a:r>
            <a:r>
              <a:rPr b="1" lang="en-GB">
                <a:solidFill>
                  <a:schemeClr val="dk1"/>
                </a:solidFill>
              </a:rPr>
              <a:t>PostgreSQL</a:t>
            </a:r>
            <a:r>
              <a:rPr lang="en-GB">
                <a:solidFill>
                  <a:schemeClr val="dk1"/>
                </a:solidFill>
              </a:rPr>
              <a:t> offers extensions such as </a:t>
            </a:r>
            <a:r>
              <a:rPr b="1" lang="en-GB">
                <a:solidFill>
                  <a:schemeClr val="dk1"/>
                </a:solidFill>
              </a:rPr>
              <a:t>pgRouting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b="1" lang="en-GB">
                <a:solidFill>
                  <a:schemeClr val="dk1"/>
                </a:solidFill>
              </a:rPr>
              <a:t>AGE (Apache AGE)</a:t>
            </a:r>
            <a:r>
              <a:rPr lang="en-GB">
                <a:solidFill>
                  <a:schemeClr val="dk1"/>
                </a:solidFill>
              </a:rPr>
              <a:t> that add graph capabilities.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Teaching prompt: Ask students to visualize how their </a:t>
            </a:r>
            <a:r>
              <a:rPr i="1" lang="en-GB">
                <a:solidFill>
                  <a:schemeClr val="dk1"/>
                </a:solidFill>
              </a:rPr>
              <a:t>Lab Tracker schema</a:t>
            </a:r>
            <a:r>
              <a:rPr lang="en-GB">
                <a:solidFill>
                  <a:schemeClr val="dk1"/>
                </a:solidFill>
              </a:rPr>
              <a:t> could form a graph: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Nodes = Students, Labs, Events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Edges = “submitted,” “attended,” “graded.”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Transition: “Now let’s revisit analytical systems that extend relational data — Data Warehousing.”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1" name="Shape 2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2" name="Google Shape;232;g3a116e72569_0_1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3" name="Google Shape;233;g3a116e72569_0_1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Begin by revisiting </a:t>
            </a:r>
            <a:r>
              <a:rPr b="1" lang="en-GB">
                <a:solidFill>
                  <a:schemeClr val="dk1"/>
                </a:solidFill>
              </a:rPr>
              <a:t>Module 11</a:t>
            </a:r>
            <a:r>
              <a:rPr lang="en-GB">
                <a:solidFill>
                  <a:schemeClr val="dk1"/>
                </a:solidFill>
              </a:rPr>
              <a:t> to remind students how warehousing complements relational systems.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Emphasize difference in purpose: OLTP ensures </a:t>
            </a:r>
            <a:r>
              <a:rPr i="1" lang="en-GB">
                <a:solidFill>
                  <a:schemeClr val="dk1"/>
                </a:solidFill>
              </a:rPr>
              <a:t>accuracy and speed of transactions</a:t>
            </a:r>
            <a:r>
              <a:rPr lang="en-GB">
                <a:solidFill>
                  <a:schemeClr val="dk1"/>
                </a:solidFill>
              </a:rPr>
              <a:t>; OLAP supports </a:t>
            </a:r>
            <a:r>
              <a:rPr i="1" lang="en-GB">
                <a:solidFill>
                  <a:schemeClr val="dk1"/>
                </a:solidFill>
              </a:rPr>
              <a:t>complex analytical queries</a:t>
            </a:r>
            <a:r>
              <a:rPr lang="en-GB">
                <a:solidFill>
                  <a:schemeClr val="dk1"/>
                </a:solidFill>
              </a:rPr>
              <a:t>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Highlight </a:t>
            </a:r>
            <a:r>
              <a:rPr b="1" lang="en-GB">
                <a:solidFill>
                  <a:schemeClr val="dk1"/>
                </a:solidFill>
              </a:rPr>
              <a:t>ETL process</a:t>
            </a:r>
            <a:r>
              <a:rPr lang="en-GB">
                <a:solidFill>
                  <a:schemeClr val="dk1"/>
                </a:solidFill>
              </a:rPr>
              <a:t> as a bridge between relational systems and analytics platforms.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Mention </a:t>
            </a:r>
            <a:r>
              <a:rPr b="1" lang="en-GB">
                <a:solidFill>
                  <a:schemeClr val="dk1"/>
                </a:solidFill>
              </a:rPr>
              <a:t>Star Schema design</a:t>
            </a:r>
            <a:r>
              <a:rPr lang="en-GB">
                <a:solidFill>
                  <a:schemeClr val="dk1"/>
                </a:solidFill>
              </a:rPr>
              <a:t> as deliberate de-normalization to optimize query performance.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Example: A BCIT course management system could export term data to a warehouse for long-term trend analysis.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Tie to </a:t>
            </a:r>
            <a:r>
              <a:rPr b="1" lang="en-GB">
                <a:solidFill>
                  <a:schemeClr val="dk1"/>
                </a:solidFill>
              </a:rPr>
              <a:t>Learning Outcome 6</a:t>
            </a:r>
            <a:r>
              <a:rPr lang="en-GB">
                <a:solidFill>
                  <a:schemeClr val="dk1"/>
                </a:solidFill>
              </a:rPr>
              <a:t>: understanding how relational data supports analytics and decision-making.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Transition: “Warehouses handle structured data — but modern organizations also manage semi-structured and raw data in </a:t>
            </a:r>
            <a:r>
              <a:rPr b="1" lang="en-GB">
                <a:solidFill>
                  <a:schemeClr val="dk1"/>
                </a:solidFill>
              </a:rPr>
              <a:t>Data Lakes.</a:t>
            </a:r>
            <a:r>
              <a:rPr lang="en-GB">
                <a:solidFill>
                  <a:schemeClr val="dk1"/>
                </a:solidFill>
              </a:rPr>
              <a:t>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7" name="Shape 2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8" name="Google Shape;238;g3a116e72569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9" name="Google Shape;239;g3a116e72569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Define the contrast clearly: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Warehouse</a:t>
            </a:r>
            <a:r>
              <a:rPr lang="en-GB">
                <a:solidFill>
                  <a:schemeClr val="dk1"/>
                </a:solidFill>
              </a:rPr>
              <a:t> = predefined structure for queries.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b="1" lang="en-GB">
                <a:solidFill>
                  <a:schemeClr val="dk1"/>
                </a:solidFill>
              </a:rPr>
              <a:t>Lake</a:t>
            </a:r>
            <a:r>
              <a:rPr lang="en-GB">
                <a:solidFill>
                  <a:schemeClr val="dk1"/>
                </a:solidFill>
              </a:rPr>
              <a:t> = store first, interpret later.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Explain “schema on read”: the structure is applied </a:t>
            </a:r>
            <a:r>
              <a:rPr i="1" lang="en-GB">
                <a:solidFill>
                  <a:schemeClr val="dk1"/>
                </a:solidFill>
              </a:rPr>
              <a:t>when querying</a:t>
            </a:r>
            <a:r>
              <a:rPr lang="en-GB">
                <a:solidFill>
                  <a:schemeClr val="dk1"/>
                </a:solidFill>
              </a:rPr>
              <a:t>, not when storing.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Mention how this enables </a:t>
            </a:r>
            <a:r>
              <a:rPr b="1" lang="en-GB">
                <a:solidFill>
                  <a:schemeClr val="dk1"/>
                </a:solidFill>
              </a:rPr>
              <a:t>machine learning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b="1" lang="en-GB">
                <a:solidFill>
                  <a:schemeClr val="dk1"/>
                </a:solidFill>
              </a:rPr>
              <a:t>data science</a:t>
            </a:r>
            <a:r>
              <a:rPr lang="en-GB">
                <a:solidFill>
                  <a:schemeClr val="dk1"/>
                </a:solidFill>
              </a:rPr>
              <a:t> — analysts can work with raw logs, text, and JSON.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Describe modern convergence: “data lakehouse” unifies storage and analytics (e.g., Databricks, Snowflake).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Connect back to relational ideas: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Even in a data lake, when you run analytics, engines like Spark or Presto interpret data </a:t>
            </a:r>
            <a:r>
              <a:rPr i="1" lang="en-GB">
                <a:solidFill>
                  <a:schemeClr val="dk1"/>
                </a:solidFill>
              </a:rPr>
              <a:t>using relational concepts</a:t>
            </a:r>
            <a:r>
              <a:rPr lang="en-GB">
                <a:solidFill>
                  <a:schemeClr val="dk1"/>
                </a:solidFill>
              </a:rPr>
              <a:t> (tables, joins).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Example: A company might store raw clickstream data in S3 and only structure it when running a marketing analysis.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Transition: “These large datasets also feed AI and machine learning pipelines, which increasingly integrate with databases.”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3" name="Shape 2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Google Shape;244;g3a116e72569_0_1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5" name="Google Shape;245;g3a116e72569_0_1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Explain that traditional databases handled only CRUD; modern ones now support </a:t>
            </a:r>
            <a:r>
              <a:rPr b="1" lang="en-GB">
                <a:solidFill>
                  <a:schemeClr val="dk1"/>
                </a:solidFill>
              </a:rPr>
              <a:t>predictive analytics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b="1" lang="en-GB">
                <a:solidFill>
                  <a:schemeClr val="dk1"/>
                </a:solidFill>
              </a:rPr>
              <a:t>automated insights.</a:t>
            </a:r>
            <a:br>
              <a:rPr b="1" lang="en-GB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Example: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A retailer’s PostgreSQL DB stores transactions.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lang="en-GB">
                <a:solidFill>
                  <a:schemeClr val="dk1"/>
                </a:solidFill>
              </a:rPr>
              <a:t>A model inside the DB predicts “next likely purchase” in real time.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Discuss integration approaches: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SQL to export data</a:t>
            </a:r>
            <a:r>
              <a:rPr lang="en-GB">
                <a:solidFill>
                  <a:schemeClr val="dk1"/>
                </a:solidFill>
              </a:rPr>
              <a:t> (e.g., to Python notebooks).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In-database models</a:t>
            </a:r>
            <a:r>
              <a:rPr lang="en-GB">
                <a:solidFill>
                  <a:schemeClr val="dk1"/>
                </a:solidFill>
              </a:rPr>
              <a:t> that run ML SQL commands (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CREATE MODEL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PREDICT</a:t>
            </a:r>
            <a:r>
              <a:rPr lang="en-GB">
                <a:solidFill>
                  <a:schemeClr val="dk1"/>
                </a:solidFill>
              </a:rPr>
              <a:t>).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AutoNum type="arabicPeriod"/>
            </a:pPr>
            <a:r>
              <a:rPr b="1" lang="en-GB">
                <a:solidFill>
                  <a:schemeClr val="dk1"/>
                </a:solidFill>
              </a:rPr>
              <a:t>AI-assisted query optimization</a:t>
            </a:r>
            <a:r>
              <a:rPr lang="en-GB">
                <a:solidFill>
                  <a:schemeClr val="dk1"/>
                </a:solidFill>
              </a:rPr>
              <a:t> — ML models improving database performance.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Tie to </a:t>
            </a:r>
            <a:r>
              <a:rPr b="1" lang="en-GB">
                <a:solidFill>
                  <a:schemeClr val="dk1"/>
                </a:solidFill>
              </a:rPr>
              <a:t>data warehousing (Slide 25)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b="1" lang="en-GB">
                <a:solidFill>
                  <a:schemeClr val="dk1"/>
                </a:solidFill>
              </a:rPr>
              <a:t>data lakes (Slide 26)</a:t>
            </a:r>
            <a:r>
              <a:rPr lang="en-GB">
                <a:solidFill>
                  <a:schemeClr val="dk1"/>
                </a:solidFill>
              </a:rPr>
              <a:t> — these provide training data for AI.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Mention </a:t>
            </a:r>
            <a:r>
              <a:rPr b="1" lang="en-GB">
                <a:solidFill>
                  <a:schemeClr val="dk1"/>
                </a:solidFill>
              </a:rPr>
              <a:t>ethical considerations</a:t>
            </a:r>
            <a:r>
              <a:rPr lang="en-GB">
                <a:solidFill>
                  <a:schemeClr val="dk1"/>
                </a:solidFill>
              </a:rPr>
              <a:t> (Slide 34) — AI models must be transparent and fair in their use of data.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Transition: “Next, we’ll look at how automation and DevOps practices are transforming database management.”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a116e72569_0_1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1" name="Google Shape;251;g3a116e72569_0_1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ntroduce DevOps as the bridge between </a:t>
            </a:r>
            <a:r>
              <a:rPr b="1" lang="en-GB">
                <a:solidFill>
                  <a:schemeClr val="dk1"/>
                </a:solidFill>
              </a:rPr>
              <a:t>developers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b="1" lang="en-GB">
                <a:solidFill>
                  <a:schemeClr val="dk1"/>
                </a:solidFill>
              </a:rPr>
              <a:t>operations teams</a:t>
            </a:r>
            <a:r>
              <a:rPr lang="en-GB">
                <a:solidFill>
                  <a:schemeClr val="dk1"/>
                </a:solidFill>
              </a:rPr>
              <a:t> — databases are now part of automated delivery pipelines.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Explain </a:t>
            </a:r>
            <a:r>
              <a:rPr b="1" lang="en-GB">
                <a:solidFill>
                  <a:schemeClr val="dk1"/>
                </a:solidFill>
              </a:rPr>
              <a:t>Infrastructure as Code</a:t>
            </a:r>
            <a:r>
              <a:rPr lang="en-GB">
                <a:solidFill>
                  <a:schemeClr val="dk1"/>
                </a:solidFill>
              </a:rPr>
              <a:t>: instead of manual setup, DBs can be spun up reproducibly via configuration scripts.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Mention </a:t>
            </a:r>
            <a:r>
              <a:rPr b="1" lang="en-GB">
                <a:solidFill>
                  <a:schemeClr val="dk1"/>
                </a:solidFill>
              </a:rPr>
              <a:t>versioning schemas</a:t>
            </a:r>
            <a:r>
              <a:rPr lang="en-GB">
                <a:solidFill>
                  <a:schemeClr val="dk1"/>
                </a:solidFill>
              </a:rPr>
              <a:t>: every change (ALTER, CREATE) is tracked in Git and migrated automatically in staging → production.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Connect to </a:t>
            </a:r>
            <a:r>
              <a:rPr i="1" lang="en-GB">
                <a:solidFill>
                  <a:schemeClr val="dk1"/>
                </a:solidFill>
              </a:rPr>
              <a:t>Module 10 (Transactions)</a:t>
            </a:r>
            <a:r>
              <a:rPr lang="en-GB">
                <a:solidFill>
                  <a:schemeClr val="dk1"/>
                </a:solidFill>
              </a:rPr>
              <a:t> — same principle of controlled change, but at the infrastructure level.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Discuss </a:t>
            </a:r>
            <a:r>
              <a:rPr b="1" lang="en-GB">
                <a:solidFill>
                  <a:schemeClr val="dk1"/>
                </a:solidFill>
              </a:rPr>
              <a:t>monitoring tools</a:t>
            </a:r>
            <a:r>
              <a:rPr lang="en-GB">
                <a:solidFill>
                  <a:schemeClr val="dk1"/>
                </a:solidFill>
              </a:rPr>
              <a:t> like pgAdmin Dashboard, Grafana, Prometheus, and DataDog for real-time analytics.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Example: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A team defines PostgreSQL schema in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schema.sql</a:t>
            </a:r>
            <a:r>
              <a:rPr lang="en-GB">
                <a:solidFill>
                  <a:schemeClr val="dk1"/>
                </a:solidFill>
              </a:rPr>
              <a:t>, uses GitHub Actions to deploy and test it automatically.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Tie to the professional world: DevOps is a top skill for modern database developers and administrators.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Transition: “Even as tools evolve, one thing remains constant — SQL continues to be the foundation for structured data.”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g3a116e72569_0_16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7" name="Google Shape;257;g3a116e72569_0_16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Reinforce the idea that </a:t>
            </a:r>
            <a:r>
              <a:rPr b="1" lang="en-GB">
                <a:solidFill>
                  <a:schemeClr val="dk1"/>
                </a:solidFill>
              </a:rPr>
              <a:t>SQL has adapted</a:t>
            </a:r>
            <a:r>
              <a:rPr lang="en-GB">
                <a:solidFill>
                  <a:schemeClr val="dk1"/>
                </a:solidFill>
              </a:rPr>
              <a:t> to every generation of data technology.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Example: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SQL in </a:t>
            </a:r>
            <a:r>
              <a:rPr b="1" lang="en-GB">
                <a:solidFill>
                  <a:schemeClr val="dk1"/>
                </a:solidFill>
              </a:rPr>
              <a:t>PostgreSQL</a:t>
            </a:r>
            <a:r>
              <a:rPr lang="en-GB">
                <a:solidFill>
                  <a:schemeClr val="dk1"/>
                </a:solidFill>
              </a:rPr>
              <a:t> manages relational and JSON data.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SQL in </a:t>
            </a:r>
            <a:r>
              <a:rPr b="1" lang="en-GB">
                <a:solidFill>
                  <a:schemeClr val="dk1"/>
                </a:solidFill>
              </a:rPr>
              <a:t>BigQuery</a:t>
            </a:r>
            <a:r>
              <a:rPr lang="en-GB">
                <a:solidFill>
                  <a:schemeClr val="dk1"/>
                </a:solidFill>
              </a:rPr>
              <a:t> runs analytics at petabyte scale.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Revisit core relational learning outcomes: students’ SQL knowledge is </a:t>
            </a:r>
            <a:r>
              <a:rPr i="1" lang="en-GB">
                <a:solidFill>
                  <a:schemeClr val="dk1"/>
                </a:solidFill>
              </a:rPr>
              <a:t>future-proof.</a:t>
            </a:r>
            <a:br>
              <a:rPr i="1" lang="en-GB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Demonstrate an example of hybrid SQL:</a:t>
            </a:r>
            <a:br>
              <a:rPr lang="en-GB">
                <a:solidFill>
                  <a:schemeClr val="dk1"/>
                </a:solidFill>
              </a:rPr>
            </a:b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 customer_id, SUM(amount)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FROM transactions, jsonb_each_text(details)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GROUP BY customer_id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ORDER BY SUM(amount) DESC;</a:t>
            </a:r>
            <a:endParaRPr>
              <a:solidFill>
                <a:srgbClr val="188038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 (Shows relational + JSON handling in PostgreSQL.)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Connect to </a:t>
            </a:r>
            <a:r>
              <a:rPr b="1" lang="en-GB">
                <a:solidFill>
                  <a:schemeClr val="dk1"/>
                </a:solidFill>
              </a:rPr>
              <a:t>Module 7 (Advanced SQL)</a:t>
            </a:r>
            <a:r>
              <a:rPr lang="en-GB">
                <a:solidFill>
                  <a:schemeClr val="dk1"/>
                </a:solidFill>
              </a:rPr>
              <a:t> — everything they learned there still applies in modern analytics and cloud systems.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Encourage students to view SQL as a “lingua franca” of data professionals.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Transition: “Let’s look at what a modern data professional’s toolkit looks like in this environment.”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2" name="Google Shape;262;g3a116e72569_0_1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3" name="Google Shape;263;g3a116e72569_0_1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Emphasize that </a:t>
            </a:r>
            <a:r>
              <a:rPr b="1" lang="en-GB">
                <a:solidFill>
                  <a:schemeClr val="dk1"/>
                </a:solidFill>
              </a:rPr>
              <a:t>database design and SQL</a:t>
            </a:r>
            <a:r>
              <a:rPr lang="en-GB">
                <a:solidFill>
                  <a:schemeClr val="dk1"/>
                </a:solidFill>
              </a:rPr>
              <a:t> are the foundation, not the end point.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Encourage students to think of themselves as </a:t>
            </a:r>
            <a:r>
              <a:rPr i="1" lang="en-GB">
                <a:solidFill>
                  <a:schemeClr val="dk1"/>
                </a:solidFill>
              </a:rPr>
              <a:t>data professionals</a:t>
            </a:r>
            <a:r>
              <a:rPr lang="en-GB">
                <a:solidFill>
                  <a:schemeClr val="dk1"/>
                </a:solidFill>
              </a:rPr>
              <a:t>, not just programmers.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Connect to </a:t>
            </a:r>
            <a:r>
              <a:rPr b="1" lang="en-GB">
                <a:solidFill>
                  <a:schemeClr val="dk1"/>
                </a:solidFill>
              </a:rPr>
              <a:t>career pathways</a:t>
            </a:r>
            <a:r>
              <a:rPr lang="en-GB">
                <a:solidFill>
                  <a:schemeClr val="dk1"/>
                </a:solidFill>
              </a:rPr>
              <a:t> discussed in Slide 4 — DB developer, data engineer, analyst.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Mention the growing convergence between </a:t>
            </a:r>
            <a:r>
              <a:rPr b="1" lang="en-GB">
                <a:solidFill>
                  <a:schemeClr val="dk1"/>
                </a:solidFill>
              </a:rPr>
              <a:t>software engineering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b="1" lang="en-GB">
                <a:solidFill>
                  <a:schemeClr val="dk1"/>
                </a:solidFill>
              </a:rPr>
              <a:t>analytics</a:t>
            </a:r>
            <a:r>
              <a:rPr lang="en-GB">
                <a:solidFill>
                  <a:schemeClr val="dk1"/>
                </a:solidFill>
              </a:rPr>
              <a:t>, and </a:t>
            </a:r>
            <a:r>
              <a:rPr b="1" lang="en-GB">
                <a:solidFill>
                  <a:schemeClr val="dk1"/>
                </a:solidFill>
              </a:rPr>
              <a:t>AI pipelines.</a:t>
            </a:r>
            <a:br>
              <a:rPr b="1" lang="en-GB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Suggest portfolio-building ideas: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Publish Lab Tracker database schema + SQL scripts on GitHub.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Build a small analytics dashboard with real data.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-GB">
                <a:solidFill>
                  <a:schemeClr val="dk1"/>
                </a:solidFill>
              </a:rPr>
              <a:t>Document EER models and normalization process.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Encourage lifelong learning — new tools come and go, but </a:t>
            </a:r>
            <a:r>
              <a:rPr b="1" lang="en-GB">
                <a:solidFill>
                  <a:schemeClr val="dk1"/>
                </a:solidFill>
              </a:rPr>
              <a:t>data modeling, SQL logic, and ethics</a:t>
            </a:r>
            <a:r>
              <a:rPr lang="en-GB">
                <a:solidFill>
                  <a:schemeClr val="dk1"/>
                </a:solidFill>
              </a:rPr>
              <a:t> stay relevant.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Transition: “Now let’s wrap up the course by connecting all our learning outcomes and reflecting on your growth as database designers.”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g3a116e72569_0_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9" name="Google Shape;269;g3a116e72569_0_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g3a116e72569_0_1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74" name="Google Shape;274;g3a116e72569_0_1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This slide serves as a </a:t>
            </a:r>
            <a:r>
              <a:rPr b="1" lang="en-GB">
                <a:solidFill>
                  <a:schemeClr val="dk1"/>
                </a:solidFill>
              </a:rPr>
              <a:t>course summary checkpoint.</a:t>
            </a:r>
            <a:br>
              <a:rPr b="1" lang="en-GB">
                <a:solidFill>
                  <a:schemeClr val="dk1"/>
                </a:solidFill>
              </a:rPr>
            </a:b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Read through the outcomes and ask students to self-assess which ones they now feel most confident about.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Reinforce that all outcomes have been practiced through the </a:t>
            </a:r>
            <a:r>
              <a:rPr b="1" lang="en-GB">
                <a:solidFill>
                  <a:schemeClr val="dk1"/>
                </a:solidFill>
              </a:rPr>
              <a:t>Lab Tracker project</a:t>
            </a:r>
            <a:r>
              <a:rPr lang="en-GB">
                <a:solidFill>
                  <a:schemeClr val="dk1"/>
                </a:solidFill>
              </a:rPr>
              <a:t>, from conceptual design to cloud integration.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Highlight the logical flow: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1️⃣ Understand → 2️⃣ Design → 3️⃣ Implement → 4️⃣ Secure → 5️⃣ Manage → 6️⃣ Extend to Analytics.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Encourage reflection: </a:t>
            </a:r>
            <a:r>
              <a:rPr i="1" lang="en-GB">
                <a:solidFill>
                  <a:schemeClr val="dk1"/>
                </a:solidFill>
              </a:rPr>
              <a:t>“Which LO felt most challenging at first? Which one now feels natural?”</a:t>
            </a:r>
            <a:br>
              <a:rPr i="1" lang="en-GB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Transition: “Now, let’s reflect on how these skills translate from student work to professional practice.”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g3a116e72569_0_1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0" name="Google Shape;280;g3a116e72569_0_1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Emphasize the transformation: from understanding database theory to implementing working systems.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Encourage students to highlight their </a:t>
            </a:r>
            <a:r>
              <a:rPr b="1" lang="en-GB">
                <a:solidFill>
                  <a:schemeClr val="dk1"/>
                </a:solidFill>
              </a:rPr>
              <a:t>Lab Tracker project</a:t>
            </a:r>
            <a:r>
              <a:rPr lang="en-GB">
                <a:solidFill>
                  <a:schemeClr val="dk1"/>
                </a:solidFill>
              </a:rPr>
              <a:t> in portfolios and interviews — it demonstrates complete lifecycle skills.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Discuss real-world equivalents: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Conceptual design = requirements analysis.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SQL scripting = backend data operations.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-GB">
                <a:solidFill>
                  <a:schemeClr val="dk1"/>
                </a:solidFill>
              </a:rPr>
              <a:t>Access control &amp; transactions = production reliability.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Suggest reflection activity: </a:t>
            </a:r>
            <a:r>
              <a:rPr i="1" lang="en-GB">
                <a:solidFill>
                  <a:schemeClr val="dk1"/>
                </a:solidFill>
              </a:rPr>
              <a:t>“What concept from this course do you now see everywhere in technology?”</a:t>
            </a:r>
            <a:br>
              <a:rPr i="1" lang="en-GB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GB">
                <a:solidFill>
                  <a:schemeClr val="dk1"/>
                </a:solidFill>
              </a:rPr>
              <a:t>Transition: “Let’s talk about what we learned from common project patterns and how we can improve as designers.”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a116e72569_0_1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a116e72569_0_1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g3a116e72569_0_1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2" name="Google Shape;292;g3a116e72569_0_1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a116e72569_0_19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98" name="Google Shape;298;g3a116e72569_0_19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2" name="Shape 3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3" name="Google Shape;303;g3a116e72569_0_2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04" name="Google Shape;304;g3a116e72569_0_2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8" name="Shape 3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9" name="Google Shape;309;g3a116e72569_0_2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0" name="Google Shape;310;g3a116e72569_0_2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4" name="Shape 3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5" name="Google Shape;315;g3a116e72569_0_21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6" name="Google Shape;316;g3a116e72569_0_2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GB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8.xml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9.xml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1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2.xml"/></Relationships>
</file>

<file path=ppt/slides/_rels/slide3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3.xml"/></Relationships>
</file>

<file path=ppt/slides/_rels/slide3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4.xml"/></Relationships>
</file>

<file path=ppt/slides/_rels/slide3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5.xml"/></Relationships>
</file>

<file path=ppt/slides/_rels/slide3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6.xml"/></Relationships>
</file>

<file path=ppt/slides/_rels/slide3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7.xml"/></Relationships>
</file>

<file path=ppt/slides/_rels/slide3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8.xml"/></Relationships>
</file>

<file path=ppt/slides/_rels/slide3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9.xml"/></Relationships>
</file>

<file path=ppt/slides/_rels/slide4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0.xml"/></Relationships>
</file>

<file path=ppt/slides/_rels/slide4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1.xml"/></Relationships>
</file>

<file path=ppt/slides/_rels/slide4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2.xml"/></Relationships>
</file>

<file path=ppt/slides/_rels/slide4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3.xml"/></Relationships>
</file>

<file path=ppt/slides/_rels/slide4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4.xml"/></Relationships>
</file>

<file path=ppt/slides/_rels/slide4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Module 12 – Current Trends &amp; Project Integration</a:t>
            </a:r>
            <a:endParaRPr/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relational database foundations extend into modern data ecosystems.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 1 – The Journey So Far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p1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Data to Decisions</a:t>
            </a:r>
            <a:endParaRPr/>
          </a:p>
        </p:txBody>
      </p:sp>
      <p:sp>
        <p:nvSpPr>
          <p:cNvPr id="66" name="Google Shape;66;p1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Data</a:t>
            </a:r>
            <a:r>
              <a:rPr lang="en-GB">
                <a:solidFill>
                  <a:schemeClr val="dk1"/>
                </a:solidFill>
              </a:rPr>
              <a:t> are </a:t>
            </a:r>
            <a:r>
              <a:rPr i="1" lang="en-GB">
                <a:solidFill>
                  <a:schemeClr val="dk1"/>
                </a:solidFill>
              </a:rPr>
              <a:t>raw facts</a:t>
            </a:r>
            <a:r>
              <a:rPr lang="en-GB">
                <a:solidFill>
                  <a:schemeClr val="dk1"/>
                </a:solidFill>
              </a:rPr>
              <a:t> — unprocessed observations or measurements.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Information</a:t>
            </a:r>
            <a:r>
              <a:rPr lang="en-GB">
                <a:solidFill>
                  <a:schemeClr val="dk1"/>
                </a:solidFill>
              </a:rPr>
              <a:t> is </a:t>
            </a:r>
            <a:r>
              <a:rPr i="1" lang="en-GB">
                <a:solidFill>
                  <a:schemeClr val="dk1"/>
                </a:solidFill>
              </a:rPr>
              <a:t>data with context and meaning</a:t>
            </a:r>
            <a:r>
              <a:rPr lang="en-GB">
                <a:solidFill>
                  <a:schemeClr val="dk1"/>
                </a:solidFill>
              </a:rPr>
              <a:t> — processed, organized, and interpreted.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Databases exist to </a:t>
            </a:r>
            <a:r>
              <a:rPr b="1" lang="en-GB">
                <a:solidFill>
                  <a:schemeClr val="dk1"/>
                </a:solidFill>
              </a:rPr>
              <a:t>transform data into useful information</a:t>
            </a:r>
            <a:r>
              <a:rPr lang="en-GB">
                <a:solidFill>
                  <a:schemeClr val="dk1"/>
                </a:solidFill>
              </a:rPr>
              <a:t> that supports decisions.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i="1" lang="en-GB">
                <a:solidFill>
                  <a:schemeClr val="dk1"/>
                </a:solidFill>
              </a:rPr>
              <a:t>Good database design ensures data integrity → reliable decisions.</a:t>
            </a:r>
            <a:br>
              <a:rPr i="1" lang="en-GB">
                <a:solidFill>
                  <a:schemeClr val="dk1"/>
                </a:solidFill>
              </a:rPr>
            </a:b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Our Relational Journey</a:t>
            </a:r>
            <a:endParaRPr/>
          </a:p>
        </p:txBody>
      </p:sp>
      <p:sp>
        <p:nvSpPr>
          <p:cNvPr id="72" name="Google Shape;72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We began with </a:t>
            </a:r>
            <a:r>
              <a:rPr b="1" lang="en-GB">
                <a:solidFill>
                  <a:schemeClr val="dk1"/>
                </a:solidFill>
              </a:rPr>
              <a:t>conceptual modeling</a:t>
            </a:r>
            <a:r>
              <a:rPr lang="en-GB">
                <a:solidFill>
                  <a:schemeClr val="dk1"/>
                </a:solidFill>
              </a:rPr>
              <a:t> — turning </a:t>
            </a:r>
            <a:r>
              <a:rPr i="1" lang="en-GB">
                <a:solidFill>
                  <a:schemeClr val="dk1"/>
                </a:solidFill>
              </a:rPr>
              <a:t>real-world operations</a:t>
            </a:r>
            <a:r>
              <a:rPr lang="en-GB">
                <a:solidFill>
                  <a:schemeClr val="dk1"/>
                </a:solidFill>
              </a:rPr>
              <a:t> into entities and relationships.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Then moved to </a:t>
            </a:r>
            <a:r>
              <a:rPr b="1" lang="en-GB">
                <a:solidFill>
                  <a:schemeClr val="dk1"/>
                </a:solidFill>
              </a:rPr>
              <a:t>logical design</a:t>
            </a:r>
            <a:r>
              <a:rPr lang="en-GB">
                <a:solidFill>
                  <a:schemeClr val="dk1"/>
                </a:solidFill>
              </a:rPr>
              <a:t> — converting EER diagrams into relational schemas.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Applied </a:t>
            </a:r>
            <a:r>
              <a:rPr b="1" lang="en-GB">
                <a:solidFill>
                  <a:schemeClr val="dk1"/>
                </a:solidFill>
              </a:rPr>
              <a:t>functional dependencies and normalization</a:t>
            </a:r>
            <a:r>
              <a:rPr lang="en-GB">
                <a:solidFill>
                  <a:schemeClr val="dk1"/>
                </a:solidFill>
              </a:rPr>
              <a:t> to refine table structures.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Implemented with </a:t>
            </a:r>
            <a:r>
              <a:rPr b="1" lang="en-GB">
                <a:solidFill>
                  <a:schemeClr val="dk1"/>
                </a:solidFill>
              </a:rPr>
              <a:t>SQL</a:t>
            </a:r>
            <a:r>
              <a:rPr lang="en-GB">
                <a:solidFill>
                  <a:schemeClr val="dk1"/>
                </a:solidFill>
              </a:rPr>
              <a:t> — defining, manipulating, and securing data.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Finally, explored </a:t>
            </a:r>
            <a:r>
              <a:rPr b="1" lang="en-GB">
                <a:solidFill>
                  <a:schemeClr val="dk1"/>
                </a:solidFill>
              </a:rPr>
              <a:t>transactions, concurrency, and analytics</a:t>
            </a:r>
            <a:r>
              <a:rPr lang="en-GB">
                <a:solidFill>
                  <a:schemeClr val="dk1"/>
                </a:solidFill>
              </a:rPr>
              <a:t> to ensure consistency and insight.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Integrating the Lab Tracker Project</a:t>
            </a:r>
            <a:endParaRPr/>
          </a:p>
        </p:txBody>
      </p:sp>
      <p:sp>
        <p:nvSpPr>
          <p:cNvPr id="78" name="Google Shape;78;p1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b="1" lang="en-GB">
                <a:solidFill>
                  <a:schemeClr val="dk1"/>
                </a:solidFill>
              </a:rPr>
              <a:t>Lab Tracker</a:t>
            </a:r>
            <a:r>
              <a:rPr lang="en-GB">
                <a:solidFill>
                  <a:schemeClr val="dk1"/>
                </a:solidFill>
              </a:rPr>
              <a:t> applied the </a:t>
            </a:r>
            <a:r>
              <a:rPr i="1" lang="en-GB">
                <a:solidFill>
                  <a:schemeClr val="dk1"/>
                </a:solidFill>
              </a:rPr>
              <a:t>full database lifecycle</a:t>
            </a:r>
            <a:r>
              <a:rPr lang="en-GB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-GB" sz="1800">
                <a:solidFill>
                  <a:schemeClr val="dk1"/>
                </a:solidFill>
              </a:rPr>
              <a:t>Design:</a:t>
            </a:r>
            <a:r>
              <a:rPr lang="en-GB" sz="1800">
                <a:solidFill>
                  <a:schemeClr val="dk1"/>
                </a:solidFill>
              </a:rPr>
              <a:t> Conceptual → Logical → Physical schema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-GB" sz="1800">
                <a:solidFill>
                  <a:schemeClr val="dk1"/>
                </a:solidFill>
              </a:rPr>
              <a:t>Implementation:</a:t>
            </a:r>
            <a:r>
              <a:rPr lang="en-GB" sz="1800">
                <a:solidFill>
                  <a:schemeClr val="dk1"/>
                </a:solidFill>
              </a:rPr>
              <a:t> DDL, DML, constraints, and relationships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-GB" sz="1800">
                <a:solidFill>
                  <a:schemeClr val="dk1"/>
                </a:solidFill>
              </a:rPr>
              <a:t>Enhancement:</a:t>
            </a:r>
            <a:r>
              <a:rPr lang="en-GB" sz="1800">
                <a:solidFill>
                  <a:schemeClr val="dk1"/>
                </a:solidFill>
              </a:rPr>
              <a:t> Roles, views, triggers, and transactions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Demonstrated </a:t>
            </a:r>
            <a:r>
              <a:rPr b="1" lang="en-GB">
                <a:solidFill>
                  <a:schemeClr val="dk1"/>
                </a:solidFill>
              </a:rPr>
              <a:t>data integrity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b="1" lang="en-GB">
                <a:solidFill>
                  <a:schemeClr val="dk1"/>
                </a:solidFill>
              </a:rPr>
              <a:t>user access control</a:t>
            </a:r>
            <a:r>
              <a:rPr lang="en-GB">
                <a:solidFill>
                  <a:schemeClr val="dk1"/>
                </a:solidFill>
              </a:rPr>
              <a:t>, and </a:t>
            </a:r>
            <a:r>
              <a:rPr b="1" lang="en-GB">
                <a:solidFill>
                  <a:schemeClr val="dk1"/>
                </a:solidFill>
              </a:rPr>
              <a:t>procedural automation</a:t>
            </a:r>
            <a:r>
              <a:rPr lang="en-GB">
                <a:solidFill>
                  <a:schemeClr val="dk1"/>
                </a:solidFill>
              </a:rPr>
              <a:t> in PostgreSQL.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Showcased how design theory translates into a </a:t>
            </a:r>
            <a:r>
              <a:rPr i="1" lang="en-GB">
                <a:solidFill>
                  <a:schemeClr val="dk1"/>
                </a:solidFill>
              </a:rPr>
              <a:t>working system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Google Shape;83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Coursework to Career</a:t>
            </a:r>
            <a:endParaRPr/>
          </a:p>
        </p:txBody>
      </p:sp>
      <p:sp>
        <p:nvSpPr>
          <p:cNvPr id="84" name="Google Shape;84;p1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Database skills are foundational</a:t>
            </a:r>
            <a:r>
              <a:rPr lang="en-GB">
                <a:solidFill>
                  <a:schemeClr val="dk1"/>
                </a:solidFill>
              </a:rPr>
              <a:t> in nearly every computing role.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Real-world applications of your learning: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-GB" sz="1800">
                <a:solidFill>
                  <a:schemeClr val="dk1"/>
                </a:solidFill>
              </a:rPr>
              <a:t>Database Designer / Developer:</a:t>
            </a:r>
            <a:r>
              <a:rPr lang="en-GB" sz="1800">
                <a:solidFill>
                  <a:schemeClr val="dk1"/>
                </a:solidFill>
              </a:rPr>
              <a:t> builds schemas, enforces constraints, optimizes performance.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-GB" sz="1800">
                <a:solidFill>
                  <a:schemeClr val="dk1"/>
                </a:solidFill>
              </a:rPr>
              <a:t>Backend Developer:</a:t>
            </a:r>
            <a:r>
              <a:rPr lang="en-GB" sz="1800">
                <a:solidFill>
                  <a:schemeClr val="dk1"/>
                </a:solidFill>
              </a:rPr>
              <a:t> integrates SQL into applications and APIs.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-GB" sz="1800">
                <a:solidFill>
                  <a:schemeClr val="dk1"/>
                </a:solidFill>
              </a:rPr>
              <a:t>Data Analyst / BI Developer:</a:t>
            </a:r>
            <a:r>
              <a:rPr lang="en-GB" sz="1800">
                <a:solidFill>
                  <a:schemeClr val="dk1"/>
                </a:solidFill>
              </a:rPr>
              <a:t> queries, aggregates, and visualizes data.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-GB" sz="1800">
                <a:solidFill>
                  <a:schemeClr val="dk1"/>
                </a:solidFill>
              </a:rPr>
              <a:t>Database Administrator (DBA):</a:t>
            </a:r>
            <a:r>
              <a:rPr lang="en-GB" sz="1800">
                <a:solidFill>
                  <a:schemeClr val="dk1"/>
                </a:solidFill>
              </a:rPr>
              <a:t> manages access, backups, tuning, and security.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SQL proficiency and data modeling are </a:t>
            </a:r>
            <a:r>
              <a:rPr b="1" lang="en-GB">
                <a:solidFill>
                  <a:schemeClr val="dk1"/>
                </a:solidFill>
              </a:rPr>
              <a:t>high-demand, transferable skills</a:t>
            </a:r>
            <a:r>
              <a:rPr lang="en-GB">
                <a:solidFill>
                  <a:schemeClr val="dk1"/>
                </a:solidFill>
              </a:rPr>
              <a:t> across industries.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 2 – Databases &amp; Web Technology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Three-Tier Architecture</a:t>
            </a:r>
            <a:endParaRPr/>
          </a:p>
        </p:txBody>
      </p:sp>
      <p:sp>
        <p:nvSpPr>
          <p:cNvPr id="95" name="Google Shape;95;p2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Modern applications follow a </a:t>
            </a:r>
            <a:r>
              <a:rPr b="1" lang="en-GB">
                <a:solidFill>
                  <a:schemeClr val="dk1"/>
                </a:solidFill>
              </a:rPr>
              <a:t>three-tier design</a:t>
            </a:r>
            <a:r>
              <a:rPr lang="en-GB">
                <a:solidFill>
                  <a:schemeClr val="dk1"/>
                </a:solidFill>
              </a:rPr>
              <a:t> for scalability and security: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 sz="1800">
                <a:solidFill>
                  <a:schemeClr val="dk1"/>
                </a:solidFill>
              </a:rPr>
              <a:t>Presentation Tier</a:t>
            </a:r>
            <a:r>
              <a:rPr lang="en-GB" sz="1800">
                <a:solidFill>
                  <a:schemeClr val="dk1"/>
                </a:solidFill>
              </a:rPr>
              <a:t> – User interface (browser, app, dashboard)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 sz="1800">
                <a:solidFill>
                  <a:schemeClr val="dk1"/>
                </a:solidFill>
              </a:rPr>
              <a:t>Application Tier</a:t>
            </a:r>
            <a:r>
              <a:rPr lang="en-GB" sz="1800">
                <a:solidFill>
                  <a:schemeClr val="dk1"/>
                </a:solidFill>
              </a:rPr>
              <a:t> – Server-side logic (business rules, validation, APIs)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 sz="1800">
                <a:solidFill>
                  <a:schemeClr val="dk1"/>
                </a:solidFill>
              </a:rPr>
              <a:t>Data Tier</a:t>
            </a:r>
            <a:r>
              <a:rPr lang="en-GB" sz="1800">
                <a:solidFill>
                  <a:schemeClr val="dk1"/>
                </a:solidFill>
              </a:rPr>
              <a:t> – Database server (PostgreSQL, MySQL, Oracle)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Each tier performs distinct tasks but communicates seamlessly through standard protocols.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Database operations (SQL queries) occur in the </a:t>
            </a:r>
            <a:r>
              <a:rPr b="1" lang="en-GB">
                <a:solidFill>
                  <a:schemeClr val="dk1"/>
                </a:solidFill>
              </a:rPr>
              <a:t>data tier</a:t>
            </a:r>
            <a:r>
              <a:rPr lang="en-GB">
                <a:solidFill>
                  <a:schemeClr val="dk1"/>
                </a:solidFill>
              </a:rPr>
              <a:t>, isolated from the user interface.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How Web Apps Connect</a:t>
            </a:r>
            <a:endParaRPr/>
          </a:p>
        </p:txBody>
      </p:sp>
      <p:sp>
        <p:nvSpPr>
          <p:cNvPr id="101" name="Google Shape;101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Applications interact with databases through </a:t>
            </a:r>
            <a:r>
              <a:rPr b="1" lang="en-GB">
                <a:solidFill>
                  <a:schemeClr val="dk1"/>
                </a:solidFill>
              </a:rPr>
              <a:t>drivers</a:t>
            </a:r>
            <a:r>
              <a:rPr lang="en-GB">
                <a:solidFill>
                  <a:schemeClr val="dk1"/>
                </a:solidFill>
              </a:rPr>
              <a:t> or </a:t>
            </a:r>
            <a:r>
              <a:rPr b="1" lang="en-GB">
                <a:solidFill>
                  <a:schemeClr val="dk1"/>
                </a:solidFill>
              </a:rPr>
              <a:t>connectors</a:t>
            </a:r>
            <a:r>
              <a:rPr lang="en-GB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Examples: </a:t>
            </a:r>
            <a:r>
              <a:rPr lang="en-GB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psycopg2</a:t>
            </a:r>
            <a:r>
              <a:rPr lang="en-GB" sz="1800">
                <a:solidFill>
                  <a:schemeClr val="dk1"/>
                </a:solidFill>
              </a:rPr>
              <a:t> (Python), </a:t>
            </a:r>
            <a:r>
              <a:rPr lang="en-GB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pg</a:t>
            </a:r>
            <a:r>
              <a:rPr lang="en-GB" sz="1800">
                <a:solidFill>
                  <a:schemeClr val="dk1"/>
                </a:solidFill>
              </a:rPr>
              <a:t> (Node.js), </a:t>
            </a:r>
            <a:r>
              <a:rPr lang="en-GB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JDBC</a:t>
            </a:r>
            <a:r>
              <a:rPr lang="en-GB" sz="1800">
                <a:solidFill>
                  <a:schemeClr val="dk1"/>
                </a:solidFill>
              </a:rPr>
              <a:t> (Java), </a:t>
            </a:r>
            <a:r>
              <a:rPr lang="en-GB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PDO</a:t>
            </a:r>
            <a:r>
              <a:rPr lang="en-GB" sz="1800">
                <a:solidFill>
                  <a:schemeClr val="dk1"/>
                </a:solidFill>
              </a:rPr>
              <a:t> (PHP)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SQL statements are sent to the DBMS via </a:t>
            </a:r>
            <a:r>
              <a:rPr b="1" lang="en-GB">
                <a:solidFill>
                  <a:schemeClr val="dk1"/>
                </a:solidFill>
              </a:rPr>
              <a:t>API calls</a:t>
            </a:r>
            <a:r>
              <a:rPr lang="en-GB">
                <a:solidFill>
                  <a:schemeClr val="dk1"/>
                </a:solidFill>
              </a:rPr>
              <a:t>, not directly by users.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Prepared statements</a:t>
            </a:r>
            <a:r>
              <a:rPr lang="en-GB">
                <a:solidFill>
                  <a:schemeClr val="dk1"/>
                </a:solidFill>
              </a:rPr>
              <a:t> protect against SQL injection and improve performance.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The app handles </a:t>
            </a:r>
            <a:r>
              <a:rPr b="1" lang="en-GB">
                <a:solidFill>
                  <a:schemeClr val="dk1"/>
                </a:solidFill>
              </a:rPr>
              <a:t>connection setup, execution, and error handling</a:t>
            </a:r>
            <a:r>
              <a:rPr lang="en-GB">
                <a:solidFill>
                  <a:schemeClr val="dk1"/>
                </a:solidFill>
              </a:rPr>
              <a:t>, returning results to the user interface.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Dynamic Data in Action</a:t>
            </a:r>
            <a:endParaRPr/>
          </a:p>
        </p:txBody>
      </p:sp>
      <p:sp>
        <p:nvSpPr>
          <p:cNvPr id="107" name="Google Shape;107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Web applications use </a:t>
            </a:r>
            <a:r>
              <a:rPr b="1" lang="en-GB">
                <a:solidFill>
                  <a:schemeClr val="dk1"/>
                </a:solidFill>
              </a:rPr>
              <a:t>SQL queries</a:t>
            </a:r>
            <a:r>
              <a:rPr lang="en-GB">
                <a:solidFill>
                  <a:schemeClr val="dk1"/>
                </a:solidFill>
              </a:rPr>
              <a:t> behind the scenes to serve live content.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SELECT</a:t>
            </a:r>
            <a:r>
              <a:rPr lang="en-GB" sz="1800">
                <a:solidFill>
                  <a:schemeClr val="dk1"/>
                </a:solidFill>
              </a:rPr>
              <a:t> → display information (e.g., products, courses, reports)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INSERT</a:t>
            </a:r>
            <a:r>
              <a:rPr lang="en-GB" sz="1800">
                <a:solidFill>
                  <a:schemeClr val="dk1"/>
                </a:solidFill>
              </a:rPr>
              <a:t>, </a:t>
            </a:r>
            <a:r>
              <a:rPr lang="en-GB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UPDATE</a:t>
            </a:r>
            <a:r>
              <a:rPr lang="en-GB" sz="1800">
                <a:solidFill>
                  <a:schemeClr val="dk1"/>
                </a:solidFill>
              </a:rPr>
              <a:t>, </a:t>
            </a:r>
            <a:r>
              <a:rPr lang="en-GB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DELETE</a:t>
            </a:r>
            <a:r>
              <a:rPr lang="en-GB" sz="1800">
                <a:solidFill>
                  <a:schemeClr val="dk1"/>
                </a:solidFill>
              </a:rPr>
              <a:t> → modify data based on user actions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Every user interaction — a form submission, login, or dashboard filter — translates to </a:t>
            </a:r>
            <a:r>
              <a:rPr b="1" lang="en-GB">
                <a:solidFill>
                  <a:schemeClr val="dk1"/>
                </a:solidFill>
              </a:rPr>
              <a:t>SQL commands</a:t>
            </a:r>
            <a:r>
              <a:rPr lang="en-GB">
                <a:solidFill>
                  <a:schemeClr val="dk1"/>
                </a:solidFill>
              </a:rPr>
              <a:t> executed by the app.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The database ensures </a:t>
            </a:r>
            <a:r>
              <a:rPr b="1" lang="en-GB">
                <a:solidFill>
                  <a:schemeClr val="dk1"/>
                </a:solidFill>
              </a:rPr>
              <a:t>consistency, accuracy, and persistence</a:t>
            </a:r>
            <a:r>
              <a:rPr lang="en-GB">
                <a:solidFill>
                  <a:schemeClr val="dk1"/>
                </a:solidFill>
              </a:rPr>
              <a:t> of all user-generated data.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Together, SQL + web logic = </a:t>
            </a:r>
            <a:r>
              <a:rPr i="1" lang="en-GB">
                <a:solidFill>
                  <a:schemeClr val="dk1"/>
                </a:solidFill>
              </a:rPr>
              <a:t>interactive, data-driven experiences.</a:t>
            </a:r>
            <a:endParaRPr i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Where Should the Rules Live?</a:t>
            </a:r>
            <a:endParaRPr/>
          </a:p>
        </p:txBody>
      </p:sp>
      <p:sp>
        <p:nvSpPr>
          <p:cNvPr id="113" name="Google Shape;113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Business rules</a:t>
            </a:r>
            <a:r>
              <a:rPr lang="en-GB">
                <a:solidFill>
                  <a:schemeClr val="dk1"/>
                </a:solidFill>
              </a:rPr>
              <a:t> can be enforced at multiple layers — but </a:t>
            </a:r>
            <a:r>
              <a:rPr b="1" lang="en-GB">
                <a:solidFill>
                  <a:schemeClr val="dk1"/>
                </a:solidFill>
              </a:rPr>
              <a:t>one layer must be authoritative.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Application layer: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Provides </a:t>
            </a:r>
            <a:r>
              <a:rPr i="1" lang="en-GB" sz="1800">
                <a:solidFill>
                  <a:schemeClr val="dk1"/>
                </a:solidFill>
              </a:rPr>
              <a:t>early validation</a:t>
            </a:r>
            <a:r>
              <a:rPr lang="en-GB" sz="1800">
                <a:solidFill>
                  <a:schemeClr val="dk1"/>
                </a:solidFill>
              </a:rPr>
              <a:t> (friendly feedback, field checks).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Ensures user experience and workflow logic.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Database layer: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Enforces </a:t>
            </a:r>
            <a:r>
              <a:rPr i="1" lang="en-GB" sz="1800">
                <a:solidFill>
                  <a:schemeClr val="dk1"/>
                </a:solidFill>
              </a:rPr>
              <a:t>non-negotiable integrity rules</a:t>
            </a:r>
            <a:r>
              <a:rPr lang="en-GB" sz="1800">
                <a:solidFill>
                  <a:schemeClr val="dk1"/>
                </a:solidFill>
              </a:rPr>
              <a:t> (constraints, FKs, triggers).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Guarantees correctness no matter which app or tool connects.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Best practice: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-GB" sz="1800">
                <a:solidFill>
                  <a:schemeClr val="dk1"/>
                </a:solidFill>
              </a:rPr>
              <a:t>Validate in the app for usability.</a:t>
            </a:r>
            <a:endParaRPr b="1"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-GB" sz="1800">
                <a:solidFill>
                  <a:schemeClr val="dk1"/>
                </a:solidFill>
              </a:rPr>
              <a:t>Enforce in the DB for integrity.</a:t>
            </a:r>
            <a:endParaRPr b="1"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7" name="Shape 1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8" name="Google Shape;118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Security Considerations</a:t>
            </a:r>
            <a:endParaRPr/>
          </a:p>
        </p:txBody>
      </p:sp>
      <p:sp>
        <p:nvSpPr>
          <p:cNvPr id="119" name="Google Shape;119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Databases hold the </a:t>
            </a:r>
            <a:r>
              <a:rPr b="1" lang="en-GB">
                <a:solidFill>
                  <a:schemeClr val="dk1"/>
                </a:solidFill>
              </a:rPr>
              <a:t>organization’s most valuable asset — data.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Effective security relies on </a:t>
            </a:r>
            <a:r>
              <a:rPr b="1" lang="en-GB">
                <a:solidFill>
                  <a:schemeClr val="dk1"/>
                </a:solidFill>
              </a:rPr>
              <a:t>layered defense: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 sz="1800">
                <a:solidFill>
                  <a:schemeClr val="dk1"/>
                </a:solidFill>
              </a:rPr>
              <a:t>Authentication:</a:t>
            </a:r>
            <a:r>
              <a:rPr lang="en-GB" sz="1800">
                <a:solidFill>
                  <a:schemeClr val="dk1"/>
                </a:solidFill>
              </a:rPr>
              <a:t> Verify </a:t>
            </a:r>
            <a:r>
              <a:rPr i="1" lang="en-GB" sz="1800">
                <a:solidFill>
                  <a:schemeClr val="dk1"/>
                </a:solidFill>
              </a:rPr>
              <a:t>who</a:t>
            </a:r>
            <a:r>
              <a:rPr lang="en-GB" sz="1800">
                <a:solidFill>
                  <a:schemeClr val="dk1"/>
                </a:solidFill>
              </a:rPr>
              <a:t> is accessing the DB.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 sz="1800">
                <a:solidFill>
                  <a:schemeClr val="dk1"/>
                </a:solidFill>
              </a:rPr>
              <a:t>Authorization:</a:t>
            </a:r>
            <a:r>
              <a:rPr lang="en-GB" sz="1800">
                <a:solidFill>
                  <a:schemeClr val="dk1"/>
                </a:solidFill>
              </a:rPr>
              <a:t> Define </a:t>
            </a:r>
            <a:r>
              <a:rPr i="1" lang="en-GB" sz="1800">
                <a:solidFill>
                  <a:schemeClr val="dk1"/>
                </a:solidFill>
              </a:rPr>
              <a:t>what</a:t>
            </a:r>
            <a:r>
              <a:rPr lang="en-GB" sz="1800">
                <a:solidFill>
                  <a:schemeClr val="dk1"/>
                </a:solidFill>
              </a:rPr>
              <a:t> each user can do (GRANT / REVOKE).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 sz="1800">
                <a:solidFill>
                  <a:schemeClr val="dk1"/>
                </a:solidFill>
              </a:rPr>
              <a:t>Access Control:</a:t>
            </a:r>
            <a:r>
              <a:rPr lang="en-GB" sz="1800">
                <a:solidFill>
                  <a:schemeClr val="dk1"/>
                </a:solidFill>
              </a:rPr>
              <a:t> Use </a:t>
            </a:r>
            <a:r>
              <a:rPr b="1" lang="en-GB" sz="1800">
                <a:solidFill>
                  <a:schemeClr val="dk1"/>
                </a:solidFill>
              </a:rPr>
              <a:t>roles and privileges</a:t>
            </a:r>
            <a:r>
              <a:rPr lang="en-GB" sz="1800">
                <a:solidFill>
                  <a:schemeClr val="dk1"/>
                </a:solidFill>
              </a:rPr>
              <a:t> for least-privilege access.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 sz="1800">
                <a:solidFill>
                  <a:schemeClr val="dk1"/>
                </a:solidFill>
              </a:rPr>
              <a:t>Input Validation &amp; Prepared Statements:</a:t>
            </a:r>
            <a:r>
              <a:rPr lang="en-GB" sz="1800">
                <a:solidFill>
                  <a:schemeClr val="dk1"/>
                </a:solidFill>
              </a:rPr>
              <a:t> Prevent SQL injection and data corruption.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Secure databases use </a:t>
            </a:r>
            <a:r>
              <a:rPr b="1" lang="en-GB">
                <a:solidFill>
                  <a:schemeClr val="dk1"/>
                </a:solidFill>
              </a:rPr>
              <a:t>views</a:t>
            </a:r>
            <a:r>
              <a:rPr lang="en-GB">
                <a:solidFill>
                  <a:schemeClr val="dk1"/>
                </a:solidFill>
              </a:rPr>
              <a:t> to expose only necessary data.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Balance </a:t>
            </a:r>
            <a:r>
              <a:rPr b="1" lang="en-GB">
                <a:solidFill>
                  <a:schemeClr val="dk1"/>
                </a:solidFill>
              </a:rPr>
              <a:t>convenience vs protection</a:t>
            </a:r>
            <a:r>
              <a:rPr lang="en-GB">
                <a:solidFill>
                  <a:schemeClr val="dk1"/>
                </a:solidFill>
              </a:rPr>
              <a:t> — not every user needs direct SQL access.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Connection Pooling &amp; Performance</a:t>
            </a:r>
            <a:endParaRPr/>
          </a:p>
        </p:txBody>
      </p:sp>
      <p:sp>
        <p:nvSpPr>
          <p:cNvPr id="125" name="Google Shape;125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Opening and closing a DB connection is </a:t>
            </a:r>
            <a:r>
              <a:rPr b="1" lang="en-GB">
                <a:solidFill>
                  <a:schemeClr val="dk1"/>
                </a:solidFill>
              </a:rPr>
              <a:t>expensive</a:t>
            </a:r>
            <a:r>
              <a:rPr lang="en-GB">
                <a:solidFill>
                  <a:schemeClr val="dk1"/>
                </a:solidFill>
              </a:rPr>
              <a:t> — involves authentication, memory allocation, and session setup.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Connection pooling</a:t>
            </a:r>
            <a:r>
              <a:rPr lang="en-GB">
                <a:solidFill>
                  <a:schemeClr val="dk1"/>
                </a:solidFill>
              </a:rPr>
              <a:t> reuses a small set of open connections across many users.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Benefits: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Reduces connection overhead.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Improves response time under heavy load.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Enables efficient resource management for concurrent requests.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Most web frameworks include built-in </a:t>
            </a:r>
            <a:r>
              <a:rPr b="1" lang="en-GB">
                <a:solidFill>
                  <a:schemeClr val="dk1"/>
                </a:solidFill>
              </a:rPr>
              <a:t>connection pool managers</a:t>
            </a:r>
            <a:r>
              <a:rPr lang="en-GB">
                <a:solidFill>
                  <a:schemeClr val="dk1"/>
                </a:solidFill>
              </a:rPr>
              <a:t> (e.g.,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pgpool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SQLAlchemy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JDBC Pool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Npgsql</a:t>
            </a:r>
            <a:r>
              <a:rPr lang="en-GB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Validating Before Commit</a:t>
            </a:r>
            <a:endParaRPr/>
          </a:p>
        </p:txBody>
      </p:sp>
      <p:sp>
        <p:nvSpPr>
          <p:cNvPr id="131" name="Google Shape;13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Validation</a:t>
            </a:r>
            <a:r>
              <a:rPr lang="en-GB">
                <a:solidFill>
                  <a:schemeClr val="dk1"/>
                </a:solidFill>
              </a:rPr>
              <a:t> ensures that only correct and consistent data is stored.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Use </a:t>
            </a:r>
            <a:r>
              <a:rPr b="1" lang="en-GB">
                <a:solidFill>
                  <a:schemeClr val="dk1"/>
                </a:solidFill>
              </a:rPr>
              <a:t>multiple layers of defense:</a:t>
            </a:r>
            <a:endParaRPr b="1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 sz="1800">
                <a:solidFill>
                  <a:schemeClr val="dk1"/>
                </a:solidFill>
              </a:rPr>
              <a:t>Application validation:</a:t>
            </a:r>
            <a:r>
              <a:rPr lang="en-GB" sz="1800">
                <a:solidFill>
                  <a:schemeClr val="dk1"/>
                </a:solidFill>
              </a:rPr>
              <a:t> checks user input (e.g., date formats, required fields).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 sz="1800">
                <a:solidFill>
                  <a:schemeClr val="dk1"/>
                </a:solidFill>
              </a:rPr>
              <a:t>Database constraints:</a:t>
            </a:r>
            <a:r>
              <a:rPr lang="en-GB" sz="1800">
                <a:solidFill>
                  <a:schemeClr val="dk1"/>
                </a:solidFill>
              </a:rPr>
              <a:t> enforce rules structurally (</a:t>
            </a:r>
            <a:r>
              <a:rPr lang="en-GB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NOT NULL</a:t>
            </a:r>
            <a:r>
              <a:rPr lang="en-GB" sz="1800">
                <a:solidFill>
                  <a:schemeClr val="dk1"/>
                </a:solidFill>
              </a:rPr>
              <a:t>, </a:t>
            </a:r>
            <a:r>
              <a:rPr lang="en-GB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CHECK</a:t>
            </a:r>
            <a:r>
              <a:rPr lang="en-GB" sz="1800">
                <a:solidFill>
                  <a:schemeClr val="dk1"/>
                </a:solidFill>
              </a:rPr>
              <a:t>, </a:t>
            </a:r>
            <a:r>
              <a:rPr lang="en-GB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UNIQUE</a:t>
            </a:r>
            <a:r>
              <a:rPr lang="en-GB" sz="1800">
                <a:solidFill>
                  <a:schemeClr val="dk1"/>
                </a:solidFill>
              </a:rPr>
              <a:t>, </a:t>
            </a:r>
            <a:r>
              <a:rPr lang="en-GB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FOREIGN KEY</a:t>
            </a:r>
            <a:r>
              <a:rPr lang="en-GB" sz="1800">
                <a:solidFill>
                  <a:schemeClr val="dk1"/>
                </a:solidFill>
              </a:rPr>
              <a:t>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AutoNum type="arabicPeriod"/>
            </a:pPr>
            <a:r>
              <a:rPr b="1" lang="en-GB" sz="1800">
                <a:solidFill>
                  <a:schemeClr val="dk1"/>
                </a:solidFill>
              </a:rPr>
              <a:t>Triggers &amp; Procedures:</a:t>
            </a:r>
            <a:r>
              <a:rPr lang="en-GB" sz="1800">
                <a:solidFill>
                  <a:schemeClr val="dk1"/>
                </a:solidFill>
              </a:rPr>
              <a:t> implement </a:t>
            </a:r>
            <a:r>
              <a:rPr i="1" lang="en-GB" sz="1800">
                <a:solidFill>
                  <a:schemeClr val="dk1"/>
                </a:solidFill>
              </a:rPr>
              <a:t>business logic</a:t>
            </a:r>
            <a:r>
              <a:rPr lang="en-GB" sz="1800">
                <a:solidFill>
                  <a:schemeClr val="dk1"/>
                </a:solidFill>
              </a:rPr>
              <a:t> before </a:t>
            </a:r>
            <a:r>
              <a:rPr lang="en-GB" sz="1800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COMMIT</a:t>
            </a:r>
            <a:r>
              <a:rPr lang="en-GB" sz="1800">
                <a:solidFill>
                  <a:schemeClr val="dk1"/>
                </a:solidFill>
              </a:rPr>
              <a:t>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 transaction should only commit when </a:t>
            </a:r>
            <a:r>
              <a:rPr b="1" lang="en-GB">
                <a:solidFill>
                  <a:schemeClr val="dk1"/>
                </a:solidFill>
              </a:rPr>
              <a:t>all validation conditions are satisfied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Example: a trigger can reject an order if inventory &lt; requested quantity.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APIs &amp; RESTful Data Access</a:t>
            </a:r>
            <a:endParaRPr/>
          </a:p>
        </p:txBody>
      </p:sp>
      <p:sp>
        <p:nvSpPr>
          <p:cNvPr id="137" name="Google Shape;137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</a:rPr>
              <a:t>APIs </a:t>
            </a:r>
            <a:r>
              <a:rPr lang="en-GB" sz="1400">
                <a:solidFill>
                  <a:schemeClr val="dk1"/>
                </a:solidFill>
              </a:rPr>
              <a:t>provide a </a:t>
            </a:r>
            <a:r>
              <a:rPr i="1" lang="en-GB" sz="1400">
                <a:solidFill>
                  <a:schemeClr val="dk1"/>
                </a:solidFill>
              </a:rPr>
              <a:t>controlled, secure bridge</a:t>
            </a:r>
            <a:r>
              <a:rPr lang="en-GB" sz="1400">
                <a:solidFill>
                  <a:schemeClr val="dk1"/>
                </a:solidFill>
              </a:rPr>
              <a:t> between web applications and databases.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</a:rPr>
              <a:t>REST (Representational State Transfer)</a:t>
            </a:r>
            <a:r>
              <a:rPr lang="en-GB" sz="1400">
                <a:solidFill>
                  <a:schemeClr val="dk1"/>
                </a:solidFill>
              </a:rPr>
              <a:t> is the most common style of API used today.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REST maps database operations to </a:t>
            </a:r>
            <a:r>
              <a:rPr b="1" lang="en-GB" sz="1400">
                <a:solidFill>
                  <a:schemeClr val="dk1"/>
                </a:solidFill>
              </a:rPr>
              <a:t>HTTP verbs</a:t>
            </a:r>
            <a:r>
              <a:rPr lang="en-GB" sz="1400">
                <a:solidFill>
                  <a:schemeClr val="dk1"/>
                </a:solidFill>
              </a:rPr>
              <a:t>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Data exchanged between app and database is usually in </a:t>
            </a:r>
            <a:r>
              <a:rPr b="1" lang="en-GB" sz="1400">
                <a:solidFill>
                  <a:schemeClr val="dk1"/>
                </a:solidFill>
              </a:rPr>
              <a:t>JSON</a:t>
            </a:r>
            <a:r>
              <a:rPr lang="en-GB" sz="1400">
                <a:solidFill>
                  <a:schemeClr val="dk1"/>
                </a:solidFill>
              </a:rPr>
              <a:t> format.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APIs enforce business rules and protect the database from direct public access.</a:t>
            </a:r>
            <a:endParaRPr sz="1400">
              <a:solidFill>
                <a:schemeClr val="dk1"/>
              </a:solidFill>
            </a:endParaRPr>
          </a:p>
        </p:txBody>
      </p:sp>
      <p:graphicFrame>
        <p:nvGraphicFramePr>
          <p:cNvPr id="138" name="Google Shape;138;p27"/>
          <p:cNvGraphicFramePr/>
          <p:nvPr/>
        </p:nvGraphicFramePr>
        <p:xfrm>
          <a:off x="867100" y="195230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{AA346B61-747F-4E6A-B312-0C31826E2838}</a:tableStyleId>
              </a:tblPr>
              <a:tblGrid>
                <a:gridCol w="2308150"/>
                <a:gridCol w="1278825"/>
                <a:gridCol w="1746700"/>
              </a:tblGrid>
              <a:tr h="1000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Operation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HTTP Verb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SQL Equivalent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Retrieve data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GET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SELECT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Insert new record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POST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INSERT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Update existing record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PUT</a:t>
                      </a:r>
                      <a:r>
                        <a:rPr lang="en-GB" sz="1100"/>
                        <a:t> / </a:t>
                      </a: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PATCH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UPDATE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153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Delete record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DELETE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DELETE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p2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In RESTful design, </a:t>
            </a:r>
            <a:r>
              <a:rPr b="1" lang="en-GB" sz="1400">
                <a:solidFill>
                  <a:schemeClr val="dk1"/>
                </a:solidFill>
              </a:rPr>
              <a:t>database tables</a:t>
            </a:r>
            <a:r>
              <a:rPr lang="en-GB" sz="1400">
                <a:solidFill>
                  <a:schemeClr val="dk1"/>
                </a:solidFill>
              </a:rPr>
              <a:t> often map to </a:t>
            </a:r>
            <a:r>
              <a:rPr b="1" lang="en-GB" sz="1400">
                <a:solidFill>
                  <a:schemeClr val="dk1"/>
                </a:solidFill>
              </a:rPr>
              <a:t>API resources</a:t>
            </a:r>
            <a:r>
              <a:rPr lang="en-GB" sz="1400">
                <a:solidFill>
                  <a:schemeClr val="dk1"/>
                </a:solidFill>
              </a:rPr>
              <a:t>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</a:rPr>
              <a:t>Views</a:t>
            </a:r>
            <a:r>
              <a:rPr lang="en-GB" sz="1400">
                <a:solidFill>
                  <a:schemeClr val="dk1"/>
                </a:solidFill>
              </a:rPr>
              <a:t> and </a:t>
            </a:r>
            <a:r>
              <a:rPr b="1" lang="en-GB" sz="1400">
                <a:solidFill>
                  <a:schemeClr val="dk1"/>
                </a:solidFill>
              </a:rPr>
              <a:t>joins</a:t>
            </a:r>
            <a:r>
              <a:rPr lang="en-GB" sz="1400">
                <a:solidFill>
                  <a:schemeClr val="dk1"/>
                </a:solidFill>
              </a:rPr>
              <a:t> can become </a:t>
            </a:r>
            <a:r>
              <a:rPr i="1" lang="en-GB" sz="1400">
                <a:solidFill>
                  <a:schemeClr val="dk1"/>
                </a:solidFill>
              </a:rPr>
              <a:t>special endpoints</a:t>
            </a:r>
            <a:r>
              <a:rPr lang="en-GB" sz="1400">
                <a:solidFill>
                  <a:schemeClr val="dk1"/>
                </a:solidFill>
              </a:rPr>
              <a:t> for analytical or composite data.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</a:rPr>
              <a:t>Constraints and relationships</a:t>
            </a:r>
            <a:r>
              <a:rPr lang="en-GB" sz="1400">
                <a:solidFill>
                  <a:schemeClr val="dk1"/>
                </a:solidFill>
              </a:rPr>
              <a:t> are implemented as </a:t>
            </a:r>
            <a:r>
              <a:rPr i="1" lang="en-GB" sz="1400">
                <a:solidFill>
                  <a:schemeClr val="dk1"/>
                </a:solidFill>
              </a:rPr>
              <a:t>business rules</a:t>
            </a:r>
            <a:r>
              <a:rPr lang="en-GB" sz="1400">
                <a:solidFill>
                  <a:schemeClr val="dk1"/>
                </a:solidFill>
              </a:rPr>
              <a:t> in the API layer.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API design should preserve </a:t>
            </a:r>
            <a:r>
              <a:rPr b="1" lang="en-GB" sz="1400">
                <a:solidFill>
                  <a:schemeClr val="dk1"/>
                </a:solidFill>
              </a:rPr>
              <a:t>data integrity and normalization principles</a:t>
            </a:r>
            <a:r>
              <a:rPr lang="en-GB" sz="1400">
                <a:solidFill>
                  <a:schemeClr val="dk1"/>
                </a:solidFill>
              </a:rPr>
              <a:t> behind the scenes.</a:t>
            </a:r>
            <a:endParaRPr sz="1400">
              <a:solidFill>
                <a:schemeClr val="dk1"/>
              </a:solidFill>
            </a:endParaRPr>
          </a:p>
        </p:txBody>
      </p:sp>
      <p:sp>
        <p:nvSpPr>
          <p:cNvPr id="144" name="Google Shape;144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Relational to API Thinking</a:t>
            </a:r>
            <a:endParaRPr/>
          </a:p>
        </p:txBody>
      </p:sp>
      <p:graphicFrame>
        <p:nvGraphicFramePr>
          <p:cNvPr id="145" name="Google Shape;145;p28"/>
          <p:cNvGraphicFramePr/>
          <p:nvPr/>
        </p:nvGraphicFramePr>
        <p:xfrm>
          <a:off x="836638" y="15969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{AA346B61-747F-4E6A-B312-0C31826E2838}</a:tableStyleId>
              </a:tblPr>
              <a:tblGrid>
                <a:gridCol w="1823325"/>
                <a:gridCol w="2193450"/>
                <a:gridCol w="2385375"/>
              </a:tblGrid>
              <a:tr h="4356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Relational Concept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REST Concept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Example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Table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Resource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/students</a:t>
                      </a:r>
                      <a:r>
                        <a:rPr lang="en-GB" sz="1100"/>
                        <a:t>, </a:t>
                      </a: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/courses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Row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Resource Instance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/students/123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50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Primary Key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Identifier (URI segment)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/students/{id}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061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Foreign Key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Linked Resource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100">
                          <a:solidFill>
                            <a:srgbClr val="188038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/courses/{id}/students</a:t>
                      </a:r>
                      <a:endParaRPr sz="1100">
                        <a:solidFill>
                          <a:srgbClr val="188038"/>
                        </a:solidFill>
                        <a:latin typeface="Roboto Mono"/>
                        <a:ea typeface="Roboto Mono"/>
                        <a:cs typeface="Roboto Mono"/>
                        <a:sym typeface="Roboto Mono"/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 3 – Databases in the Cloud</a:t>
            </a:r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4" name="Shape 1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Google Shape;155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Shift to the Cloud</a:t>
            </a:r>
            <a:endParaRPr/>
          </a:p>
        </p:txBody>
      </p:sp>
      <p:sp>
        <p:nvSpPr>
          <p:cNvPr id="156" name="Google Shape;156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Organizations are </a:t>
            </a:r>
            <a:r>
              <a:rPr b="1" lang="en-GB">
                <a:solidFill>
                  <a:schemeClr val="dk1"/>
                </a:solidFill>
              </a:rPr>
              <a:t>moving databases to the cloud</a:t>
            </a:r>
            <a:r>
              <a:rPr lang="en-GB">
                <a:solidFill>
                  <a:schemeClr val="dk1"/>
                </a:solidFill>
              </a:rPr>
              <a:t> to gain scalability, reliability, and flexibility.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Traditional (on-premise)</a:t>
            </a:r>
            <a:r>
              <a:rPr lang="en-GB">
                <a:solidFill>
                  <a:schemeClr val="dk1"/>
                </a:solidFill>
              </a:rPr>
              <a:t> databases require local servers, manual backups, and in-house maintenance.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Cloud databases</a:t>
            </a:r>
            <a:r>
              <a:rPr lang="en-GB">
                <a:solidFill>
                  <a:schemeClr val="dk1"/>
                </a:solidFill>
              </a:rPr>
              <a:t> are hosted and managed by service providers — available “anytime, anywhere.”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Key motivations: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Reduce infrastructure costs.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Scale resources automatically with demand.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Enable remote collaboration and 24/7 availability.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Database as a Service (DBaaS)</a:t>
            </a:r>
            <a:endParaRPr/>
          </a:p>
        </p:txBody>
      </p:sp>
      <p:sp>
        <p:nvSpPr>
          <p:cNvPr id="162" name="Google Shape;162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02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b="1" lang="en-GB" sz="1600">
                <a:solidFill>
                  <a:schemeClr val="dk1"/>
                </a:solidFill>
              </a:rPr>
              <a:t>DBaaS</a:t>
            </a:r>
            <a:r>
              <a:rPr lang="en-GB" sz="1600">
                <a:solidFill>
                  <a:schemeClr val="dk1"/>
                </a:solidFill>
              </a:rPr>
              <a:t> = </a:t>
            </a:r>
            <a:r>
              <a:rPr i="1" lang="en-GB" sz="1600">
                <a:solidFill>
                  <a:schemeClr val="dk1"/>
                </a:solidFill>
              </a:rPr>
              <a:t>Managed cloud database service</a:t>
            </a:r>
            <a:r>
              <a:rPr lang="en-GB" sz="1600">
                <a:solidFill>
                  <a:schemeClr val="dk1"/>
                </a:solidFill>
              </a:rPr>
              <a:t> where the provider handles all technical operations.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The vendor manages: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Installation, configuration, and patching.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Backups, replication, and recovery.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lang="en-GB" sz="1600">
                <a:solidFill>
                  <a:schemeClr val="dk1"/>
                </a:solidFill>
              </a:rPr>
              <a:t>Scaling and monitoring.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The </a:t>
            </a:r>
            <a:r>
              <a:rPr b="1" lang="en-GB" sz="1600">
                <a:solidFill>
                  <a:schemeClr val="dk1"/>
                </a:solidFill>
              </a:rPr>
              <a:t>user focuses on data and queries</a:t>
            </a:r>
            <a:r>
              <a:rPr lang="en-GB" sz="1600">
                <a:solidFill>
                  <a:schemeClr val="dk1"/>
                </a:solidFill>
              </a:rPr>
              <a:t>, not infrastructure.</a:t>
            </a:r>
            <a:endParaRPr sz="1600">
              <a:solidFill>
                <a:schemeClr val="dk1"/>
              </a:solidFill>
            </a:endParaRPr>
          </a:p>
          <a:p>
            <a:pPr indent="-3302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●"/>
            </a:pPr>
            <a:r>
              <a:rPr lang="en-GB" sz="1600">
                <a:solidFill>
                  <a:schemeClr val="dk1"/>
                </a:solidFill>
              </a:rPr>
              <a:t>Common examples:</a:t>
            </a:r>
            <a:endParaRPr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-GB" sz="1600">
                <a:solidFill>
                  <a:schemeClr val="dk1"/>
                </a:solidFill>
              </a:rPr>
              <a:t>Amazon RDS / Aurora (PostgreSQL, MySQL)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-GB" sz="1600">
                <a:solidFill>
                  <a:schemeClr val="dk1"/>
                </a:solidFill>
              </a:rPr>
              <a:t>Azure SQL Database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-GB" sz="1600">
                <a:solidFill>
                  <a:schemeClr val="dk1"/>
                </a:solidFill>
              </a:rPr>
              <a:t>Google Cloud SQL / AlloyDB</a:t>
            </a:r>
            <a:endParaRPr b="1" sz="1600">
              <a:solidFill>
                <a:schemeClr val="dk1"/>
              </a:solidFill>
            </a:endParaRPr>
          </a:p>
          <a:p>
            <a:pPr indent="-3302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Char char="○"/>
            </a:pPr>
            <a:r>
              <a:rPr b="1" lang="en-GB" sz="1600">
                <a:solidFill>
                  <a:schemeClr val="dk1"/>
                </a:solidFill>
              </a:rPr>
              <a:t>Supabase (PostgreSQL + API layer)</a:t>
            </a:r>
            <a:endParaRPr b="1" sz="16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Elastic Scalability</a:t>
            </a:r>
            <a:endParaRPr/>
          </a:p>
        </p:txBody>
      </p:sp>
      <p:sp>
        <p:nvSpPr>
          <p:cNvPr id="168" name="Google Shape;168;p3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Elastic scalability</a:t>
            </a:r>
            <a:r>
              <a:rPr lang="en-GB">
                <a:solidFill>
                  <a:schemeClr val="dk1"/>
                </a:solidFill>
              </a:rPr>
              <a:t> = the ability to </a:t>
            </a:r>
            <a:r>
              <a:rPr i="1" lang="en-GB">
                <a:solidFill>
                  <a:schemeClr val="dk1"/>
                </a:solidFill>
              </a:rPr>
              <a:t>automatically adjust</a:t>
            </a:r>
            <a:r>
              <a:rPr lang="en-GB">
                <a:solidFill>
                  <a:schemeClr val="dk1"/>
                </a:solidFill>
              </a:rPr>
              <a:t> database resources (CPU, memory, storage) as workload changes.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Cloud databases can </a:t>
            </a:r>
            <a:r>
              <a:rPr b="1" lang="en-GB">
                <a:solidFill>
                  <a:schemeClr val="dk1"/>
                </a:solidFill>
              </a:rPr>
              <a:t>scale up</a:t>
            </a:r>
            <a:r>
              <a:rPr lang="en-GB">
                <a:solidFill>
                  <a:schemeClr val="dk1"/>
                </a:solidFill>
              </a:rPr>
              <a:t> during high demand and </a:t>
            </a:r>
            <a:r>
              <a:rPr b="1" lang="en-GB">
                <a:solidFill>
                  <a:schemeClr val="dk1"/>
                </a:solidFill>
              </a:rPr>
              <a:t>scale down</a:t>
            </a:r>
            <a:r>
              <a:rPr lang="en-GB">
                <a:solidFill>
                  <a:schemeClr val="dk1"/>
                </a:solidFill>
              </a:rPr>
              <a:t> when idle.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Types of scaling: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-GB" sz="1800">
                <a:solidFill>
                  <a:schemeClr val="dk1"/>
                </a:solidFill>
              </a:rPr>
              <a:t>Vertical scaling (scale up):</a:t>
            </a:r>
            <a:r>
              <a:rPr lang="en-GB" sz="1800">
                <a:solidFill>
                  <a:schemeClr val="dk1"/>
                </a:solidFill>
              </a:rPr>
              <a:t> add more power to one server.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-GB" sz="1800">
                <a:solidFill>
                  <a:schemeClr val="dk1"/>
                </a:solidFill>
              </a:rPr>
              <a:t>Horizontal scaling (scale out):</a:t>
            </a:r>
            <a:r>
              <a:rPr lang="en-GB" sz="1800">
                <a:solidFill>
                  <a:schemeClr val="dk1"/>
                </a:solidFill>
              </a:rPr>
              <a:t> add more servers (replicas or shards).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Benefits: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Pay only for what you use.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Maintain performance during peak load.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No downtime for capacity planning.</a:t>
            </a: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Cloud Deployment Models</a:t>
            </a:r>
            <a:endParaRPr/>
          </a:p>
        </p:txBody>
      </p:sp>
      <p:sp>
        <p:nvSpPr>
          <p:cNvPr id="174" name="Google Shape;174;p3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Cloud computing services are categorized into </a:t>
            </a:r>
            <a:r>
              <a:rPr b="1" lang="en-GB" sz="1400">
                <a:solidFill>
                  <a:schemeClr val="dk1"/>
                </a:solidFill>
              </a:rPr>
              <a:t>three main models</a:t>
            </a:r>
            <a:r>
              <a:rPr lang="en-GB" sz="1400">
                <a:solidFill>
                  <a:schemeClr val="dk1"/>
                </a:solidFill>
              </a:rPr>
              <a:t>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As you move from IaaS → SaaS, </a:t>
            </a:r>
            <a:r>
              <a:rPr b="1" lang="en-GB" sz="1400">
                <a:solidFill>
                  <a:schemeClr val="dk1"/>
                </a:solidFill>
              </a:rPr>
              <a:t>control decreases</a:t>
            </a:r>
            <a:r>
              <a:rPr lang="en-GB" sz="1400">
                <a:solidFill>
                  <a:schemeClr val="dk1"/>
                </a:solidFill>
              </a:rPr>
              <a:t> but </a:t>
            </a:r>
            <a:r>
              <a:rPr b="1" lang="en-GB" sz="1400">
                <a:solidFill>
                  <a:schemeClr val="dk1"/>
                </a:solidFill>
              </a:rPr>
              <a:t>convenience increases.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DBaaS typically falls under </a:t>
            </a:r>
            <a:r>
              <a:rPr b="1" lang="en-GB" sz="1400">
                <a:solidFill>
                  <a:schemeClr val="dk1"/>
                </a:solidFill>
              </a:rPr>
              <a:t>PaaS.</a:t>
            </a:r>
            <a:endParaRPr sz="1400">
              <a:solidFill>
                <a:schemeClr val="dk1"/>
              </a:solidFill>
            </a:endParaRPr>
          </a:p>
        </p:txBody>
      </p:sp>
      <p:graphicFrame>
        <p:nvGraphicFramePr>
          <p:cNvPr id="175" name="Google Shape;175;p33"/>
          <p:cNvGraphicFramePr/>
          <p:nvPr/>
        </p:nvGraphicFramePr>
        <p:xfrm>
          <a:off x="808800" y="15745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{AA346B61-747F-4E6A-B312-0C31826E2838}</a:tableStyleId>
              </a:tblPr>
              <a:tblGrid>
                <a:gridCol w="2066925"/>
                <a:gridCol w="1619250"/>
                <a:gridCol w="1219200"/>
                <a:gridCol w="2438400"/>
              </a:tblGrid>
              <a:tr h="4367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/>
                        <a:t>Model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/>
                        <a:t>Managed By Provider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/>
                        <a:t>Managed By User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/>
                        <a:t>Example Services</a:t>
                      </a:r>
                      <a:endParaRPr b="1"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/>
                        <a:t>IaaS</a:t>
                      </a:r>
                      <a:r>
                        <a:rPr lang="en-GB" sz="1200"/>
                        <a:t> – Infrastructure as a Service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Hardware, virtualization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OS, DB setup, apps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Amazon EC2, Google Compute Engine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/>
                        <a:t>PaaS</a:t>
                      </a:r>
                      <a:r>
                        <a:rPr lang="en-GB" sz="1200"/>
                        <a:t> – Platform as a Service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Hardware, OS, DB engine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Applications, data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AWS RDS, Azure SQL Database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62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200"/>
                        <a:t>SaaS</a:t>
                      </a:r>
                      <a:r>
                        <a:rPr lang="en-GB" sz="1200"/>
                        <a:t> – Software as a Service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Everything (end-to-end)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Only uses the app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 sz="1200"/>
                        <a:t>Salesforce, Google Sheets</a:t>
                      </a:r>
                      <a:endParaRPr sz="12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9" name="Shape 1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Google Shape;180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Advantages of Cloud Databases</a:t>
            </a:r>
            <a:endParaRPr/>
          </a:p>
        </p:txBody>
      </p:sp>
      <p:sp>
        <p:nvSpPr>
          <p:cNvPr id="181" name="Google Shape;181;p3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High Availability:</a:t>
            </a:r>
            <a:r>
              <a:rPr lang="en-GB">
                <a:solidFill>
                  <a:schemeClr val="dk1"/>
                </a:solidFill>
              </a:rPr>
              <a:t> automatic failover and redundancy across regions.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Scalability:</a:t>
            </a:r>
            <a:r>
              <a:rPr lang="en-GB">
                <a:solidFill>
                  <a:schemeClr val="dk1"/>
                </a:solidFill>
              </a:rPr>
              <a:t> resources expand or shrink on demand.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Reduced Maintenance:</a:t>
            </a:r>
            <a:r>
              <a:rPr lang="en-GB">
                <a:solidFill>
                  <a:schemeClr val="dk1"/>
                </a:solidFill>
              </a:rPr>
              <a:t> provider handles patching, updates, and backups.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Disaster Recovery:</a:t>
            </a:r>
            <a:r>
              <a:rPr lang="en-GB">
                <a:solidFill>
                  <a:schemeClr val="dk1"/>
                </a:solidFill>
              </a:rPr>
              <a:t> built-in backups and point-in-time recovery options.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Global Accessibility:</a:t>
            </a:r>
            <a:r>
              <a:rPr lang="en-GB">
                <a:solidFill>
                  <a:schemeClr val="dk1"/>
                </a:solidFill>
              </a:rPr>
              <a:t> data can be reached securely from anywhere.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Pay-as-you-go Model:</a:t>
            </a:r>
            <a:r>
              <a:rPr lang="en-GB">
                <a:solidFill>
                  <a:schemeClr val="dk1"/>
                </a:solidFill>
              </a:rPr>
              <a:t> cost proportional to usage — no need to buy servers.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Challenges &amp; Trade-Offs</a:t>
            </a:r>
            <a:endParaRPr/>
          </a:p>
        </p:txBody>
      </p:sp>
      <p:sp>
        <p:nvSpPr>
          <p:cNvPr id="187" name="Google Shape;187;p3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Vendor Lock-In:</a:t>
            </a:r>
            <a:r>
              <a:rPr lang="en-GB">
                <a:solidFill>
                  <a:schemeClr val="dk1"/>
                </a:solidFill>
              </a:rPr>
              <a:t> migrating to another provider can be complex and costly.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Data Sovereignty:</a:t>
            </a:r>
            <a:r>
              <a:rPr lang="en-GB">
                <a:solidFill>
                  <a:schemeClr val="dk1"/>
                </a:solidFill>
              </a:rPr>
              <a:t> data may reside in another country → legal &amp; privacy concerns.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Latency &amp; Bandwidth:</a:t>
            </a:r>
            <a:r>
              <a:rPr lang="en-GB">
                <a:solidFill>
                  <a:schemeClr val="dk1"/>
                </a:solidFill>
              </a:rPr>
              <a:t> performance depends on network quality and distance.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Ongoing Costs:</a:t>
            </a:r>
            <a:r>
              <a:rPr lang="en-GB">
                <a:solidFill>
                  <a:schemeClr val="dk1"/>
                </a:solidFill>
              </a:rPr>
              <a:t> operational costs can exceed on-premise setups at scale.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Limited Control:</a:t>
            </a:r>
            <a:r>
              <a:rPr lang="en-GB">
                <a:solidFill>
                  <a:schemeClr val="dk1"/>
                </a:solidFill>
              </a:rPr>
              <a:t> restricted access to underlying OS/configuration.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Security Compliance:</a:t>
            </a:r>
            <a:r>
              <a:rPr lang="en-GB">
                <a:solidFill>
                  <a:schemeClr val="dk1"/>
                </a:solidFill>
              </a:rPr>
              <a:t> shared responsibility — provider secures the platform, client secures the data.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3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Hybrid &amp; Multi-Cloud Approaches</a:t>
            </a:r>
            <a:endParaRPr/>
          </a:p>
        </p:txBody>
      </p:sp>
      <p:sp>
        <p:nvSpPr>
          <p:cNvPr id="193" name="Google Shape;193;p3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</a:rPr>
              <a:t>Hybrid Cloud:</a:t>
            </a:r>
            <a:r>
              <a:rPr lang="en-GB" sz="1400">
                <a:solidFill>
                  <a:schemeClr val="dk1"/>
                </a:solidFill>
              </a:rPr>
              <a:t> combines </a:t>
            </a:r>
            <a:r>
              <a:rPr i="1" lang="en-GB" sz="1400">
                <a:solidFill>
                  <a:schemeClr val="dk1"/>
                </a:solidFill>
              </a:rPr>
              <a:t>on-premise</a:t>
            </a:r>
            <a:r>
              <a:rPr lang="en-GB" sz="1400">
                <a:solidFill>
                  <a:schemeClr val="dk1"/>
                </a:solidFill>
              </a:rPr>
              <a:t> and </a:t>
            </a:r>
            <a:r>
              <a:rPr i="1" lang="en-GB" sz="1400">
                <a:solidFill>
                  <a:schemeClr val="dk1"/>
                </a:solidFill>
              </a:rPr>
              <a:t>cloud</a:t>
            </a:r>
            <a:r>
              <a:rPr lang="en-GB" sz="1400">
                <a:solidFill>
                  <a:schemeClr val="dk1"/>
                </a:solidFill>
              </a:rPr>
              <a:t> databases.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Sensitive data stays local (compliance, security).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Less-critical or analytical workloads move to the cloud.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</a:rPr>
              <a:t>Multi-Cloud:</a:t>
            </a:r>
            <a:r>
              <a:rPr lang="en-GB" sz="1400">
                <a:solidFill>
                  <a:schemeClr val="dk1"/>
                </a:solidFill>
              </a:rPr>
              <a:t> uses </a:t>
            </a:r>
            <a:r>
              <a:rPr i="1" lang="en-GB" sz="1400">
                <a:solidFill>
                  <a:schemeClr val="dk1"/>
                </a:solidFill>
              </a:rPr>
              <a:t>multiple cloud providers</a:t>
            </a:r>
            <a:r>
              <a:rPr lang="en-GB" sz="1400">
                <a:solidFill>
                  <a:schemeClr val="dk1"/>
                </a:solidFill>
              </a:rPr>
              <a:t> to avoid dependency on one vendor.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Example: use AWS RDS for OLTP and Google BigQuery for analytics.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Benefits: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Flexibility in workload placement.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Redundancy and risk reduction.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Potential cost optimization.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Challenges:</a:t>
            </a:r>
            <a:endParaRPr sz="14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Integration, data synchronization, and governance.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Consistency and latency across environments.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40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3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Example: PostgreSQL on Supabase</a:t>
            </a:r>
            <a:endParaRPr/>
          </a:p>
        </p:txBody>
      </p:sp>
      <p:sp>
        <p:nvSpPr>
          <p:cNvPr id="199" name="Google Shape;199;p3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Supabase</a:t>
            </a:r>
            <a:r>
              <a:rPr lang="en-GB">
                <a:solidFill>
                  <a:schemeClr val="dk1"/>
                </a:solidFill>
              </a:rPr>
              <a:t> and </a:t>
            </a:r>
            <a:r>
              <a:rPr b="1" lang="en-GB">
                <a:solidFill>
                  <a:schemeClr val="dk1"/>
                </a:solidFill>
              </a:rPr>
              <a:t>Render</a:t>
            </a:r>
            <a:r>
              <a:rPr lang="en-GB">
                <a:solidFill>
                  <a:schemeClr val="dk1"/>
                </a:solidFill>
              </a:rPr>
              <a:t> are modern cloud platforms offering </a:t>
            </a:r>
            <a:r>
              <a:rPr b="1" lang="en-GB">
                <a:solidFill>
                  <a:schemeClr val="dk1"/>
                </a:solidFill>
              </a:rPr>
              <a:t>PostgreSQL-as-a-Service</a:t>
            </a:r>
            <a:r>
              <a:rPr lang="en-GB">
                <a:solidFill>
                  <a:schemeClr val="dk1"/>
                </a:solidFill>
              </a:rPr>
              <a:t>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They combine: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Full relational </a:t>
            </a:r>
            <a:r>
              <a:rPr b="1" lang="en-GB" sz="1800">
                <a:solidFill>
                  <a:schemeClr val="dk1"/>
                </a:solidFill>
              </a:rPr>
              <a:t>PostgreSQL engine</a:t>
            </a:r>
            <a:r>
              <a:rPr lang="en-GB" sz="1800">
                <a:solidFill>
                  <a:schemeClr val="dk1"/>
                </a:solidFill>
              </a:rPr>
              <a:t> (same SQL as local labs).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-GB" sz="1800">
                <a:solidFill>
                  <a:schemeClr val="dk1"/>
                </a:solidFill>
              </a:rPr>
              <a:t>Web-based dashboards</a:t>
            </a:r>
            <a:r>
              <a:rPr lang="en-GB" sz="1800">
                <a:solidFill>
                  <a:schemeClr val="dk1"/>
                </a:solidFill>
              </a:rPr>
              <a:t> for database management.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b="1" lang="en-GB" sz="1800">
                <a:solidFill>
                  <a:schemeClr val="dk1"/>
                </a:solidFill>
              </a:rPr>
              <a:t>RESTful and GraphQL APIs</a:t>
            </a:r>
            <a:r>
              <a:rPr lang="en-GB" sz="1800">
                <a:solidFill>
                  <a:schemeClr val="dk1"/>
                </a:solidFill>
              </a:rPr>
              <a:t> automatically generated from your tables.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Built-in </a:t>
            </a:r>
            <a:r>
              <a:rPr b="1" lang="en-GB" sz="1800">
                <a:solidFill>
                  <a:schemeClr val="dk1"/>
                </a:solidFill>
              </a:rPr>
              <a:t>authentication, storage, and hosting</a:t>
            </a:r>
            <a:r>
              <a:rPr lang="en-GB" sz="1800">
                <a:solidFill>
                  <a:schemeClr val="dk1"/>
                </a:solidFill>
              </a:rPr>
              <a:t> tools.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Ideal for </a:t>
            </a:r>
            <a:r>
              <a:rPr b="1" lang="en-GB">
                <a:solidFill>
                  <a:schemeClr val="dk1"/>
                </a:solidFill>
              </a:rPr>
              <a:t>student projects</a:t>
            </a:r>
            <a:r>
              <a:rPr lang="en-GB">
                <a:solidFill>
                  <a:schemeClr val="dk1"/>
                </a:solidFill>
              </a:rPr>
              <a:t>, prototypes, and small applications.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SQL skills transfer directly — same DDL, DML, DCL, and triggers.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3" name="Shape 2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" name="Google Shape;204;p3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 4 – Current Trends in Data Management</a:t>
            </a:r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Google Shape;209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Beyond Relational</a:t>
            </a:r>
            <a:endParaRPr/>
          </a:p>
        </p:txBody>
      </p:sp>
      <p:sp>
        <p:nvSpPr>
          <p:cNvPr id="210" name="Google Shape;210;p3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The </a:t>
            </a:r>
            <a:r>
              <a:rPr b="1" lang="en-GB">
                <a:solidFill>
                  <a:schemeClr val="dk1"/>
                </a:solidFill>
              </a:rPr>
              <a:t>relational model</a:t>
            </a:r>
            <a:r>
              <a:rPr lang="en-GB">
                <a:solidFill>
                  <a:schemeClr val="dk1"/>
                </a:solidFill>
              </a:rPr>
              <a:t> remains dominant — but not every problem fits neatly into tables.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New workloads (social networks, IoT, streaming data, analytics) require </a:t>
            </a:r>
            <a:r>
              <a:rPr b="1" lang="en-GB">
                <a:solidFill>
                  <a:schemeClr val="dk1"/>
                </a:solidFill>
              </a:rPr>
              <a:t>different storage and processing models.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Modern systems adopt </a:t>
            </a:r>
            <a:r>
              <a:rPr b="1" lang="en-GB">
                <a:solidFill>
                  <a:schemeClr val="dk1"/>
                </a:solidFill>
              </a:rPr>
              <a:t>Polyglot Persistence</a:t>
            </a:r>
            <a:r>
              <a:rPr lang="en-GB">
                <a:solidFill>
                  <a:schemeClr val="dk1"/>
                </a:solidFill>
              </a:rPr>
              <a:t>: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“Use the right database for the right job.”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Common non-relational families: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GB">
                <a:solidFill>
                  <a:schemeClr val="dk1"/>
                </a:solidFill>
              </a:rPr>
              <a:t>Document stores</a:t>
            </a:r>
            <a:r>
              <a:rPr lang="en-GB">
                <a:solidFill>
                  <a:schemeClr val="dk1"/>
                </a:solidFill>
              </a:rPr>
              <a:t> – JSON-based (MongoDB, CouchDB).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GB">
                <a:solidFill>
                  <a:schemeClr val="dk1"/>
                </a:solidFill>
              </a:rPr>
              <a:t>Key-Value stores</a:t>
            </a:r>
            <a:r>
              <a:rPr lang="en-GB">
                <a:solidFill>
                  <a:schemeClr val="dk1"/>
                </a:solidFill>
              </a:rPr>
              <a:t> – ultra-fast lookups (Redis).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GB">
                <a:solidFill>
                  <a:schemeClr val="dk1"/>
                </a:solidFill>
              </a:rPr>
              <a:t>Column stores</a:t>
            </a:r>
            <a:r>
              <a:rPr lang="en-GB">
                <a:solidFill>
                  <a:schemeClr val="dk1"/>
                </a:solidFill>
              </a:rPr>
              <a:t> – large-scale analytics (Cassandra, HBase).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GB">
                <a:solidFill>
                  <a:schemeClr val="dk1"/>
                </a:solidFill>
              </a:rPr>
              <a:t>Graph databases</a:t>
            </a:r>
            <a:r>
              <a:rPr lang="en-GB">
                <a:solidFill>
                  <a:schemeClr val="dk1"/>
                </a:solidFill>
              </a:rPr>
              <a:t> – relationships as first-class citizens (Neo4j).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NoSQL Ecosystem</a:t>
            </a:r>
            <a:endParaRPr/>
          </a:p>
        </p:txBody>
      </p:sp>
      <p:sp>
        <p:nvSpPr>
          <p:cNvPr id="216" name="Google Shape;216;p4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en-GB" sz="1400">
                <a:solidFill>
                  <a:schemeClr val="dk1"/>
                </a:solidFill>
              </a:rPr>
              <a:t>NoSQL = “Not Only SQL”</a:t>
            </a:r>
            <a:r>
              <a:rPr lang="en-GB" sz="1400">
                <a:solidFill>
                  <a:schemeClr val="dk1"/>
                </a:solidFill>
              </a:rPr>
              <a:t> — a family of database models optimized for scalability and flexibility.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Designed for </a:t>
            </a:r>
            <a:r>
              <a:rPr b="1" lang="en-GB" sz="1400">
                <a:solidFill>
                  <a:schemeClr val="dk1"/>
                </a:solidFill>
              </a:rPr>
              <a:t>massive, distributed, and unstructured data.</a:t>
            </a:r>
            <a:endParaRPr b="1"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NoSQL systems often </a:t>
            </a:r>
            <a:r>
              <a:rPr b="1" lang="en-GB" sz="1400">
                <a:solidFill>
                  <a:schemeClr val="dk1"/>
                </a:solidFill>
              </a:rPr>
              <a:t>sacrifice strict consistency (ACID)</a:t>
            </a:r>
            <a:r>
              <a:rPr lang="en-GB" sz="1400">
                <a:solidFill>
                  <a:schemeClr val="dk1"/>
                </a:solidFill>
              </a:rPr>
              <a:t> for </a:t>
            </a:r>
            <a:r>
              <a:rPr b="1" lang="en-GB" sz="1400">
                <a:solidFill>
                  <a:schemeClr val="dk1"/>
                </a:solidFill>
              </a:rPr>
              <a:t>availability and partition tolerance (BASE).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lang="en-GB" sz="1400">
                <a:solidFill>
                  <a:schemeClr val="dk1"/>
                </a:solidFill>
              </a:rPr>
              <a:t>Major categories: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600">
              <a:solidFill>
                <a:schemeClr val="dk1"/>
              </a:solidFill>
            </a:endParaRPr>
          </a:p>
        </p:txBody>
      </p:sp>
      <p:graphicFrame>
        <p:nvGraphicFramePr>
          <p:cNvPr id="217" name="Google Shape;217;p40"/>
          <p:cNvGraphicFramePr/>
          <p:nvPr/>
        </p:nvGraphicFramePr>
        <p:xfrm>
          <a:off x="877475" y="25717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{AA346B61-747F-4E6A-B312-0C31826E2838}</a:tableStyleId>
              </a:tblPr>
              <a:tblGrid>
                <a:gridCol w="1568675"/>
                <a:gridCol w="3502500"/>
                <a:gridCol w="192027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Type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Description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Example Systems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Document Store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JSON-like documents; flexible schema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MongoDB, CouchDB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Key–Value Store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Simple pair lookup; ultra-fast cache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Redis, DynamoDB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Column Store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Organizes data by columns for analytics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Cassandra, HBase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Graph DB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Nodes + edges to model relationships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Neo4j, ArangoDB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1" name="Shape 2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2" name="Google Shape;222;p4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When to Use NoSQL</a:t>
            </a:r>
            <a:endParaRPr/>
          </a:p>
        </p:txBody>
      </p:sp>
      <p:sp>
        <p:nvSpPr>
          <p:cNvPr id="223" name="Google Shape;223;p4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Choose </a:t>
            </a:r>
            <a:r>
              <a:rPr b="1" lang="en-GB">
                <a:solidFill>
                  <a:schemeClr val="dk1"/>
                </a:solidFill>
              </a:rPr>
              <a:t>NoSQL</a:t>
            </a:r>
            <a:r>
              <a:rPr lang="en-GB">
                <a:solidFill>
                  <a:schemeClr val="dk1"/>
                </a:solidFill>
              </a:rPr>
              <a:t> when flexibility, scalability, or speed outweigh strict relational rules.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Ideal scenarios: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GB">
                <a:solidFill>
                  <a:schemeClr val="dk1"/>
                </a:solidFill>
              </a:rPr>
              <a:t>Rapidly changing data</a:t>
            </a:r>
            <a:r>
              <a:rPr lang="en-GB">
                <a:solidFill>
                  <a:schemeClr val="dk1"/>
                </a:solidFill>
              </a:rPr>
              <a:t> – schema evolves often (e.g., user profiles, IoT).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GB">
                <a:solidFill>
                  <a:schemeClr val="dk1"/>
                </a:solidFill>
              </a:rPr>
              <a:t>High write volume</a:t>
            </a:r>
            <a:r>
              <a:rPr lang="en-GB">
                <a:solidFill>
                  <a:schemeClr val="dk1"/>
                </a:solidFill>
              </a:rPr>
              <a:t> – logs, sensor data, streaming feeds.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GB">
                <a:solidFill>
                  <a:schemeClr val="dk1"/>
                </a:solidFill>
              </a:rPr>
              <a:t>Massive scale-out workloads</a:t>
            </a:r>
            <a:r>
              <a:rPr lang="en-GB">
                <a:solidFill>
                  <a:schemeClr val="dk1"/>
                </a:solidFill>
              </a:rPr>
              <a:t> – millions of users or requests per second.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GB">
                <a:solidFill>
                  <a:schemeClr val="dk1"/>
                </a:solidFill>
              </a:rPr>
              <a:t>Unstructured or semi-structured data</a:t>
            </a:r>
            <a:r>
              <a:rPr lang="en-GB">
                <a:solidFill>
                  <a:schemeClr val="dk1"/>
                </a:solidFill>
              </a:rPr>
              <a:t> – JSON, text, multimedia.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Typical trade-offs: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</a:rPr>
              <a:t>Weaker transactional guarantees (eventual consistency).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</a:rPr>
              <a:t>Limited ad-hoc query support.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</a:rPr>
              <a:t>More application-level responsibility for relationships.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7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8" name="Google Shape;228;p4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Graph Databases</a:t>
            </a:r>
            <a:endParaRPr/>
          </a:p>
        </p:txBody>
      </p:sp>
      <p:sp>
        <p:nvSpPr>
          <p:cNvPr id="229" name="Google Shape;229;p4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Represent data as </a:t>
            </a:r>
            <a:r>
              <a:rPr b="1" lang="en-GB" sz="1200">
                <a:solidFill>
                  <a:schemeClr val="dk1"/>
                </a:solidFill>
              </a:rPr>
              <a:t>nodes</a:t>
            </a:r>
            <a:r>
              <a:rPr lang="en-GB" sz="1200">
                <a:solidFill>
                  <a:schemeClr val="dk1"/>
                </a:solidFill>
              </a:rPr>
              <a:t> (entities) and </a:t>
            </a:r>
            <a:r>
              <a:rPr b="1" lang="en-GB" sz="1200">
                <a:solidFill>
                  <a:schemeClr val="dk1"/>
                </a:solidFill>
              </a:rPr>
              <a:t>edges</a:t>
            </a:r>
            <a:r>
              <a:rPr lang="en-GB" sz="1200">
                <a:solidFill>
                  <a:schemeClr val="dk1"/>
                </a:solidFill>
              </a:rPr>
              <a:t> (relationships).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Ideal for </a:t>
            </a:r>
            <a:r>
              <a:rPr b="1" lang="en-GB" sz="1200">
                <a:solidFill>
                  <a:schemeClr val="dk1"/>
                </a:solidFill>
              </a:rPr>
              <a:t>highly connected data</a:t>
            </a:r>
            <a:r>
              <a:rPr lang="en-GB" sz="1200">
                <a:solidFill>
                  <a:schemeClr val="dk1"/>
                </a:solidFill>
              </a:rPr>
              <a:t>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chemeClr val="dk1"/>
                </a:solidFill>
              </a:rPr>
              <a:t>Social networks (friends, followers).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chemeClr val="dk1"/>
                </a:solidFill>
              </a:rPr>
              <a:t>Recommendations (“users who liked this also liked…”).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chemeClr val="dk1"/>
                </a:solidFill>
              </a:rPr>
              <a:t>Supply chains, fraud detection, knowledge graphs.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Enable </a:t>
            </a:r>
            <a:r>
              <a:rPr b="1" lang="en-GB" sz="1200">
                <a:solidFill>
                  <a:schemeClr val="dk1"/>
                </a:solidFill>
              </a:rPr>
              <a:t>relationship-first queries</a:t>
            </a:r>
            <a:r>
              <a:rPr lang="en-GB" sz="1200">
                <a:solidFill>
                  <a:schemeClr val="dk1"/>
                </a:solidFill>
              </a:rPr>
              <a:t> using pattern matching:</a:t>
            </a:r>
            <a:endParaRPr sz="1200">
              <a:solidFill>
                <a:schemeClr val="dk1"/>
              </a:solidFill>
            </a:endParaRPr>
          </a:p>
          <a:p>
            <a:pPr indent="-3048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○"/>
            </a:pPr>
            <a:r>
              <a:rPr lang="en-GB" sz="1200">
                <a:solidFill>
                  <a:schemeClr val="dk1"/>
                </a:solidFill>
              </a:rPr>
              <a:t>Query language: </a:t>
            </a:r>
            <a:r>
              <a:rPr b="1" lang="en-GB" sz="1200">
                <a:solidFill>
                  <a:schemeClr val="dk1"/>
                </a:solidFill>
              </a:rPr>
              <a:t>Cypher</a:t>
            </a:r>
            <a:r>
              <a:rPr lang="en-GB" sz="1200">
                <a:solidFill>
                  <a:schemeClr val="dk1"/>
                </a:solidFill>
              </a:rPr>
              <a:t> (Neo4j), </a:t>
            </a:r>
            <a:r>
              <a:rPr b="1" lang="en-GB" sz="1200">
                <a:solidFill>
                  <a:schemeClr val="dk1"/>
                </a:solidFill>
              </a:rPr>
              <a:t>Gremlin</a:t>
            </a:r>
            <a:r>
              <a:rPr lang="en-GB" sz="1200">
                <a:solidFill>
                  <a:schemeClr val="dk1"/>
                </a:solidFill>
              </a:rPr>
              <a:t>, or </a:t>
            </a:r>
            <a:r>
              <a:rPr b="1" lang="en-GB" sz="1200">
                <a:solidFill>
                  <a:schemeClr val="dk1"/>
                </a:solidFill>
              </a:rPr>
              <a:t>SPARQL</a:t>
            </a:r>
            <a:r>
              <a:rPr lang="en-GB" sz="1200">
                <a:solidFill>
                  <a:schemeClr val="dk1"/>
                </a:solidFill>
              </a:rPr>
              <a:t>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lang="en-GB" sz="1200">
                <a:solidFill>
                  <a:schemeClr val="dk1"/>
                </a:solidFill>
              </a:rPr>
              <a:t>Focus on </a:t>
            </a:r>
            <a:r>
              <a:rPr b="1" lang="en-GB" sz="1200">
                <a:solidFill>
                  <a:schemeClr val="dk1"/>
                </a:solidFill>
              </a:rPr>
              <a:t>traversal</a:t>
            </a:r>
            <a:r>
              <a:rPr lang="en-GB" sz="1200">
                <a:solidFill>
                  <a:schemeClr val="dk1"/>
                </a:solidFill>
              </a:rPr>
              <a:t>, not joins — optimized for exploring paths and networks.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Char char="●"/>
            </a:pPr>
            <a:r>
              <a:rPr b="1" lang="en-GB" sz="1200">
                <a:solidFill>
                  <a:schemeClr val="dk1"/>
                </a:solidFill>
              </a:rPr>
              <a:t>Example Query (Neo4j Cypher):</a:t>
            </a:r>
            <a:endParaRPr b="1" sz="1200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200"/>
          </a:p>
        </p:txBody>
      </p:sp>
      <p:pic>
        <p:nvPicPr>
          <p:cNvPr id="230" name="Google Shape;230;p4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856300" y="3256975"/>
            <a:ext cx="4968675" cy="11639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4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Revisiting Data Warehousing</a:t>
            </a:r>
            <a:endParaRPr/>
          </a:p>
        </p:txBody>
      </p:sp>
      <p:sp>
        <p:nvSpPr>
          <p:cNvPr id="236" name="Google Shape;236;p4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Operational Databases (OLTP):</a:t>
            </a:r>
            <a:r>
              <a:rPr lang="en-GB">
                <a:solidFill>
                  <a:schemeClr val="dk1"/>
                </a:solidFill>
              </a:rPr>
              <a:t> handle day-to-day transactions.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Short, frequent updates.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Enforces strict consistency and normalization.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Data Warehouses (OLAP):</a:t>
            </a:r>
            <a:r>
              <a:rPr lang="en-GB">
                <a:solidFill>
                  <a:schemeClr val="dk1"/>
                </a:solidFill>
              </a:rPr>
              <a:t> support decision-making and analysis.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Integrate data from multiple sources via </a:t>
            </a:r>
            <a:r>
              <a:rPr b="1" lang="en-GB" sz="1800">
                <a:solidFill>
                  <a:schemeClr val="dk1"/>
                </a:solidFill>
              </a:rPr>
              <a:t>ETL</a:t>
            </a:r>
            <a:r>
              <a:rPr lang="en-GB" sz="1800">
                <a:solidFill>
                  <a:schemeClr val="dk1"/>
                </a:solidFill>
              </a:rPr>
              <a:t> (Extract-Transform-Load).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Use </a:t>
            </a:r>
            <a:r>
              <a:rPr b="1" lang="en-GB" sz="1800">
                <a:solidFill>
                  <a:schemeClr val="dk1"/>
                </a:solidFill>
              </a:rPr>
              <a:t>denormalized schemas</a:t>
            </a:r>
            <a:r>
              <a:rPr lang="en-GB" sz="1800">
                <a:solidFill>
                  <a:schemeClr val="dk1"/>
                </a:solidFill>
              </a:rPr>
              <a:t> (Star / Snowflake) for fast aggregation.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Enable queries across large historical datasets.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Modern cloud warehouses (e.g., </a:t>
            </a:r>
            <a:r>
              <a:rPr b="1" lang="en-GB">
                <a:solidFill>
                  <a:schemeClr val="dk1"/>
                </a:solidFill>
              </a:rPr>
              <a:t>BigQuery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b="1" lang="en-GB">
                <a:solidFill>
                  <a:schemeClr val="dk1"/>
                </a:solidFill>
              </a:rPr>
              <a:t>Snowflake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b="1" lang="en-GB">
                <a:solidFill>
                  <a:schemeClr val="dk1"/>
                </a:solidFill>
              </a:rPr>
              <a:t>Redshift</a:t>
            </a:r>
            <a:r>
              <a:rPr lang="en-GB">
                <a:solidFill>
                  <a:schemeClr val="dk1"/>
                </a:solidFill>
              </a:rPr>
              <a:t>) scale elastically for analytics workloads.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0" name="Shape 2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Google Shape;241;p4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 Lakes &amp; Big Data</a:t>
            </a:r>
            <a:endParaRPr/>
          </a:p>
        </p:txBody>
      </p:sp>
      <p:sp>
        <p:nvSpPr>
          <p:cNvPr id="242" name="Google Shape;242;p4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Data Warehouse:</a:t>
            </a:r>
            <a:r>
              <a:rPr lang="en-GB">
                <a:solidFill>
                  <a:schemeClr val="dk1"/>
                </a:solidFill>
              </a:rPr>
              <a:t> structured, curated, schema-on-write.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Data Lake:</a:t>
            </a:r>
            <a:r>
              <a:rPr lang="en-GB">
                <a:solidFill>
                  <a:schemeClr val="dk1"/>
                </a:solidFill>
              </a:rPr>
              <a:t> raw, unstructured, schema-on-read.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Stores </a:t>
            </a:r>
            <a:r>
              <a:rPr i="1" lang="en-GB" sz="1800">
                <a:solidFill>
                  <a:schemeClr val="dk1"/>
                </a:solidFill>
              </a:rPr>
              <a:t>everything</a:t>
            </a:r>
            <a:r>
              <a:rPr lang="en-GB" sz="1800">
                <a:solidFill>
                  <a:schemeClr val="dk1"/>
                </a:solidFill>
              </a:rPr>
              <a:t> — logs, sensor data, text, images, video.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Enables flexible exploration before formal modeling.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b="1" lang="en-GB">
                <a:solidFill>
                  <a:schemeClr val="dk1"/>
                </a:solidFill>
              </a:rPr>
              <a:t>Big Data platforms</a:t>
            </a:r>
            <a:r>
              <a:rPr lang="en-GB">
                <a:solidFill>
                  <a:schemeClr val="dk1"/>
                </a:solidFill>
              </a:rPr>
              <a:t> (Hadoop, Spark, AWS S3, Azure Data Lake) support massive parallel processing.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Goal: transform and analyze petabytes of data using distributed systems.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Increasingly, </a:t>
            </a:r>
            <a:r>
              <a:rPr b="1" lang="en-GB">
                <a:solidFill>
                  <a:schemeClr val="dk1"/>
                </a:solidFill>
              </a:rPr>
              <a:t>data lakes and warehouses coexist</a:t>
            </a:r>
            <a:r>
              <a:rPr lang="en-GB">
                <a:solidFill>
                  <a:schemeClr val="dk1"/>
                </a:solidFill>
              </a:rPr>
              <a:t> as part of a modern “data lakehouse” architecture.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6" name="Shape 2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4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AI &amp; Machine Learning Integration</a:t>
            </a:r>
            <a:endParaRPr/>
          </a:p>
        </p:txBody>
      </p:sp>
      <p:sp>
        <p:nvSpPr>
          <p:cNvPr id="248" name="Google Shape;248;p4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Databases are becoming </a:t>
            </a:r>
            <a:r>
              <a:rPr b="1" lang="en-GB">
                <a:solidFill>
                  <a:schemeClr val="dk1"/>
                </a:solidFill>
              </a:rPr>
              <a:t>AI-ready</a:t>
            </a:r>
            <a:r>
              <a:rPr lang="en-GB">
                <a:solidFill>
                  <a:schemeClr val="dk1"/>
                </a:solidFill>
              </a:rPr>
              <a:t> — integrating with data science and ML pipelines.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Typical integration models: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-GB">
                <a:solidFill>
                  <a:schemeClr val="dk1"/>
                </a:solidFill>
              </a:rPr>
              <a:t>Databases as data sources</a:t>
            </a:r>
            <a:r>
              <a:rPr lang="en-GB">
                <a:solidFill>
                  <a:schemeClr val="dk1"/>
                </a:solidFill>
              </a:rPr>
              <a:t> for model training (via SQL queries).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-GB">
                <a:solidFill>
                  <a:schemeClr val="dk1"/>
                </a:solidFill>
              </a:rPr>
              <a:t>In-database ML</a:t>
            </a:r>
            <a:r>
              <a:rPr lang="en-GB">
                <a:solidFill>
                  <a:schemeClr val="dk1"/>
                </a:solidFill>
              </a:rPr>
              <a:t> – run training and prediction directly inside the DBMS (e.g., BigQuery ML, Postgres ML).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b="1" lang="en-GB">
                <a:solidFill>
                  <a:schemeClr val="dk1"/>
                </a:solidFill>
              </a:rPr>
              <a:t>External ML services</a:t>
            </a:r>
            <a:r>
              <a:rPr lang="en-GB">
                <a:solidFill>
                  <a:schemeClr val="dk1"/>
                </a:solidFill>
              </a:rPr>
              <a:t> accessing DBs through APIs (TensorFlow, PyTorch).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Benefits: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Reduces data movement between systems.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○"/>
            </a:pPr>
            <a:r>
              <a:rPr lang="en-GB">
                <a:solidFill>
                  <a:schemeClr val="dk1"/>
                </a:solidFill>
              </a:rPr>
              <a:t>Enables real-time predictions within transactions.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>
                <a:solidFill>
                  <a:schemeClr val="dk1"/>
                </a:solidFill>
              </a:rPr>
              <a:t>Brings analytics and AI closer to stored data.</a:t>
            </a:r>
            <a:br>
              <a:rPr lang="en-GB" sz="1800">
                <a:solidFill>
                  <a:schemeClr val="dk1"/>
                </a:solidFill>
              </a:rPr>
            </a:br>
            <a:endParaRPr sz="18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DevOps &amp; Automation</a:t>
            </a:r>
            <a:endParaRPr/>
          </a:p>
        </p:txBody>
      </p:sp>
      <p:sp>
        <p:nvSpPr>
          <p:cNvPr id="254" name="Google Shape;254;p4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-GB">
                <a:solidFill>
                  <a:schemeClr val="dk1"/>
                </a:solidFill>
              </a:rPr>
              <a:t>DevOps</a:t>
            </a:r>
            <a:r>
              <a:rPr lang="en-GB">
                <a:solidFill>
                  <a:schemeClr val="dk1"/>
                </a:solidFill>
              </a:rPr>
              <a:t> brings continuous integration and deployment (CI/CD) principles to databases.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Key practices: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GB">
                <a:solidFill>
                  <a:schemeClr val="dk1"/>
                </a:solidFill>
              </a:rPr>
              <a:t>Infrastructure as Code (IaC):</a:t>
            </a:r>
            <a:r>
              <a:rPr lang="en-GB">
                <a:solidFill>
                  <a:schemeClr val="dk1"/>
                </a:solidFill>
              </a:rPr>
              <a:t> define DB configurations in scripts (Terraform, Ansible).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GB">
                <a:solidFill>
                  <a:schemeClr val="dk1"/>
                </a:solidFill>
              </a:rPr>
              <a:t>Automated Testing:</a:t>
            </a:r>
            <a:r>
              <a:rPr lang="en-GB">
                <a:solidFill>
                  <a:schemeClr val="dk1"/>
                </a:solidFill>
              </a:rPr>
              <a:t> validate schema changes before deployment.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GB">
                <a:solidFill>
                  <a:schemeClr val="dk1"/>
                </a:solidFill>
              </a:rPr>
              <a:t>Continuous Integration:</a:t>
            </a:r>
            <a:r>
              <a:rPr lang="en-GB">
                <a:solidFill>
                  <a:schemeClr val="dk1"/>
                </a:solidFill>
              </a:rPr>
              <a:t> apply version control to schema (e.g., Flyway, Liquibase).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GB">
                <a:solidFill>
                  <a:schemeClr val="dk1"/>
                </a:solidFill>
              </a:rPr>
              <a:t>Monitoring &amp; Observability:</a:t>
            </a:r>
            <a:r>
              <a:rPr lang="en-GB">
                <a:solidFill>
                  <a:schemeClr val="dk1"/>
                </a:solidFill>
              </a:rPr>
              <a:t> track performance, query load, and uptime in real time.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Goal: increase </a:t>
            </a:r>
            <a:r>
              <a:rPr b="1" lang="en-GB">
                <a:solidFill>
                  <a:schemeClr val="dk1"/>
                </a:solidFill>
              </a:rPr>
              <a:t>reliability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b="1" lang="en-GB">
                <a:solidFill>
                  <a:schemeClr val="dk1"/>
                </a:solidFill>
              </a:rPr>
              <a:t>repeatability</a:t>
            </a:r>
            <a:r>
              <a:rPr lang="en-GB">
                <a:solidFill>
                  <a:schemeClr val="dk1"/>
                </a:solidFill>
              </a:rPr>
              <a:t>, and </a:t>
            </a:r>
            <a:r>
              <a:rPr b="1" lang="en-GB">
                <a:solidFill>
                  <a:schemeClr val="dk1"/>
                </a:solidFill>
              </a:rPr>
              <a:t>speed of delivery</a:t>
            </a:r>
            <a:r>
              <a:rPr lang="en-GB">
                <a:solidFill>
                  <a:schemeClr val="dk1"/>
                </a:solidFill>
              </a:rPr>
              <a:t> in data environments.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4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Enduring Role of SQL</a:t>
            </a:r>
            <a:endParaRPr/>
          </a:p>
        </p:txBody>
      </p:sp>
      <p:sp>
        <p:nvSpPr>
          <p:cNvPr id="260" name="Google Shape;260;p4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Despite new data models, </a:t>
            </a:r>
            <a:r>
              <a:rPr b="1" lang="en-GB">
                <a:solidFill>
                  <a:schemeClr val="dk1"/>
                </a:solidFill>
              </a:rPr>
              <a:t>SQL remains the universal language of data.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-GB">
                <a:solidFill>
                  <a:schemeClr val="dk1"/>
                </a:solidFill>
              </a:rPr>
              <a:t>Declarative</a:t>
            </a:r>
            <a:r>
              <a:rPr lang="en-GB">
                <a:solidFill>
                  <a:schemeClr val="dk1"/>
                </a:solidFill>
              </a:rPr>
              <a:t>: describe </a:t>
            </a:r>
            <a:r>
              <a:rPr i="1" lang="en-GB">
                <a:solidFill>
                  <a:schemeClr val="dk1"/>
                </a:solidFill>
              </a:rPr>
              <a:t>what</a:t>
            </a:r>
            <a:r>
              <a:rPr lang="en-GB">
                <a:solidFill>
                  <a:schemeClr val="dk1"/>
                </a:solidFill>
              </a:rPr>
              <a:t> you want, not </a:t>
            </a:r>
            <a:r>
              <a:rPr i="1" lang="en-GB">
                <a:solidFill>
                  <a:schemeClr val="dk1"/>
                </a:solidFill>
              </a:rPr>
              <a:t>how</a:t>
            </a:r>
            <a:r>
              <a:rPr lang="en-GB">
                <a:solidFill>
                  <a:schemeClr val="dk1"/>
                </a:solidFill>
              </a:rPr>
              <a:t> to get it.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-GB">
                <a:solidFill>
                  <a:schemeClr val="dk1"/>
                </a:solidFill>
              </a:rPr>
              <a:t>Portable &amp; Standardized</a:t>
            </a:r>
            <a:r>
              <a:rPr lang="en-GB">
                <a:solidFill>
                  <a:schemeClr val="dk1"/>
                </a:solidFill>
              </a:rPr>
              <a:t>: works across vendors and platforms (ANSI SQL).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-GB">
                <a:solidFill>
                  <a:schemeClr val="dk1"/>
                </a:solidFill>
              </a:rPr>
              <a:t>Extensible</a:t>
            </a:r>
            <a:r>
              <a:rPr lang="en-GB">
                <a:solidFill>
                  <a:schemeClr val="dk1"/>
                </a:solidFill>
              </a:rPr>
              <a:t>: supports new features such as: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</a:rPr>
              <a:t>JSON &amp; XML data types (PostgreSQL, MySQL).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</a:rPr>
              <a:t>Window functions and analytics (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OVER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RANK</a:t>
            </a:r>
            <a:r>
              <a:rPr lang="en-GB">
                <a:solidFill>
                  <a:schemeClr val="dk1"/>
                </a:solidFill>
              </a:rPr>
              <a:t>, </a:t>
            </a:r>
            <a:r>
              <a:rPr lang="en-GB">
                <a:solidFill>
                  <a:srgbClr val="188038"/>
                </a:solidFill>
                <a:latin typeface="Roboto Mono"/>
                <a:ea typeface="Roboto Mono"/>
                <a:cs typeface="Roboto Mono"/>
                <a:sym typeface="Roboto Mono"/>
              </a:rPr>
              <a:t>LAG</a:t>
            </a:r>
            <a:r>
              <a:rPr lang="en-GB">
                <a:solidFill>
                  <a:schemeClr val="dk1"/>
                </a:solidFill>
              </a:rPr>
              <a:t>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</a:rPr>
              <a:t>Common Table Expressions (CTEs) for modular queries.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</a:rPr>
              <a:t>Integration with programming languages and APIs.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SQL now powers not only RDBMS but also </a:t>
            </a:r>
            <a:r>
              <a:rPr b="1" lang="en-GB">
                <a:solidFill>
                  <a:schemeClr val="dk1"/>
                </a:solidFill>
              </a:rPr>
              <a:t>BigQuery, Snowflake, SparkSQL, and DuckDB.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4" name="Shape 2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5" name="Google Shape;265;p4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The Data Professional’s Toolkit</a:t>
            </a:r>
            <a:endParaRPr/>
          </a:p>
        </p:txBody>
      </p:sp>
      <p:sp>
        <p:nvSpPr>
          <p:cNvPr id="266" name="Google Shape;266;p48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Modern database professionals combine </a:t>
            </a:r>
            <a:r>
              <a:rPr b="1" lang="en-GB">
                <a:solidFill>
                  <a:schemeClr val="dk1"/>
                </a:solidFill>
              </a:rPr>
              <a:t>technical, analytical, and communication</a:t>
            </a:r>
            <a:r>
              <a:rPr lang="en-GB">
                <a:solidFill>
                  <a:schemeClr val="dk1"/>
                </a:solidFill>
              </a:rPr>
              <a:t> skills.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Core technical tools: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GB">
                <a:solidFill>
                  <a:schemeClr val="dk1"/>
                </a:solidFill>
              </a:rPr>
              <a:t>SQL</a:t>
            </a:r>
            <a:r>
              <a:rPr lang="en-GB">
                <a:solidFill>
                  <a:schemeClr val="dk1"/>
                </a:solidFill>
              </a:rPr>
              <a:t> – foundation for all structured data systems.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GB">
                <a:solidFill>
                  <a:schemeClr val="dk1"/>
                </a:solidFill>
              </a:rPr>
              <a:t>Python / R</a:t>
            </a:r>
            <a:r>
              <a:rPr lang="en-GB">
                <a:solidFill>
                  <a:schemeClr val="dk1"/>
                </a:solidFill>
              </a:rPr>
              <a:t> – scripting, data transformation, ML integration.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GB">
                <a:solidFill>
                  <a:schemeClr val="dk1"/>
                </a:solidFill>
              </a:rPr>
              <a:t>ETL tools</a:t>
            </a:r>
            <a:r>
              <a:rPr lang="en-GB">
                <a:solidFill>
                  <a:schemeClr val="dk1"/>
                </a:solidFill>
              </a:rPr>
              <a:t> – Airflow, dbt, Talend for data pipelines.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GB">
                <a:solidFill>
                  <a:schemeClr val="dk1"/>
                </a:solidFill>
              </a:rPr>
              <a:t>Visualization</a:t>
            </a:r>
            <a:r>
              <a:rPr lang="en-GB">
                <a:solidFill>
                  <a:schemeClr val="dk1"/>
                </a:solidFill>
              </a:rPr>
              <a:t> – Power BI, Tableau, Metabase for storytelling with data.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GB">
                <a:solidFill>
                  <a:schemeClr val="dk1"/>
                </a:solidFill>
              </a:rPr>
              <a:t>Cloud platforms</a:t>
            </a:r>
            <a:r>
              <a:rPr lang="en-GB">
                <a:solidFill>
                  <a:schemeClr val="dk1"/>
                </a:solidFill>
              </a:rPr>
              <a:t> – AWS, Azure, Google Cloud, Supabase.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Professional practices: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</a:rPr>
              <a:t>Version control (Git).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</a:rPr>
              <a:t>Documentation &amp; data modeling (ER diagrams).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</a:rPr>
              <a:t>Ethics, privacy, and responsible data stewardship.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4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Part 5 – Course Reflection &amp; Wrap-Up</a:t>
            </a:r>
            <a:endParaRPr/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5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Learning Outcome Recap</a:t>
            </a:r>
            <a:endParaRPr/>
          </a:p>
        </p:txBody>
      </p:sp>
      <p:graphicFrame>
        <p:nvGraphicFramePr>
          <p:cNvPr id="277" name="Google Shape;277;p50"/>
          <p:cNvGraphicFramePr/>
          <p:nvPr/>
        </p:nvGraphicFramePr>
        <p:xfrm>
          <a:off x="311700" y="14611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{AA346B61-747F-4E6A-B312-0C31826E2838}</a:tableStyleId>
              </a:tblPr>
              <a:tblGrid>
                <a:gridCol w="757700"/>
                <a:gridCol w="5301975"/>
                <a:gridCol w="2460925"/>
              </a:tblGrid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LO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Learning Outcome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Demonstrated In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LO1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Describe the functions &amp; characteristics of relational databases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Module 1 (Introduction)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LO2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Apply database design techniques (EER modeling, normalization)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Modules 2–4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LO3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Design &amp; implement a database application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Modules 5–12 (Lab Tracker)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LO4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Use SQL for DDL, DML, and DCL operations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Modules 5–8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LO5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Discuss transaction management &amp; concurrency control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Module 10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000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LO6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Describe databases in data warehousing &amp; analytics contexts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Modules 11–12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1" name="Shape 2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Google Shape;282;p5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From Student to Practitioner</a:t>
            </a:r>
            <a:endParaRPr/>
          </a:p>
        </p:txBody>
      </p:sp>
      <p:sp>
        <p:nvSpPr>
          <p:cNvPr id="283" name="Google Shape;283;p5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You now possess the </a:t>
            </a:r>
            <a:r>
              <a:rPr b="1" lang="en-GB">
                <a:solidFill>
                  <a:schemeClr val="dk1"/>
                </a:solidFill>
              </a:rPr>
              <a:t>core competencies</a:t>
            </a:r>
            <a:r>
              <a:rPr lang="en-GB">
                <a:solidFill>
                  <a:schemeClr val="dk1"/>
                </a:solidFill>
              </a:rPr>
              <a:t> of a database professional: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 sz="1400">
                <a:solidFill>
                  <a:schemeClr val="dk1"/>
                </a:solidFill>
              </a:rPr>
              <a:t>Design normalized schemas from real-world requirements.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 sz="1400">
                <a:solidFill>
                  <a:schemeClr val="dk1"/>
                </a:solidFill>
              </a:rPr>
              <a:t>Write and optimize SQL queries for multiple use cases.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 sz="1400">
                <a:solidFill>
                  <a:schemeClr val="dk1"/>
                </a:solidFill>
              </a:rPr>
              <a:t>Enforce data integrity through keys, constraints, and transactions.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 sz="1400">
                <a:solidFill>
                  <a:schemeClr val="dk1"/>
                </a:solidFill>
              </a:rPr>
              <a:t>Control access and roles securely (DCL).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 sz="1400">
                <a:solidFill>
                  <a:schemeClr val="dk1"/>
                </a:solidFill>
              </a:rPr>
              <a:t>Integrate relational data with analytics and cloud systems.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n-GB">
                <a:solidFill>
                  <a:schemeClr val="dk1"/>
                </a:solidFill>
              </a:rPr>
              <a:t>These skills apply directly to </a:t>
            </a:r>
            <a:r>
              <a:rPr b="1" lang="en-GB">
                <a:solidFill>
                  <a:schemeClr val="dk1"/>
                </a:solidFill>
              </a:rPr>
              <a:t>industry roles</a:t>
            </a:r>
            <a:r>
              <a:rPr lang="en-GB">
                <a:solidFill>
                  <a:schemeClr val="dk1"/>
                </a:solidFill>
              </a:rPr>
              <a:t> such as: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 sz="1400">
                <a:solidFill>
                  <a:schemeClr val="dk1"/>
                </a:solidFill>
              </a:rPr>
              <a:t>Database Developer / Designer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 sz="1400">
                <a:solidFill>
                  <a:schemeClr val="dk1"/>
                </a:solidFill>
              </a:rPr>
              <a:t>Data Analyst / BI Specialist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 sz="1400">
                <a:solidFill>
                  <a:schemeClr val="dk1"/>
                </a:solidFill>
              </a:rPr>
              <a:t>Backend or Full-Stack Developer</a:t>
            </a:r>
            <a:endParaRPr sz="1400"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 sz="1400">
                <a:solidFill>
                  <a:schemeClr val="dk1"/>
                </a:solidFill>
              </a:rPr>
              <a:t>Data Engineer / Cloud Architect</a:t>
            </a:r>
            <a:endParaRPr sz="14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p5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Database Ethics &amp; Responsibility</a:t>
            </a:r>
            <a:endParaRPr/>
          </a:p>
        </p:txBody>
      </p:sp>
      <p:sp>
        <p:nvSpPr>
          <p:cNvPr id="289" name="Google Shape;289;p5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-GB">
                <a:solidFill>
                  <a:schemeClr val="dk1"/>
                </a:solidFill>
              </a:rPr>
              <a:t>Data has power — and responsibility.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Ethical database practice includes: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GB" sz="1800">
                <a:solidFill>
                  <a:schemeClr val="dk1"/>
                </a:solidFill>
              </a:rPr>
              <a:t>Privacy:</a:t>
            </a:r>
            <a:r>
              <a:rPr lang="en-GB" sz="1800">
                <a:solidFill>
                  <a:schemeClr val="dk1"/>
                </a:solidFill>
              </a:rPr>
              <a:t> collect only necessary data; anonymize when possible.</a:t>
            </a:r>
            <a:endParaRPr sz="18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GB" sz="1800">
                <a:solidFill>
                  <a:schemeClr val="dk1"/>
                </a:solidFill>
              </a:rPr>
              <a:t>Security:</a:t>
            </a:r>
            <a:r>
              <a:rPr lang="en-GB" sz="1800">
                <a:solidFill>
                  <a:schemeClr val="dk1"/>
                </a:solidFill>
              </a:rPr>
              <a:t> protect sensitive information through encryption, roles, and access control.</a:t>
            </a:r>
            <a:endParaRPr sz="18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GB" sz="1800">
                <a:solidFill>
                  <a:schemeClr val="dk1"/>
                </a:solidFill>
              </a:rPr>
              <a:t>Accuracy:</a:t>
            </a:r>
            <a:r>
              <a:rPr lang="en-GB" sz="1800">
                <a:solidFill>
                  <a:schemeClr val="dk1"/>
                </a:solidFill>
              </a:rPr>
              <a:t> ensure integrity and prevent misuse or bias in stored data.</a:t>
            </a:r>
            <a:endParaRPr sz="18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GB" sz="1800">
                <a:solidFill>
                  <a:schemeClr val="dk1"/>
                </a:solidFill>
              </a:rPr>
              <a:t>Transparency:</a:t>
            </a:r>
            <a:r>
              <a:rPr lang="en-GB" sz="1800">
                <a:solidFill>
                  <a:schemeClr val="dk1"/>
                </a:solidFill>
              </a:rPr>
              <a:t> users should know how their data is used and shared.</a:t>
            </a:r>
            <a:endParaRPr sz="1800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b="1" lang="en-GB" sz="1800">
                <a:solidFill>
                  <a:schemeClr val="dk1"/>
                </a:solidFill>
              </a:rPr>
              <a:t>Accountability:</a:t>
            </a:r>
            <a:r>
              <a:rPr lang="en-GB" sz="1800">
                <a:solidFill>
                  <a:schemeClr val="dk1"/>
                </a:solidFill>
              </a:rPr>
              <a:t> database professionals must comply with laws (PIPEDA, GDPR).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Always ask:</a:t>
            </a:r>
            <a:br>
              <a:rPr lang="en-GB">
                <a:solidFill>
                  <a:schemeClr val="dk1"/>
                </a:solidFill>
              </a:rPr>
            </a:br>
            <a:r>
              <a:rPr lang="en-GB">
                <a:solidFill>
                  <a:schemeClr val="dk1"/>
                </a:solidFill>
              </a:rPr>
              <a:t> “Should this data be stored — and who should have access to it?”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5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Career Connections</a:t>
            </a:r>
            <a:endParaRPr/>
          </a:p>
        </p:txBody>
      </p:sp>
      <p:graphicFrame>
        <p:nvGraphicFramePr>
          <p:cNvPr id="295" name="Google Shape;295;p53"/>
          <p:cNvGraphicFramePr/>
          <p:nvPr/>
        </p:nvGraphicFramePr>
        <p:xfrm>
          <a:off x="311688" y="115547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{AA346B61-747F-4E6A-B312-0C31826E2838}</a:tableStyleId>
              </a:tblPr>
              <a:tblGrid>
                <a:gridCol w="2580200"/>
                <a:gridCol w="2628175"/>
                <a:gridCol w="3312225"/>
              </a:tblGrid>
              <a:tr h="290650"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Role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Focus Area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ctr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Example Tasks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Database Developer / Designer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Schema &amp; SQL optimization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Create and tune database structures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Backend Developer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Data integration via APIs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Query and manage relational data in apps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Data Analyst / BI Developer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Data interpretation &amp; reporting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Write SQL for analysis and visualization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Data Engineer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Data pipelines &amp; ETL automation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Manage data flow to warehouses and lakes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6862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Database Administrator (DBA)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Security, performance, reliability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Manage roles, backups, and uptime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0" name="Google Shape;300;p5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Next Courses &amp; Pathways</a:t>
            </a:r>
            <a:endParaRPr/>
          </a:p>
        </p:txBody>
      </p:sp>
      <p:graphicFrame>
        <p:nvGraphicFramePr>
          <p:cNvPr id="301" name="Google Shape;301;p54"/>
          <p:cNvGraphicFramePr/>
          <p:nvPr/>
        </p:nvGraphicFramePr>
        <p:xfrm>
          <a:off x="311700" y="1666225"/>
          <a:ext cx="3000000" cy="3000000"/>
        </p:xfrm>
        <a:graphic>
          <a:graphicData uri="http://schemas.openxmlformats.org/drawingml/2006/table">
            <a:tbl>
              <a:tblPr>
                <a:noFill/>
                <a:tableStyleId>{AA346B61-747F-4E6A-B312-0C31826E2838}</a:tableStyleId>
              </a:tblPr>
              <a:tblGrid>
                <a:gridCol w="3231625"/>
                <a:gridCol w="2803800"/>
                <a:gridCol w="2485175"/>
              </a:tblGrid>
              <a:tr h="379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BCIT Course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Focus Area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Skills Built Upon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COMP 3711 – Data Structures &amp; Algorithms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Efficiency, logic, and programming foundations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SQL logic, schema design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34675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COMP 4514 – Advanced Databases / Data Analytics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OLAP, data mining, warehousing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SQL queries, normalization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Cloud &amp; DevOps Electives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Cloud deployment, automation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DBaaS, PaaS models (Modules 12–13)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612150"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GB" sz="1100"/>
                        <a:t>Data Science &amp; AI Courses</a:t>
                      </a:r>
                      <a:endParaRPr b="1" sz="1100"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Machine learning and analytics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GB"/>
                        <a:t>Warehousing, procedural SQL, data ethics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rgbClr val="000000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05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5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Learning as Iteration</a:t>
            </a:r>
            <a:endParaRPr/>
          </a:p>
        </p:txBody>
      </p:sp>
      <p:sp>
        <p:nvSpPr>
          <p:cNvPr id="307" name="Google Shape;307;p5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Database design and learning share the same process: </a:t>
            </a:r>
            <a:r>
              <a:rPr b="1" lang="en-GB">
                <a:solidFill>
                  <a:schemeClr val="dk1"/>
                </a:solidFill>
              </a:rPr>
              <a:t>Iterate → Test → Refine.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Good databases (and good learners) evolve through feedback and improvement.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-GB">
                <a:solidFill>
                  <a:schemeClr val="dk1"/>
                </a:solidFill>
              </a:rPr>
              <a:t>In database design: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</a:rPr>
              <a:t>Draft EERD → Normalize → Implement → Adjust for new needs.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-GB">
                <a:solidFill>
                  <a:schemeClr val="dk1"/>
                </a:solidFill>
              </a:rPr>
              <a:t>In learning:</a:t>
            </a:r>
            <a:endParaRPr b="1"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</a:rPr>
              <a:t>Try → Receive feedback → Revise → Grow.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Continuous iteration builds </a:t>
            </a:r>
            <a:r>
              <a:rPr b="1" lang="en-GB">
                <a:solidFill>
                  <a:schemeClr val="dk1"/>
                </a:solidFill>
              </a:rPr>
              <a:t>resilience, adaptability, and mastery.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1" name="Shape 3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2" name="Google Shape;312;p5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Your Personal Data Mindset</a:t>
            </a:r>
            <a:endParaRPr/>
          </a:p>
        </p:txBody>
      </p:sp>
      <p:sp>
        <p:nvSpPr>
          <p:cNvPr id="313" name="Google Shape;313;p5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Think </a:t>
            </a:r>
            <a:r>
              <a:rPr b="1" lang="en-GB">
                <a:solidFill>
                  <a:schemeClr val="dk1"/>
                </a:solidFill>
              </a:rPr>
              <a:t>structurally</a:t>
            </a:r>
            <a:r>
              <a:rPr lang="en-GB">
                <a:solidFill>
                  <a:schemeClr val="dk1"/>
                </a:solidFill>
              </a:rPr>
              <a:t> about information — patterns, relationships, dependencies.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Approach problems like a </a:t>
            </a:r>
            <a:r>
              <a:rPr b="1" lang="en-GB">
                <a:solidFill>
                  <a:schemeClr val="dk1"/>
                </a:solidFill>
              </a:rPr>
              <a:t>database designer</a:t>
            </a:r>
            <a:r>
              <a:rPr lang="en-GB">
                <a:solidFill>
                  <a:schemeClr val="dk1"/>
                </a:solidFill>
              </a:rPr>
              <a:t>:</a:t>
            </a:r>
            <a:endParaRPr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Clarify entities (what exists).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Identify relationships (how they connect).</a:t>
            </a:r>
            <a:endParaRPr sz="1800">
              <a:solidFill>
                <a:schemeClr val="dk1"/>
              </a:solidFill>
            </a:endParaRPr>
          </a:p>
          <a:p>
            <a:pPr indent="-3429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</a:pPr>
            <a:r>
              <a:rPr lang="en-GB" sz="1800">
                <a:solidFill>
                  <a:schemeClr val="dk1"/>
                </a:solidFill>
              </a:rPr>
              <a:t>Apply constraints (what must be true).</a:t>
            </a:r>
            <a:endParaRPr sz="1800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Develop habits of </a:t>
            </a:r>
            <a:r>
              <a:rPr b="1" lang="en-GB">
                <a:solidFill>
                  <a:schemeClr val="dk1"/>
                </a:solidFill>
              </a:rPr>
              <a:t>precision, curiosity, and integrity</a:t>
            </a:r>
            <a:r>
              <a:rPr lang="en-GB">
                <a:solidFill>
                  <a:schemeClr val="dk1"/>
                </a:solidFill>
              </a:rPr>
              <a:t> in how you handle information.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</a:pPr>
            <a:r>
              <a:rPr lang="en-GB">
                <a:solidFill>
                  <a:schemeClr val="dk1"/>
                </a:solidFill>
              </a:rPr>
              <a:t>Your mindset shapes how you design systems, solve problems, and make decisions.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7" name="Shape 3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8" name="Google Shape;318;p5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GB"/>
              <a:t>Closing Quote</a:t>
            </a:r>
            <a:endParaRPr/>
          </a:p>
        </p:txBody>
      </p:sp>
      <p:sp>
        <p:nvSpPr>
          <p:cNvPr id="319" name="Google Shape;319;p5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-GB">
                <a:solidFill>
                  <a:schemeClr val="dk1"/>
                </a:solidFill>
              </a:rPr>
              <a:t>Databases are everywhere</a:t>
            </a:r>
            <a:r>
              <a:rPr lang="en-GB">
                <a:solidFill>
                  <a:schemeClr val="dk1"/>
                </a:solidFill>
              </a:rPr>
              <a:t> — every modern system relies on structured data.</a:t>
            </a: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-GB">
                <a:solidFill>
                  <a:schemeClr val="dk1"/>
                </a:solidFill>
              </a:rPr>
              <a:t>You now understand how data lives, connects, and stays consistent.</a:t>
            </a:r>
            <a:endParaRPr b="1"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lang="en-GB">
                <a:solidFill>
                  <a:schemeClr val="dk1"/>
                </a:solidFill>
              </a:rPr>
              <a:t>What you’ve learned: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</a:rPr>
              <a:t>Design with logic and clarity.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</a:rPr>
              <a:t>Protect data integrity and privacy.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</a:rPr>
              <a:t>Think critically about structure and meaning.</a:t>
            </a:r>
            <a:endParaRPr>
              <a:solidFill>
                <a:schemeClr val="dk1"/>
              </a:solidFill>
            </a:endParaRPr>
          </a:p>
          <a:p>
            <a:pPr indent="-31750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Char char="-"/>
            </a:pPr>
            <a:r>
              <a:rPr lang="en-GB">
                <a:solidFill>
                  <a:schemeClr val="dk1"/>
                </a:solidFill>
              </a:rPr>
              <a:t>Keep learning — tools change, principles endure.</a:t>
            </a:r>
            <a:br>
              <a:rPr lang="en-GB">
                <a:solidFill>
                  <a:schemeClr val="dk1"/>
                </a:solidFill>
              </a:rPr>
            </a:br>
            <a:endParaRPr>
              <a:solidFill>
                <a:schemeClr val="dk1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Char char="-"/>
            </a:pPr>
            <a:r>
              <a:rPr b="1" lang="en-GB">
                <a:solidFill>
                  <a:schemeClr val="dk1"/>
                </a:solidFill>
              </a:rPr>
              <a:t>“Good databases don’t just store data — they tell truth through structure.”</a:t>
            </a:r>
            <a:endParaRPr b="1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