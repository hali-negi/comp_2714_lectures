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</p:sldIdLst>
  <p:sldSz cy="5143500" cx="9144000"/>
  <p:notesSz cx="6858000" cy="9144000"/>
  <p:embeddedFontLst>
    <p:embeddedFont>
      <p:font typeface="Lora"/>
      <p:regular r:id="rId48"/>
      <p:bold r:id="rId49"/>
      <p:italic r:id="rId50"/>
      <p:boldItalic r:id="rId51"/>
    </p:embeddedFont>
    <p:embeddedFont>
      <p:font typeface="Roboto Mono"/>
      <p:regular r:id="rId52"/>
      <p:bold r:id="rId53"/>
      <p:italic r:id="rId54"/>
      <p:boldItalic r:id="rId5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font" Target="fonts/Lora-regular.fntdata"/><Relationship Id="rId47" Type="http://schemas.openxmlformats.org/officeDocument/2006/relationships/slide" Target="slides/slide43.xml"/><Relationship Id="rId49" Type="http://schemas.openxmlformats.org/officeDocument/2006/relationships/font" Target="fonts/Lora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font" Target="fonts/Lora-boldItalic.fntdata"/><Relationship Id="rId50" Type="http://schemas.openxmlformats.org/officeDocument/2006/relationships/font" Target="fonts/Lora-italic.fntdata"/><Relationship Id="rId53" Type="http://schemas.openxmlformats.org/officeDocument/2006/relationships/font" Target="fonts/RobotoMono-bold.fntdata"/><Relationship Id="rId52" Type="http://schemas.openxmlformats.org/officeDocument/2006/relationships/font" Target="fonts/RobotoMono-regular.fntdata"/><Relationship Id="rId11" Type="http://schemas.openxmlformats.org/officeDocument/2006/relationships/slide" Target="slides/slide7.xml"/><Relationship Id="rId55" Type="http://schemas.openxmlformats.org/officeDocument/2006/relationships/font" Target="fonts/RobotoMono-boldItalic.fntdata"/><Relationship Id="rId10" Type="http://schemas.openxmlformats.org/officeDocument/2006/relationships/slide" Target="slides/slide6.xml"/><Relationship Id="rId54" Type="http://schemas.openxmlformats.org/officeDocument/2006/relationships/font" Target="fonts/RobotoMono-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73f52dacf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73f52dacf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73f52dacf7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73f52dacf7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73f52dacf7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73f52dacf7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73f52dacf7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73f52dacf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If we were to automate product ordering, we should somehow </a:t>
            </a:r>
            <a:r>
              <a:rPr b="1" lang="en-GB"/>
              <a:t>implement </a:t>
            </a:r>
            <a:r>
              <a:rPr lang="en-GB"/>
              <a:t>this procedure.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To implement this procedure, we need to</a:t>
            </a:r>
            <a:r>
              <a:rPr b="1" lang="en-GB"/>
              <a:t> loop</a:t>
            </a:r>
            <a:r>
              <a:rPr lang="en-GB"/>
              <a:t> through products, and check them for the condition: QOH &lt; min_allowable.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But SQL is declarative not procedural. SQL does not know about loops and conditional execution.  →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73f52dacf7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73f52dacf7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73f52dacf7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73f52dacf7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a good example? 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73f52dacf7_0_3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73f52dacf7_0_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❏"/>
            </a:pPr>
            <a:r>
              <a:rPr lang="en-GB"/>
              <a:t>Read Chapter 12 and Appendix G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73f52dacf7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73f52dacf7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73f52dacf7_0_3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73f52dacf7_0_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Where are they stored on sql server?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73f52dacf7_0_3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73f52dacf7_0_3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Example? 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73f52dacf7_0_3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73f52dacf7_0_3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73f52dacf7_0_3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73f52dacf7_0_3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9f2c63f34f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9f2c63f34f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9f2c63f34f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9f2c63f34f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9f2c63f34f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9f2c63f34f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73f52dacf7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73f52dacf7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9f2c63f34f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9f2c63f34f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9f2c63f34f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9f2c63f34f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73f52dacf7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73f52dacf7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73f52dacf7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73f52dacf7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Other trigger timings: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AFTER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FOR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INSTEAD OF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Triggering events: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INSERT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UPDATE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DELETE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73f52dacf7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73f52dacf7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73f52dacf7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73f52dacf7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73f52dacf7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73f52dacf7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73f52dacf7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73f52dacf7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73f52dacf7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73f52dacf7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9f2c63f34f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9f2c63f34f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73f52dacf7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73f52dacf7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73f52dacf7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73f52dacf7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73f52dacf7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73f52dacf7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73f52dacf7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73f52dacf7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740af305ab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740af305ab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740af305ab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740af305ab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73f52dacf7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73f52dacf7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73f52dacf7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73f52dacf7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73f52dacf7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73f52dacf7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740af305ab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740af305a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9f2c63f34f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39f2c63f34f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740af305ab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740af305ab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9f2c63f34f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39f2c63f34f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740af305ab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740af305ab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73f52dacf7_0_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73f52dacf7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740af305ab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740af305ab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740af305ab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740af305ab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311700" y="4663225"/>
            <a:ext cx="3459300" cy="3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E56B6A"/>
                </a:solidFill>
                <a:latin typeface="Lora"/>
                <a:ea typeface="Lora"/>
                <a:cs typeface="Lora"/>
                <a:sym typeface="Lora"/>
              </a:rPr>
              <a:t>COMP 2714</a:t>
            </a:r>
            <a:r>
              <a:rPr lang="en-GB" sz="1000">
                <a:latin typeface="Lora"/>
                <a:ea typeface="Lora"/>
                <a:cs typeface="Lora"/>
                <a:sym typeface="Lora"/>
              </a:rPr>
              <a:t> - </a:t>
            </a:r>
            <a:r>
              <a:rPr b="1" lang="en-GB" sz="1000">
                <a:latin typeface="Lora"/>
                <a:ea typeface="Lora"/>
                <a:cs typeface="Lora"/>
                <a:sym typeface="Lora"/>
              </a:rPr>
              <a:t>Maryam Khezrzadeh</a:t>
            </a:r>
            <a:endParaRPr b="1" sz="1000">
              <a:latin typeface="Lora"/>
              <a:ea typeface="Lora"/>
              <a:cs typeface="Lora"/>
              <a:sym typeface="Lora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Relationship Id="rId4" Type="http://schemas.openxmlformats.org/officeDocument/2006/relationships/image" Target="../media/image2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png"/><Relationship Id="rId4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2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0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8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Module 9 - Procedural SQL</a:t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rgbClr val="595959"/>
                </a:solidFill>
              </a:rPr>
              <a:t>Extending SQL with Procedural Logic</a:t>
            </a:r>
            <a:endParaRPr sz="28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Learning Outcomes – Procedural SQL (PL/pgSQL)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72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</a:rPr>
              <a:t>By the end of this module, you will be able to: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Explain the role of procedural SQL in automating business rules within a relational database.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Create and test </a:t>
            </a:r>
            <a:r>
              <a:rPr b="1" lang="en-GB">
                <a:solidFill>
                  <a:schemeClr val="dk1"/>
                </a:solidFill>
              </a:rPr>
              <a:t>triggers</a:t>
            </a:r>
            <a:r>
              <a:rPr lang="en-GB">
                <a:solidFill>
                  <a:schemeClr val="dk1"/>
                </a:solidFill>
              </a:rPr>
              <a:t> and </a:t>
            </a:r>
            <a:r>
              <a:rPr b="1" lang="en-GB">
                <a:solidFill>
                  <a:schemeClr val="dk1"/>
                </a:solidFill>
              </a:rPr>
              <a:t>stored procedures</a:t>
            </a:r>
            <a:r>
              <a:rPr lang="en-GB">
                <a:solidFill>
                  <a:schemeClr val="dk1"/>
                </a:solidFill>
              </a:rPr>
              <a:t> using </a:t>
            </a:r>
            <a:r>
              <a:rPr b="1" lang="en-GB">
                <a:solidFill>
                  <a:schemeClr val="dk1"/>
                </a:solidFill>
              </a:rPr>
              <a:t>PL/pgSQL</a:t>
            </a:r>
            <a:r>
              <a:rPr lang="en-GB">
                <a:solidFill>
                  <a:schemeClr val="dk1"/>
                </a:solidFill>
              </a:rPr>
              <a:t> in PostgreSQL.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Use Case: Automating Product Reordering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199200" y="1152475"/>
            <a:ext cx="8745600" cy="216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</a:rPr>
              <a:t>Scenario – SaleCo Inventory Management System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Ensure there are always enough products available for customers.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Automatically trigger a </a:t>
            </a:r>
            <a:r>
              <a:rPr b="1" lang="en-GB">
                <a:solidFill>
                  <a:schemeClr val="dk1"/>
                </a:solidFill>
              </a:rPr>
              <a:t>vendor reorder</a:t>
            </a:r>
            <a:r>
              <a:rPr lang="en-GB">
                <a:solidFill>
                  <a:schemeClr val="dk1"/>
                </a:solidFill>
              </a:rPr>
              <a:t> when </a:t>
            </a:r>
            <a:r>
              <a:rPr b="1" lang="en-GB">
                <a:solidFill>
                  <a:schemeClr val="dk1"/>
                </a:solidFill>
              </a:rPr>
              <a:t>Quantity on Hand (QoH)</a:t>
            </a:r>
            <a:r>
              <a:rPr lang="en-GB">
                <a:solidFill>
                  <a:schemeClr val="dk1"/>
                </a:solidFill>
              </a:rPr>
              <a:t> falls below the </a:t>
            </a:r>
            <a:r>
              <a:rPr b="1" lang="en-GB">
                <a:solidFill>
                  <a:schemeClr val="dk1"/>
                </a:solidFill>
              </a:rPr>
              <a:t>minimum stock level</a:t>
            </a:r>
            <a:r>
              <a:rPr lang="en-GB">
                <a:solidFill>
                  <a:schemeClr val="dk1"/>
                </a:solidFill>
              </a:rPr>
              <a:t>.</a:t>
            </a:r>
            <a:endParaRPr b="1">
              <a:solidFill>
                <a:schemeClr val="dk1"/>
              </a:solidFill>
            </a:endParaRPr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648" y="3201411"/>
            <a:ext cx="737700" cy="737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 txBox="1"/>
          <p:nvPr/>
        </p:nvSpPr>
        <p:spPr>
          <a:xfrm>
            <a:off x="1246350" y="3317088"/>
            <a:ext cx="7389000" cy="7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How can we automate product reordering using procedural SQL?</a:t>
            </a:r>
            <a:endParaRPr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Automating Product Ordering</a:t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199200" y="1152475"/>
            <a:ext cx="8745600" cy="367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</a:rPr>
              <a:t>Business Procedure: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GB">
                <a:solidFill>
                  <a:schemeClr val="dk1"/>
                </a:solidFill>
              </a:rPr>
              <a:t>Ensure </a:t>
            </a:r>
            <a:r>
              <a:rPr b="1" lang="en-GB">
                <a:solidFill>
                  <a:schemeClr val="dk1"/>
                </a:solidFill>
              </a:rPr>
              <a:t>Quantity on Hand (QoH)</a:t>
            </a:r>
            <a:r>
              <a:rPr lang="en-GB">
                <a:solidFill>
                  <a:schemeClr val="dk1"/>
                </a:solidFill>
              </a:rPr>
              <a:t> values are accurate and consistent.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GB">
                <a:solidFill>
                  <a:schemeClr val="dk1"/>
                </a:solidFill>
              </a:rPr>
              <a:t>If </a:t>
            </a:r>
            <a:r>
              <a:rPr b="1" lang="en-GB">
                <a:solidFill>
                  <a:schemeClr val="dk1"/>
                </a:solidFill>
              </a:rPr>
              <a:t>QoH &lt; Min_Allowable</a:t>
            </a:r>
            <a:r>
              <a:rPr lang="en-GB">
                <a:solidFill>
                  <a:schemeClr val="dk1"/>
                </a:solidFill>
              </a:rPr>
              <a:t>, automatically </a:t>
            </a:r>
            <a:r>
              <a:rPr b="1" lang="en-GB">
                <a:solidFill>
                  <a:schemeClr val="dk1"/>
                </a:solidFill>
              </a:rPr>
              <a:t>generate a reorder</a:t>
            </a:r>
            <a:r>
              <a:rPr lang="en-GB">
                <a:solidFill>
                  <a:schemeClr val="dk1"/>
                </a:solidFill>
              </a:rPr>
              <a:t> for that product.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💡 </a:t>
            </a:r>
            <a:r>
              <a:rPr i="1" lang="en-GB">
                <a:solidFill>
                  <a:schemeClr val="dk1"/>
                </a:solidFill>
              </a:rPr>
              <a:t>Automation ensures stock levels stay consistent without manual intervention.</a:t>
            </a:r>
            <a:endParaRPr i="1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199200" y="1415900"/>
            <a:ext cx="8745600" cy="32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SQL specifies </a:t>
            </a:r>
            <a:r>
              <a:rPr b="1" lang="en-GB">
                <a:solidFill>
                  <a:schemeClr val="dk1"/>
                </a:solidFill>
              </a:rPr>
              <a:t>what</a:t>
            </a:r>
            <a:r>
              <a:rPr lang="en-GB">
                <a:solidFill>
                  <a:schemeClr val="dk1"/>
                </a:solidFill>
              </a:rPr>
              <a:t> to do, not </a:t>
            </a:r>
            <a:r>
              <a:rPr b="1" lang="en-GB">
                <a:solidFill>
                  <a:schemeClr val="dk1"/>
                </a:solidFill>
              </a:rPr>
              <a:t>how</a:t>
            </a:r>
            <a:r>
              <a:rPr lang="en-GB">
                <a:solidFill>
                  <a:schemeClr val="dk1"/>
                </a:solidFill>
              </a:rPr>
              <a:t> to do it.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SQL alone does </a:t>
            </a:r>
            <a:r>
              <a:rPr b="1" lang="en-GB">
                <a:solidFill>
                  <a:schemeClr val="dk1"/>
                </a:solidFill>
              </a:rPr>
              <a:t>not support conditional logic or looping operations</a:t>
            </a:r>
            <a:r>
              <a:rPr lang="en-GB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To automate business rules, we use a </a:t>
            </a:r>
            <a:r>
              <a:rPr b="1" lang="en-GB">
                <a:solidFill>
                  <a:schemeClr val="dk1"/>
                </a:solidFill>
              </a:rPr>
              <a:t>procedural extension</a:t>
            </a:r>
            <a:r>
              <a:rPr lang="en-GB">
                <a:solidFill>
                  <a:schemeClr val="dk1"/>
                </a:solidFill>
              </a:rPr>
              <a:t> such as </a:t>
            </a:r>
            <a:r>
              <a:rPr b="1" lang="en-GB">
                <a:solidFill>
                  <a:schemeClr val="dk1"/>
                </a:solidFill>
              </a:rPr>
              <a:t>PL/pgSQL</a:t>
            </a:r>
            <a:r>
              <a:rPr lang="en-GB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💡 </a:t>
            </a:r>
            <a:r>
              <a:rPr i="1" lang="en-GB">
                <a:solidFill>
                  <a:schemeClr val="dk1"/>
                </a:solidFill>
              </a:rPr>
              <a:t>Declarative SQL describes the goal; procedural SQL defines the process.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666666"/>
              </a:solidFill>
            </a:endParaRPr>
          </a:p>
        </p:txBody>
      </p:sp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SQL is Declarative Not Procedural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280525"/>
            <a:ext cx="8520600" cy="32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SQL cannot express </a:t>
            </a:r>
            <a:r>
              <a:rPr i="1" lang="en-GB">
                <a:solidFill>
                  <a:schemeClr val="dk1"/>
                </a:solidFill>
              </a:rPr>
              <a:t>how</a:t>
            </a:r>
            <a:r>
              <a:rPr lang="en-GB">
                <a:solidFill>
                  <a:schemeClr val="dk1"/>
                </a:solidFill>
              </a:rPr>
              <a:t> to perform operations — only </a:t>
            </a:r>
            <a:r>
              <a:rPr i="1" lang="en-GB">
                <a:solidFill>
                  <a:schemeClr val="dk1"/>
                </a:solidFill>
              </a:rPr>
              <a:t>what</a:t>
            </a:r>
            <a:r>
              <a:rPr lang="en-GB">
                <a:solidFill>
                  <a:schemeClr val="dk1"/>
                </a:solidFill>
              </a:rPr>
              <a:t> to do.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As a result, </a:t>
            </a:r>
            <a:r>
              <a:rPr b="1" lang="en-GB">
                <a:solidFill>
                  <a:schemeClr val="dk1"/>
                </a:solidFill>
              </a:rPr>
              <a:t>business rules must be duplicated across multiple programs.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This leads to </a:t>
            </a:r>
            <a:r>
              <a:rPr b="1" lang="en-GB">
                <a:solidFill>
                  <a:schemeClr val="dk1"/>
                </a:solidFill>
              </a:rPr>
              <a:t>inconsistent logic</a:t>
            </a:r>
            <a:r>
              <a:rPr lang="en-GB">
                <a:solidFill>
                  <a:schemeClr val="dk1"/>
                </a:solidFill>
              </a:rPr>
              <a:t> and </a:t>
            </a:r>
            <a:r>
              <a:rPr b="1" lang="en-GB">
                <a:solidFill>
                  <a:schemeClr val="dk1"/>
                </a:solidFill>
              </a:rPr>
              <a:t>high maintenance overhead.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💡 </a:t>
            </a:r>
            <a:r>
              <a:rPr i="1" lang="en-GB">
                <a:solidFill>
                  <a:schemeClr val="dk1"/>
                </a:solidFill>
              </a:rPr>
              <a:t>Procedural SQL (PL/pgSQL) allows us to centralize this logic inside the database.</a:t>
            </a:r>
            <a:endParaRPr i="1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  <a:highlight>
                <a:srgbClr val="00FFFF"/>
              </a:highlight>
            </a:endParaRPr>
          </a:p>
        </p:txBody>
      </p:sp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SQL is Declarative Not Procedural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199200" y="1415900"/>
            <a:ext cx="8745600" cy="32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GB">
                <a:solidFill>
                  <a:schemeClr val="dk1"/>
                </a:solidFill>
              </a:rPr>
              <a:t>Centralize critical code</a:t>
            </a:r>
            <a:r>
              <a:rPr lang="en-GB">
                <a:solidFill>
                  <a:schemeClr val="dk1"/>
                </a:solidFill>
              </a:rPr>
              <a:t> so all applications call the same shared logic.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Especially effective in </a:t>
            </a:r>
            <a:r>
              <a:rPr b="1" lang="en-GB">
                <a:solidFill>
                  <a:schemeClr val="dk1"/>
                </a:solidFill>
              </a:rPr>
              <a:t>distributed</a:t>
            </a:r>
            <a:r>
              <a:rPr lang="en-GB">
                <a:solidFill>
                  <a:schemeClr val="dk1"/>
                </a:solidFill>
              </a:rPr>
              <a:t> and </a:t>
            </a:r>
            <a:r>
              <a:rPr b="1" lang="en-GB">
                <a:solidFill>
                  <a:schemeClr val="dk1"/>
                </a:solidFill>
              </a:rPr>
              <a:t>object-oriented</a:t>
            </a:r>
            <a:r>
              <a:rPr lang="en-GB">
                <a:solidFill>
                  <a:schemeClr val="dk1"/>
                </a:solidFill>
              </a:rPr>
              <a:t> systems.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Modern RDBMSs extend SQL with procedural features such as:</a:t>
            </a:r>
            <a:endParaRPr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b="1" lang="en-GB" sz="1800">
                <a:solidFill>
                  <a:schemeClr val="dk1"/>
                </a:solidFill>
              </a:rPr>
              <a:t>Flow control:</a:t>
            </a:r>
            <a:r>
              <a:rPr lang="en-GB" sz="1800">
                <a:solidFill>
                  <a:schemeClr val="dk1"/>
                </a:solidFill>
              </a:rPr>
              <a:t> </a:t>
            </a:r>
            <a:r>
              <a:rPr lang="en-GB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IF–THEN–ELSE</a:t>
            </a:r>
            <a:r>
              <a:rPr lang="en-GB" sz="1800">
                <a:solidFill>
                  <a:schemeClr val="dk1"/>
                </a:solidFill>
              </a:rPr>
              <a:t>, </a:t>
            </a:r>
            <a:r>
              <a:rPr lang="en-GB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LOOP</a:t>
            </a:r>
            <a:r>
              <a:rPr lang="en-GB" sz="1800">
                <a:solidFill>
                  <a:schemeClr val="dk1"/>
                </a:solidFill>
              </a:rPr>
              <a:t>, </a:t>
            </a:r>
            <a:r>
              <a:rPr lang="en-GB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EXIT WHEN</a:t>
            </a:r>
            <a:endParaRPr sz="18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b="1" lang="en-GB" sz="1800">
                <a:solidFill>
                  <a:schemeClr val="dk1"/>
                </a:solidFill>
              </a:rPr>
              <a:t>Variable declaration &amp; assignment</a:t>
            </a:r>
            <a:endParaRPr b="1"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b="1" lang="en-GB" sz="1800">
                <a:solidFill>
                  <a:schemeClr val="dk1"/>
                </a:solidFill>
              </a:rPr>
              <a:t>Error handling and exceptions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💡 </a:t>
            </a:r>
            <a:r>
              <a:rPr i="1" lang="en-GB">
                <a:solidFill>
                  <a:schemeClr val="dk1"/>
                </a:solidFill>
              </a:rPr>
              <a:t>PostgreSQL implements these features through its procedural language, PL/pgSQL.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 Better Approach – Centralizing Business Logic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490250" y="450150"/>
            <a:ext cx="82509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/>
              <a:t>Procedural SQL</a:t>
            </a:r>
            <a:endParaRPr sz="3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idx="1" type="body"/>
          </p:nvPr>
        </p:nvSpPr>
        <p:spPr>
          <a:xfrm>
            <a:off x="199200" y="1415900"/>
            <a:ext cx="8745600" cy="32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A </a:t>
            </a:r>
            <a:r>
              <a:rPr b="1" lang="en-GB">
                <a:solidFill>
                  <a:schemeClr val="dk1"/>
                </a:solidFill>
              </a:rPr>
              <a:t>Persistent Stored Module (PSM)</a:t>
            </a:r>
            <a:r>
              <a:rPr lang="en-GB">
                <a:solidFill>
                  <a:schemeClr val="dk1"/>
                </a:solidFill>
              </a:rPr>
              <a:t> is a block of SQL and procedural code </a:t>
            </a:r>
            <a:r>
              <a:rPr b="1" lang="en-GB">
                <a:solidFill>
                  <a:schemeClr val="dk1"/>
                </a:solidFill>
              </a:rPr>
              <a:t>stored and executed on the DBMS server</a:t>
            </a:r>
            <a:r>
              <a:rPr lang="en-GB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Encapsulates </a:t>
            </a:r>
            <a:r>
              <a:rPr b="1" lang="en-GB">
                <a:solidFill>
                  <a:schemeClr val="dk1"/>
                </a:solidFill>
              </a:rPr>
              <a:t>business logic</a:t>
            </a:r>
            <a:r>
              <a:rPr lang="en-GB">
                <a:solidFill>
                  <a:schemeClr val="dk1"/>
                </a:solidFill>
              </a:rPr>
              <a:t> that can be </a:t>
            </a:r>
            <a:r>
              <a:rPr b="1" lang="en-GB">
                <a:solidFill>
                  <a:schemeClr val="dk1"/>
                </a:solidFill>
              </a:rPr>
              <a:t>shared and reused</a:t>
            </a:r>
            <a:r>
              <a:rPr lang="en-GB">
                <a:solidFill>
                  <a:schemeClr val="dk1"/>
                </a:solidFill>
              </a:rPr>
              <a:t> across applications.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The </a:t>
            </a:r>
            <a:r>
              <a:rPr b="1" lang="en-GB">
                <a:solidFill>
                  <a:schemeClr val="dk1"/>
                </a:solidFill>
              </a:rPr>
              <a:t>SQL:1999 (SQL/PSM)</a:t>
            </a:r>
            <a:r>
              <a:rPr lang="en-GB">
                <a:solidFill>
                  <a:schemeClr val="dk1"/>
                </a:solidFill>
              </a:rPr>
              <a:t> standard defines this concept.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In </a:t>
            </a:r>
            <a:r>
              <a:rPr b="1" lang="en-GB">
                <a:solidFill>
                  <a:schemeClr val="dk1"/>
                </a:solidFill>
              </a:rPr>
              <a:t>PostgreSQL</a:t>
            </a:r>
            <a:r>
              <a:rPr lang="en-GB">
                <a:solidFill>
                  <a:schemeClr val="dk1"/>
                </a:solidFill>
              </a:rPr>
              <a:t>, stored functions and procedures written in </a:t>
            </a:r>
            <a:r>
              <a:rPr b="1" lang="en-GB">
                <a:solidFill>
                  <a:schemeClr val="dk1"/>
                </a:solidFill>
              </a:rPr>
              <a:t>PL/pgSQL</a:t>
            </a:r>
            <a:r>
              <a:rPr lang="en-GB">
                <a:solidFill>
                  <a:schemeClr val="dk1"/>
                </a:solidFill>
              </a:rPr>
              <a:t> are examples of PSMs.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💬 </a:t>
            </a:r>
            <a:r>
              <a:rPr i="1" lang="en-GB">
                <a:solidFill>
                  <a:schemeClr val="dk1"/>
                </a:solidFill>
              </a:rPr>
              <a:t>PSMs centralize logic inside the database — improving consistency and reducing duplication.</a:t>
            </a:r>
            <a:endParaRPr i="1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666666"/>
              </a:solidFill>
            </a:endParaRPr>
          </a:p>
        </p:txBody>
      </p:sp>
      <p:sp>
        <p:nvSpPr>
          <p:cNvPr id="105" name="Google Shape;10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Persistent Stored Modules (PSM)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/>
          <p:nvPr>
            <p:ph idx="1" type="body"/>
          </p:nvPr>
        </p:nvSpPr>
        <p:spPr>
          <a:xfrm>
            <a:off x="199200" y="1017725"/>
            <a:ext cx="8745600" cy="239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Use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BEGIN...END</a:t>
            </a:r>
            <a:r>
              <a:rPr lang="en-GB">
                <a:solidFill>
                  <a:schemeClr val="dk1"/>
                </a:solidFill>
              </a:rPr>
              <a:t> to group SQL and procedural statements into one executable block.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Use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RAISE NOTICE</a:t>
            </a:r>
            <a:r>
              <a:rPr lang="en-GB">
                <a:solidFill>
                  <a:schemeClr val="dk1"/>
                </a:solidFill>
              </a:rPr>
              <a:t> to display messages and debug your block.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Use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RAISE EXCEPTION</a:t>
            </a:r>
            <a:r>
              <a:rPr lang="en-GB">
                <a:solidFill>
                  <a:schemeClr val="dk1"/>
                </a:solidFill>
              </a:rPr>
              <a:t> to handle or test error conditions.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PL/pgSQL blocks form the basis for </a:t>
            </a:r>
            <a:r>
              <a:rPr b="1" lang="en-GB">
                <a:solidFill>
                  <a:schemeClr val="dk1"/>
                </a:solidFill>
              </a:rPr>
              <a:t>triggers</a:t>
            </a:r>
            <a:r>
              <a:rPr lang="en-GB">
                <a:solidFill>
                  <a:schemeClr val="dk1"/>
                </a:solidFill>
              </a:rPr>
              <a:t> and </a:t>
            </a:r>
            <a:r>
              <a:rPr b="1" lang="en-GB">
                <a:solidFill>
                  <a:schemeClr val="dk1"/>
                </a:solidFill>
              </a:rPr>
              <a:t>stored procedures</a:t>
            </a:r>
            <a:r>
              <a:rPr lang="en-GB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💡 </a:t>
            </a:r>
            <a:r>
              <a:rPr i="1" lang="en-GB">
                <a:solidFill>
                  <a:schemeClr val="dk1"/>
                </a:solidFill>
              </a:rPr>
              <a:t>You can run standalone PL/pgSQL blocks using </a:t>
            </a:r>
            <a:r>
              <a:rPr i="1"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DO $$ ... $$;</a:t>
            </a:r>
            <a:r>
              <a:rPr i="1" lang="en-GB">
                <a:solidFill>
                  <a:schemeClr val="dk1"/>
                </a:solidFill>
              </a:rPr>
              <a:t> in pgAdmin.</a:t>
            </a:r>
            <a:endParaRPr i="1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1" name="Google Shape;11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Writing a PL/pgSQL Code Block</a:t>
            </a:r>
            <a:endParaRPr/>
          </a:p>
        </p:txBody>
      </p:sp>
      <p:pic>
        <p:nvPicPr>
          <p:cNvPr id="112" name="Google Shape;11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67350" y="3407825"/>
            <a:ext cx="4564950" cy="162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/>
          <p:nvPr>
            <p:ph idx="1" type="body"/>
          </p:nvPr>
        </p:nvSpPr>
        <p:spPr>
          <a:xfrm>
            <a:off x="199200" y="1017725"/>
            <a:ext cx="4338900" cy="33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Define variables in the </a:t>
            </a:r>
            <a:r>
              <a:rPr b="1"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DECLARE</a:t>
            </a:r>
            <a:r>
              <a:rPr lang="en-GB">
                <a:solidFill>
                  <a:schemeClr val="dk1"/>
                </a:solidFill>
              </a:rPr>
              <a:t> section before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BEGIN</a:t>
            </a:r>
            <a:r>
              <a:rPr lang="en-GB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Each variable has a </a:t>
            </a:r>
            <a:r>
              <a:rPr b="1" lang="en-GB">
                <a:solidFill>
                  <a:schemeClr val="dk1"/>
                </a:solidFill>
              </a:rPr>
              <a:t>name</a:t>
            </a:r>
            <a:r>
              <a:rPr lang="en-GB">
                <a:solidFill>
                  <a:schemeClr val="dk1"/>
                </a:solidFill>
              </a:rPr>
              <a:t>, </a:t>
            </a:r>
            <a:r>
              <a:rPr b="1" lang="en-GB">
                <a:solidFill>
                  <a:schemeClr val="dk1"/>
                </a:solidFill>
              </a:rPr>
              <a:t>data type</a:t>
            </a:r>
            <a:r>
              <a:rPr lang="en-GB">
                <a:solidFill>
                  <a:schemeClr val="dk1"/>
                </a:solidFill>
              </a:rPr>
              <a:t>, and optional </a:t>
            </a:r>
            <a:r>
              <a:rPr b="1" lang="en-GB">
                <a:solidFill>
                  <a:schemeClr val="dk1"/>
                </a:solidFill>
              </a:rPr>
              <a:t>initial value</a:t>
            </a:r>
            <a:r>
              <a:rPr lang="en-GB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Use </a:t>
            </a:r>
            <a:r>
              <a:rPr b="1"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:=</a:t>
            </a:r>
            <a:r>
              <a:rPr lang="en-GB">
                <a:solidFill>
                  <a:schemeClr val="dk1"/>
                </a:solidFill>
              </a:rPr>
              <a:t> to assign values within the block.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Use </a:t>
            </a:r>
            <a:r>
              <a:rPr b="1"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SELECT ... INTO</a:t>
            </a:r>
            <a:r>
              <a:rPr lang="en-GB">
                <a:solidFill>
                  <a:schemeClr val="dk1"/>
                </a:solidFill>
              </a:rPr>
              <a:t> to assign query results.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8" name="Google Shape;118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Declaring and Using Variables in PL/pgSQL</a:t>
            </a:r>
            <a:endParaRPr/>
          </a:p>
        </p:txBody>
      </p:sp>
      <p:pic>
        <p:nvPicPr>
          <p:cNvPr id="119" name="Google Shape;11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38100" y="1353625"/>
            <a:ext cx="4301099" cy="27182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 txBox="1"/>
          <p:nvPr>
            <p:ph idx="1" type="body"/>
          </p:nvPr>
        </p:nvSpPr>
        <p:spPr>
          <a:xfrm>
            <a:off x="199200" y="1415900"/>
            <a:ext cx="8520600" cy="104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A </a:t>
            </a:r>
            <a:r>
              <a:rPr b="1" lang="en-GB">
                <a:solidFill>
                  <a:schemeClr val="dk1"/>
                </a:solidFill>
              </a:rPr>
              <a:t>WHILE loop</a:t>
            </a:r>
            <a:r>
              <a:rPr lang="en-GB">
                <a:solidFill>
                  <a:schemeClr val="dk1"/>
                </a:solidFill>
              </a:rPr>
              <a:t> repeats a statement block </a:t>
            </a:r>
            <a:r>
              <a:rPr b="1" lang="en-GB">
                <a:solidFill>
                  <a:schemeClr val="dk1"/>
                </a:solidFill>
              </a:rPr>
              <a:t>while a condition is true.</a:t>
            </a:r>
            <a:br>
              <a:rPr b="1" lang="en-GB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Syntax:								Example: 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5" name="Google Shape;125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While Loops in PL/pgSQL</a:t>
            </a:r>
            <a:endParaRPr/>
          </a:p>
        </p:txBody>
      </p:sp>
      <p:pic>
        <p:nvPicPr>
          <p:cNvPr id="126" name="Google Shape;12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817500"/>
            <a:ext cx="2555050" cy="1042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45375" y="2716263"/>
            <a:ext cx="4786926" cy="176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5"/>
          <p:cNvSpPr txBox="1"/>
          <p:nvPr>
            <p:ph idx="1" type="body"/>
          </p:nvPr>
        </p:nvSpPr>
        <p:spPr>
          <a:xfrm>
            <a:off x="199200" y="1415900"/>
            <a:ext cx="8520600" cy="140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A </a:t>
            </a:r>
            <a:r>
              <a:rPr b="1" lang="en-GB">
                <a:solidFill>
                  <a:schemeClr val="dk1"/>
                </a:solidFill>
              </a:rPr>
              <a:t>FOR loop</a:t>
            </a:r>
            <a:r>
              <a:rPr lang="en-GB">
                <a:solidFill>
                  <a:schemeClr val="dk1"/>
                </a:solidFill>
              </a:rPr>
              <a:t> repeats a block of statements for each value in a range or query result.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Syntax:								Example: 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3" name="Google Shape;133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FOR Loops in PL/pgSQL</a:t>
            </a:r>
            <a:endParaRPr/>
          </a:p>
        </p:txBody>
      </p:sp>
      <p:pic>
        <p:nvPicPr>
          <p:cNvPr id="134" name="Google Shape;13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200" y="2894901"/>
            <a:ext cx="4108450" cy="11192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34793" y="2817500"/>
            <a:ext cx="3858857" cy="119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6"/>
          <p:cNvSpPr txBox="1"/>
          <p:nvPr>
            <p:ph idx="1" type="body"/>
          </p:nvPr>
        </p:nvSpPr>
        <p:spPr>
          <a:xfrm>
            <a:off x="199200" y="1415900"/>
            <a:ext cx="8520600" cy="140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Use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n-GB">
                <a:solidFill>
                  <a:schemeClr val="dk1"/>
                </a:solidFill>
              </a:rPr>
              <a:t>,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ELSIF</a:t>
            </a:r>
            <a:r>
              <a:rPr lang="en-GB">
                <a:solidFill>
                  <a:schemeClr val="dk1"/>
                </a:solidFill>
              </a:rPr>
              <a:t>, and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ELSE</a:t>
            </a:r>
            <a:r>
              <a:rPr lang="en-GB">
                <a:solidFill>
                  <a:schemeClr val="dk1"/>
                </a:solidFill>
              </a:rPr>
              <a:t> to control flow in your code.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Syntax:								Example: 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1" name="Google Shape;14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Conditional Logic in PL/pgSQL</a:t>
            </a:r>
            <a:endParaRPr/>
          </a:p>
        </p:txBody>
      </p:sp>
      <p:pic>
        <p:nvPicPr>
          <p:cNvPr id="142" name="Google Shape;14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200" y="2531275"/>
            <a:ext cx="2783481" cy="202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47331" y="2531275"/>
            <a:ext cx="3542653" cy="202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7"/>
          <p:cNvSpPr txBox="1"/>
          <p:nvPr>
            <p:ph idx="1" type="body"/>
          </p:nvPr>
        </p:nvSpPr>
        <p:spPr>
          <a:xfrm>
            <a:off x="199200" y="1415900"/>
            <a:ext cx="8520600" cy="140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Use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CASE</a:t>
            </a:r>
            <a:r>
              <a:rPr lang="en-GB">
                <a:solidFill>
                  <a:schemeClr val="dk1"/>
                </a:solidFill>
              </a:rPr>
              <a:t> to handle multiple possible values of an expression.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Syntax:								Example: 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9" name="Google Shape;149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CASE Statements in PL/pgSQL</a:t>
            </a:r>
            <a:endParaRPr/>
          </a:p>
        </p:txBody>
      </p:sp>
      <p:pic>
        <p:nvPicPr>
          <p:cNvPr id="150" name="Google Shape;15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497500"/>
            <a:ext cx="2280073" cy="202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33100" y="2497488"/>
            <a:ext cx="6259625" cy="157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8"/>
          <p:cNvSpPr txBox="1"/>
          <p:nvPr>
            <p:ph idx="1" type="body"/>
          </p:nvPr>
        </p:nvSpPr>
        <p:spPr>
          <a:xfrm>
            <a:off x="199200" y="1017725"/>
            <a:ext cx="8745600" cy="36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-GB" sz="1700">
                <a:solidFill>
                  <a:schemeClr val="dk1"/>
                </a:solidFill>
              </a:rPr>
              <a:t>PL/pgSQL</a:t>
            </a:r>
            <a:r>
              <a:rPr lang="en-GB" sz="1700">
                <a:solidFill>
                  <a:schemeClr val="dk1"/>
                </a:solidFill>
              </a:rPr>
              <a:t> merges SQL with programming constructs (variables, loops, conditionals).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Procedural logic can be </a:t>
            </a:r>
            <a:r>
              <a:rPr b="1" lang="en-GB" sz="1700">
                <a:solidFill>
                  <a:schemeClr val="dk1"/>
                </a:solidFill>
              </a:rPr>
              <a:t>stored inside the database</a:t>
            </a:r>
            <a:r>
              <a:rPr lang="en-GB" sz="1700">
                <a:solidFill>
                  <a:schemeClr val="dk1"/>
                </a:solidFill>
              </a:rPr>
              <a:t>, not just in applications.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Types of PL/pgSQL code: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b="1" lang="en-GB" sz="1700">
                <a:solidFill>
                  <a:schemeClr val="dk1"/>
                </a:solidFill>
              </a:rPr>
              <a:t>Anonymous blocks</a:t>
            </a:r>
            <a:r>
              <a:rPr lang="en-GB" sz="1700">
                <a:solidFill>
                  <a:schemeClr val="dk1"/>
                </a:solidFill>
              </a:rPr>
              <a:t> (</a:t>
            </a: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DO $$ ... $$;</a:t>
            </a:r>
            <a:r>
              <a:rPr lang="en-GB" sz="1700">
                <a:solidFill>
                  <a:schemeClr val="dk1"/>
                </a:solidFill>
              </a:rPr>
              <a:t>)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b="1" lang="en-GB" sz="1700">
                <a:solidFill>
                  <a:schemeClr val="dk1"/>
                </a:solidFill>
              </a:rPr>
              <a:t>Triggers</a:t>
            </a:r>
            <a:r>
              <a:rPr lang="en-GB" sz="1700">
                <a:solidFill>
                  <a:schemeClr val="dk1"/>
                </a:solidFill>
              </a:rPr>
              <a:t> (automatic actions)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b="1" lang="en-GB" sz="1700">
                <a:solidFill>
                  <a:schemeClr val="dk1"/>
                </a:solidFill>
              </a:rPr>
              <a:t>Stored procedures</a:t>
            </a:r>
            <a:r>
              <a:rPr lang="en-GB" sz="1700">
                <a:solidFill>
                  <a:schemeClr val="dk1"/>
                </a:solidFill>
              </a:rPr>
              <a:t> (</a:t>
            </a: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CREATE PROCEDURE</a:t>
            </a:r>
            <a:r>
              <a:rPr lang="en-GB" sz="1700">
                <a:solidFill>
                  <a:schemeClr val="dk1"/>
                </a:solidFill>
              </a:rPr>
              <a:t>)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b="1" lang="en-GB" sz="1700">
                <a:solidFill>
                  <a:schemeClr val="dk1"/>
                </a:solidFill>
              </a:rPr>
              <a:t>Functions</a:t>
            </a:r>
            <a:r>
              <a:rPr lang="en-GB" sz="1700">
                <a:solidFill>
                  <a:schemeClr val="dk1"/>
                </a:solidFill>
              </a:rPr>
              <a:t> (</a:t>
            </a: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CREATE FUNCTION</a:t>
            </a:r>
            <a:r>
              <a:rPr lang="en-GB" sz="1700">
                <a:solidFill>
                  <a:schemeClr val="dk1"/>
                </a:solidFill>
              </a:rPr>
              <a:t>)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Can be executed </a:t>
            </a:r>
            <a:r>
              <a:rPr b="1" lang="en-GB" sz="1700">
                <a:solidFill>
                  <a:schemeClr val="dk1"/>
                </a:solidFill>
              </a:rPr>
              <a:t>directly by users</a:t>
            </a:r>
            <a:r>
              <a:rPr lang="en-GB" sz="1700">
                <a:solidFill>
                  <a:schemeClr val="dk1"/>
                </a:solidFill>
              </a:rPr>
              <a:t> or </a:t>
            </a:r>
            <a:r>
              <a:rPr b="1" lang="en-GB" sz="1700">
                <a:solidFill>
                  <a:schemeClr val="dk1"/>
                </a:solidFill>
              </a:rPr>
              <a:t>indirectly through applications</a:t>
            </a:r>
            <a:r>
              <a:rPr lang="en-GB" sz="1700">
                <a:solidFill>
                  <a:schemeClr val="dk1"/>
                </a:solidFill>
              </a:rPr>
              <a:t>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700">
                <a:solidFill>
                  <a:schemeClr val="dk1"/>
                </a:solidFill>
              </a:rPr>
              <a:t>💬 </a:t>
            </a:r>
            <a:r>
              <a:rPr i="1" lang="en-GB" sz="1700">
                <a:solidFill>
                  <a:schemeClr val="dk1"/>
                </a:solidFill>
              </a:rPr>
              <a:t>PL/pgSQL brings programming logic into the database layer for efficiency and consistency.</a:t>
            </a:r>
            <a:endParaRPr i="1" sz="17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666666"/>
              </a:solidFill>
            </a:endParaRPr>
          </a:p>
        </p:txBody>
      </p:sp>
      <p:sp>
        <p:nvSpPr>
          <p:cNvPr id="157" name="Google Shape;157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Procedural Language / SQL (PL/pgSQL)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/>
              <a:t>Triggers – Automating Business Rules in the Database</a:t>
            </a:r>
            <a:endParaRPr sz="3600"/>
          </a:p>
        </p:txBody>
      </p:sp>
      <p:sp>
        <p:nvSpPr>
          <p:cNvPr id="163" name="Google Shape;163;p2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Example: Automatically Reordering Products When Stock Runs Low</a:t>
            </a:r>
            <a:endParaRPr/>
          </a:p>
        </p:txBody>
      </p:sp>
      <p:sp>
        <p:nvSpPr>
          <p:cNvPr id="164" name="Google Shape;164;p2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-GB"/>
              <a:t>Triggers let the database react automatically to events like INSERT, UPDATE, or DELETE.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Trigger Syntax in PostgreSQL</a:t>
            </a:r>
            <a:endParaRPr/>
          </a:p>
        </p:txBody>
      </p:sp>
      <p:sp>
        <p:nvSpPr>
          <p:cNvPr id="170" name="Google Shape;170;p30"/>
          <p:cNvSpPr txBox="1"/>
          <p:nvPr>
            <p:ph idx="1" type="body"/>
          </p:nvPr>
        </p:nvSpPr>
        <p:spPr>
          <a:xfrm>
            <a:off x="311700" y="2965375"/>
            <a:ext cx="8520600" cy="16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-"/>
            </a:pPr>
            <a:r>
              <a:rPr lang="en-GB" sz="1400">
                <a:solidFill>
                  <a:schemeClr val="dk1"/>
                </a:solidFill>
              </a:rPr>
              <a:t>Trigger function defines the logic and must return </a:t>
            </a:r>
            <a:r>
              <a:rPr lang="en-GB" sz="1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trigger</a:t>
            </a:r>
            <a:r>
              <a:rPr lang="en-GB" sz="1400">
                <a:solidFill>
                  <a:schemeClr val="dk1"/>
                </a:solidFill>
              </a:rPr>
              <a:t>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 sz="1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BEFORE</a:t>
            </a:r>
            <a:r>
              <a:rPr lang="en-GB" sz="1400">
                <a:solidFill>
                  <a:schemeClr val="dk1"/>
                </a:solidFill>
              </a:rPr>
              <a:t> triggers validate or modify data.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 sz="1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AFTER</a:t>
            </a:r>
            <a:r>
              <a:rPr lang="en-GB" sz="1400">
                <a:solidFill>
                  <a:schemeClr val="dk1"/>
                </a:solidFill>
              </a:rPr>
              <a:t> triggers perform follow-up actions.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 sz="1400">
                <a:solidFill>
                  <a:schemeClr val="dk1"/>
                </a:solidFill>
              </a:rPr>
              <a:t>Always call a </a:t>
            </a:r>
            <a:r>
              <a:rPr b="1" lang="en-GB" sz="1400">
                <a:solidFill>
                  <a:schemeClr val="dk1"/>
                </a:solidFill>
              </a:rPr>
              <a:t>stored function</a:t>
            </a:r>
            <a:r>
              <a:rPr lang="en-GB" sz="1400">
                <a:solidFill>
                  <a:schemeClr val="dk1"/>
                </a:solidFill>
              </a:rPr>
              <a:t> written in PL/pgSQL.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💬 </a:t>
            </a:r>
            <a:r>
              <a:rPr i="1" lang="en-GB" sz="1400">
                <a:solidFill>
                  <a:schemeClr val="dk1"/>
                </a:solidFill>
              </a:rPr>
              <a:t>PostgreSQL separates the trigger definition from the trigger logic itself.</a:t>
            </a:r>
            <a:endParaRPr i="1"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171" name="Google Shape;17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6"/>
            <a:ext cx="8520600" cy="18129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1"/>
          <p:cNvSpPr txBox="1"/>
          <p:nvPr/>
        </p:nvSpPr>
        <p:spPr>
          <a:xfrm>
            <a:off x="199200" y="184950"/>
            <a:ext cx="8745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Setting Product Reorder Flag - Version 1</a:t>
            </a:r>
            <a:endParaRPr sz="2800">
              <a:solidFill>
                <a:srgbClr val="000000"/>
              </a:solidFill>
            </a:endParaRPr>
          </a:p>
        </p:txBody>
      </p:sp>
      <p:sp>
        <p:nvSpPr>
          <p:cNvPr id="177" name="Google Shape;177;p31"/>
          <p:cNvSpPr txBox="1"/>
          <p:nvPr>
            <p:ph idx="1" type="body"/>
          </p:nvPr>
        </p:nvSpPr>
        <p:spPr>
          <a:xfrm>
            <a:off x="199200" y="757650"/>
            <a:ext cx="8745600" cy="14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</a:rPr>
              <a:t>Goal:</a:t>
            </a:r>
            <a:r>
              <a:rPr lang="en-GB">
                <a:solidFill>
                  <a:schemeClr val="dk1"/>
                </a:solidFill>
              </a:rPr>
              <a:t> Automatically mark products for reorder when QOH ≤ MIN_STOCK.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</a:rPr>
              <a:t>Trigger Function:						Trigger Definition:</a:t>
            </a:r>
            <a:endParaRPr b="1">
              <a:solidFill>
                <a:schemeClr val="dk1"/>
              </a:solidFill>
            </a:endParaRPr>
          </a:p>
        </p:txBody>
      </p:sp>
      <p:pic>
        <p:nvPicPr>
          <p:cNvPr id="178" name="Google Shape;17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200" y="2176875"/>
            <a:ext cx="4254701" cy="217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0800" y="2176950"/>
            <a:ext cx="4199650" cy="15344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8917" y="1641266"/>
            <a:ext cx="5213101" cy="1904783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32"/>
          <p:cNvSpPr txBox="1"/>
          <p:nvPr/>
        </p:nvSpPr>
        <p:spPr>
          <a:xfrm>
            <a:off x="7346700" y="1889988"/>
            <a:ext cx="1598100" cy="572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Triggering </a:t>
            </a:r>
            <a:r>
              <a:rPr b="1" lang="en-GB"/>
              <a:t>Events</a:t>
            </a:r>
            <a:endParaRPr b="1"/>
          </a:p>
        </p:txBody>
      </p:sp>
      <p:cxnSp>
        <p:nvCxnSpPr>
          <p:cNvPr id="186" name="Google Shape;186;p32"/>
          <p:cNvCxnSpPr>
            <a:stCxn id="185" idx="1"/>
            <a:endCxn id="187" idx="3"/>
          </p:cNvCxnSpPr>
          <p:nvPr/>
        </p:nvCxnSpPr>
        <p:spPr>
          <a:xfrm flipH="1">
            <a:off x="5499900" y="2176338"/>
            <a:ext cx="1846800" cy="5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8" name="Google Shape;188;p32"/>
          <p:cNvSpPr txBox="1"/>
          <p:nvPr/>
        </p:nvSpPr>
        <p:spPr>
          <a:xfrm>
            <a:off x="101250" y="1909500"/>
            <a:ext cx="1598100" cy="572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Trigger </a:t>
            </a:r>
            <a:r>
              <a:rPr b="1" lang="en-GB"/>
              <a:t>Timing</a:t>
            </a:r>
            <a:endParaRPr b="1"/>
          </a:p>
        </p:txBody>
      </p:sp>
      <p:cxnSp>
        <p:nvCxnSpPr>
          <p:cNvPr id="189" name="Google Shape;189;p32"/>
          <p:cNvCxnSpPr>
            <a:stCxn id="188" idx="3"/>
            <a:endCxn id="190" idx="1"/>
          </p:cNvCxnSpPr>
          <p:nvPr/>
        </p:nvCxnSpPr>
        <p:spPr>
          <a:xfrm flipH="1" rot="10800000">
            <a:off x="1699350" y="2176350"/>
            <a:ext cx="277200" cy="19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1" name="Google Shape;191;p32"/>
          <p:cNvSpPr txBox="1"/>
          <p:nvPr/>
        </p:nvSpPr>
        <p:spPr>
          <a:xfrm>
            <a:off x="101250" y="3110525"/>
            <a:ext cx="1449900" cy="572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Trigger </a:t>
            </a:r>
            <a:r>
              <a:rPr b="1" lang="en-GB"/>
              <a:t>Level</a:t>
            </a:r>
            <a:endParaRPr b="1">
              <a:highlight>
                <a:srgbClr val="FFD966"/>
              </a:highlight>
            </a:endParaRPr>
          </a:p>
        </p:txBody>
      </p:sp>
      <p:cxnSp>
        <p:nvCxnSpPr>
          <p:cNvPr id="192" name="Google Shape;192;p32"/>
          <p:cNvCxnSpPr>
            <a:stCxn id="191" idx="3"/>
          </p:cNvCxnSpPr>
          <p:nvPr/>
        </p:nvCxnSpPr>
        <p:spPr>
          <a:xfrm flipH="1" rot="10800000">
            <a:off x="1551150" y="2969375"/>
            <a:ext cx="405900" cy="427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7" name="Google Shape;187;p32"/>
          <p:cNvSpPr txBox="1"/>
          <p:nvPr/>
        </p:nvSpPr>
        <p:spPr>
          <a:xfrm>
            <a:off x="2710775" y="2052575"/>
            <a:ext cx="2789100" cy="2580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32"/>
          <p:cNvSpPr txBox="1"/>
          <p:nvPr/>
        </p:nvSpPr>
        <p:spPr>
          <a:xfrm>
            <a:off x="1976400" y="2047350"/>
            <a:ext cx="650100" cy="2580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32"/>
          <p:cNvSpPr txBox="1"/>
          <p:nvPr/>
        </p:nvSpPr>
        <p:spPr>
          <a:xfrm>
            <a:off x="7157550" y="3903150"/>
            <a:ext cx="1976400" cy="572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Trigger </a:t>
            </a:r>
            <a:r>
              <a:rPr b="1" lang="en-GB"/>
              <a:t>Function</a:t>
            </a:r>
            <a:endParaRPr b="1"/>
          </a:p>
        </p:txBody>
      </p:sp>
      <p:cxnSp>
        <p:nvCxnSpPr>
          <p:cNvPr id="194" name="Google Shape;194;p32"/>
          <p:cNvCxnSpPr>
            <a:stCxn id="193" idx="1"/>
          </p:cNvCxnSpPr>
          <p:nvPr/>
        </p:nvCxnSpPr>
        <p:spPr>
          <a:xfrm rot="10800000">
            <a:off x="5921550" y="3408000"/>
            <a:ext cx="1236000" cy="781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5" name="Google Shape;195;p32"/>
          <p:cNvSpPr txBox="1"/>
          <p:nvPr/>
        </p:nvSpPr>
        <p:spPr>
          <a:xfrm>
            <a:off x="199200" y="184950"/>
            <a:ext cx="8745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Components of a Trigger</a:t>
            </a:r>
            <a:endParaRPr sz="2800">
              <a:solidFill>
                <a:srgbClr val="000000"/>
              </a:solidFill>
            </a:endParaRPr>
          </a:p>
        </p:txBody>
      </p:sp>
      <p:sp>
        <p:nvSpPr>
          <p:cNvPr id="196" name="Google Shape;196;p32"/>
          <p:cNvSpPr txBox="1"/>
          <p:nvPr/>
        </p:nvSpPr>
        <p:spPr>
          <a:xfrm>
            <a:off x="1976550" y="2728244"/>
            <a:ext cx="2190600" cy="2580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32"/>
          <p:cNvSpPr txBox="1"/>
          <p:nvPr/>
        </p:nvSpPr>
        <p:spPr>
          <a:xfrm>
            <a:off x="4001625" y="3084996"/>
            <a:ext cx="2932200" cy="2580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6630" y="2800675"/>
            <a:ext cx="5065046" cy="176655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Handling Multiple Triggering Conditions</a:t>
            </a:r>
            <a:endParaRPr/>
          </a:p>
        </p:txBody>
      </p:sp>
      <p:sp>
        <p:nvSpPr>
          <p:cNvPr id="204" name="Google Shape;204;p33"/>
          <p:cNvSpPr txBox="1"/>
          <p:nvPr>
            <p:ph idx="1" type="body"/>
          </p:nvPr>
        </p:nvSpPr>
        <p:spPr>
          <a:xfrm>
            <a:off x="199200" y="1152475"/>
            <a:ext cx="8745600" cy="16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Changing </a:t>
            </a:r>
            <a:r>
              <a:rPr b="1" lang="en-GB">
                <a:solidFill>
                  <a:schemeClr val="dk1"/>
                </a:solidFill>
              </a:rPr>
              <a:t>min_stock</a:t>
            </a:r>
            <a:r>
              <a:rPr lang="en-GB">
                <a:solidFill>
                  <a:schemeClr val="dk1"/>
                </a:solidFill>
              </a:rPr>
              <a:t> should also update the </a:t>
            </a:r>
            <a:r>
              <a:rPr b="1" lang="en-GB">
                <a:solidFill>
                  <a:schemeClr val="dk1"/>
                </a:solidFill>
              </a:rPr>
              <a:t>reorder</a:t>
            </a:r>
            <a:r>
              <a:rPr lang="en-GB">
                <a:solidFill>
                  <a:schemeClr val="dk1"/>
                </a:solidFill>
              </a:rPr>
              <a:t> flag.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The previous trigger didn’t respond because only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UPDATE OF qoh</a:t>
            </a:r>
            <a:r>
              <a:rPr lang="en-GB">
                <a:solidFill>
                  <a:schemeClr val="dk1"/>
                </a:solidFill>
              </a:rPr>
              <a:t> was included.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✅ Update the trigger to listen for </a:t>
            </a:r>
            <a:r>
              <a:rPr b="1" lang="en-GB">
                <a:solidFill>
                  <a:schemeClr val="dk1"/>
                </a:solidFill>
              </a:rPr>
              <a:t>multiple columns</a:t>
            </a:r>
            <a:r>
              <a:rPr lang="en-GB">
                <a:solidFill>
                  <a:schemeClr val="dk1"/>
                </a:solidFill>
              </a:rPr>
              <a:t>: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5" name="Google Shape;205;p33"/>
          <p:cNvSpPr txBox="1"/>
          <p:nvPr/>
        </p:nvSpPr>
        <p:spPr>
          <a:xfrm>
            <a:off x="6798475" y="2807450"/>
            <a:ext cx="1976400" cy="13935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dk1"/>
                </a:solidFill>
              </a:rPr>
              <a:t>💬 </a:t>
            </a:r>
            <a:r>
              <a:rPr i="1" lang="en-GB">
                <a:solidFill>
                  <a:schemeClr val="dk1"/>
                </a:solidFill>
              </a:rPr>
              <a:t>Now the trigger fires when either quantity or minimum stock level changes.</a:t>
            </a:r>
            <a:endParaRPr/>
          </a:p>
        </p:txBody>
      </p:sp>
      <p:cxnSp>
        <p:nvCxnSpPr>
          <p:cNvPr id="206" name="Google Shape;206;p33"/>
          <p:cNvCxnSpPr>
            <a:stCxn id="205" idx="1"/>
            <a:endCxn id="207" idx="3"/>
          </p:cNvCxnSpPr>
          <p:nvPr/>
        </p:nvCxnSpPr>
        <p:spPr>
          <a:xfrm rot="10800000">
            <a:off x="5786875" y="3366800"/>
            <a:ext cx="1011600" cy="137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7" name="Google Shape;207;p33"/>
          <p:cNvSpPr txBox="1"/>
          <p:nvPr/>
        </p:nvSpPr>
        <p:spPr>
          <a:xfrm>
            <a:off x="3723400" y="3234200"/>
            <a:ext cx="2063400" cy="2649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Updating the Trigger Logic with CASE Expressions</a:t>
            </a:r>
            <a:endParaRPr/>
          </a:p>
        </p:txBody>
      </p:sp>
      <p:sp>
        <p:nvSpPr>
          <p:cNvPr id="213" name="Google Shape;213;p34"/>
          <p:cNvSpPr txBox="1"/>
          <p:nvPr>
            <p:ph idx="1" type="body"/>
          </p:nvPr>
        </p:nvSpPr>
        <p:spPr>
          <a:xfrm>
            <a:off x="199200" y="1398075"/>
            <a:ext cx="3259200" cy="240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Problem: trigger sets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reorder</a:t>
            </a:r>
            <a:r>
              <a:rPr lang="en-GB">
                <a:solidFill>
                  <a:schemeClr val="dk1"/>
                </a:solidFill>
              </a:rPr>
              <a:t> to TRUE but never resets it.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Solution: use a </a:t>
            </a:r>
            <a:r>
              <a:rPr b="1" lang="en-GB">
                <a:solidFill>
                  <a:schemeClr val="dk1"/>
                </a:solidFill>
              </a:rPr>
              <a:t>CASE expression</a:t>
            </a:r>
            <a:r>
              <a:rPr lang="en-GB">
                <a:solidFill>
                  <a:schemeClr val="dk1"/>
                </a:solidFill>
              </a:rPr>
              <a:t> to handle both conditions.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id="214" name="Google Shape;214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58402" y="1398075"/>
            <a:ext cx="5284224" cy="3381449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34"/>
          <p:cNvSpPr txBox="1"/>
          <p:nvPr/>
        </p:nvSpPr>
        <p:spPr>
          <a:xfrm>
            <a:off x="1484622" y="3540650"/>
            <a:ext cx="1739700" cy="947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0075" lIns="60075" spcFirstLastPara="1" rIns="60075" wrap="square" tIns="60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Notice the use of </a:t>
            </a:r>
            <a:r>
              <a:rPr b="1" lang="en-GB">
                <a:highlight>
                  <a:srgbClr val="FFFF00"/>
                </a:highlight>
              </a:rPr>
              <a:t>CASE</a:t>
            </a:r>
            <a:r>
              <a:rPr lang="en-GB"/>
              <a:t> to compute P_REORDER</a:t>
            </a:r>
            <a:endParaRPr b="1">
              <a:highlight>
                <a:srgbClr val="B6D7A8"/>
              </a:highlight>
            </a:endParaRPr>
          </a:p>
        </p:txBody>
      </p:sp>
      <p:cxnSp>
        <p:nvCxnSpPr>
          <p:cNvPr id="216" name="Google Shape;216;p34"/>
          <p:cNvCxnSpPr>
            <a:stCxn id="215" idx="3"/>
          </p:cNvCxnSpPr>
          <p:nvPr/>
        </p:nvCxnSpPr>
        <p:spPr>
          <a:xfrm flipH="1" rot="10800000">
            <a:off x="3224322" y="2935400"/>
            <a:ext cx="2056200" cy="1078800"/>
          </a:xfrm>
          <a:prstGeom prst="straightConnector1">
            <a:avLst/>
          </a:prstGeom>
          <a:noFill/>
          <a:ln cap="flat" cmpd="sng" w="12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Target Only Affected Rows</a:t>
            </a:r>
            <a:endParaRPr/>
          </a:p>
        </p:txBody>
      </p:sp>
      <p:sp>
        <p:nvSpPr>
          <p:cNvPr id="222" name="Google Shape;222;p35"/>
          <p:cNvSpPr txBox="1"/>
          <p:nvPr>
            <p:ph idx="1" type="body"/>
          </p:nvPr>
        </p:nvSpPr>
        <p:spPr>
          <a:xfrm>
            <a:off x="199200" y="1398075"/>
            <a:ext cx="8745600" cy="319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Problem: </a:t>
            </a:r>
            <a:r>
              <a:rPr lang="en-GB">
                <a:solidFill>
                  <a:schemeClr val="dk1"/>
                </a:solidFill>
              </a:rPr>
              <a:t>Our current trigger updates </a:t>
            </a:r>
            <a:r>
              <a:rPr b="1" lang="en-GB">
                <a:solidFill>
                  <a:schemeClr val="dk1"/>
                </a:solidFill>
              </a:rPr>
              <a:t>all</a:t>
            </a:r>
            <a:r>
              <a:rPr lang="en-GB">
                <a:solidFill>
                  <a:schemeClr val="dk1"/>
                </a:solidFill>
              </a:rPr>
              <a:t> rows in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product</a:t>
            </a:r>
            <a:r>
              <a:rPr lang="en-GB">
                <a:solidFill>
                  <a:schemeClr val="dk1"/>
                </a:solidFill>
              </a:rPr>
              <a:t>, not just the ones modified.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Solution: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Use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FOR EACH ROW</a:t>
            </a:r>
            <a:r>
              <a:rPr lang="en-GB">
                <a:solidFill>
                  <a:schemeClr val="dk1"/>
                </a:solidFill>
              </a:rPr>
              <a:t> and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set the flag directly on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NEW</a:t>
            </a:r>
            <a:r>
              <a:rPr lang="en-GB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23" name="Google Shape;22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21100" y="2161125"/>
            <a:ext cx="5823701" cy="2180375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35"/>
          <p:cNvSpPr txBox="1"/>
          <p:nvPr/>
        </p:nvSpPr>
        <p:spPr>
          <a:xfrm>
            <a:off x="3217275" y="3605350"/>
            <a:ext cx="2063400" cy="2649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6"/>
          <p:cNvSpPr txBox="1"/>
          <p:nvPr/>
        </p:nvSpPr>
        <p:spPr>
          <a:xfrm>
            <a:off x="199200" y="184950"/>
            <a:ext cx="8745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2800">
                <a:solidFill>
                  <a:schemeClr val="dk1"/>
                </a:solidFill>
              </a:rPr>
              <a:t>The NEW and OLD Records in Triggers</a:t>
            </a:r>
            <a:endParaRPr sz="2800">
              <a:solidFill>
                <a:schemeClr val="dk1"/>
              </a:solidFill>
            </a:endParaRPr>
          </a:p>
        </p:txBody>
      </p:sp>
      <p:pic>
        <p:nvPicPr>
          <p:cNvPr id="230" name="Google Shape;230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86825" y="1531475"/>
            <a:ext cx="5057975" cy="241355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36"/>
          <p:cNvSpPr txBox="1"/>
          <p:nvPr>
            <p:ph idx="1" type="body"/>
          </p:nvPr>
        </p:nvSpPr>
        <p:spPr>
          <a:xfrm>
            <a:off x="199200" y="1022700"/>
            <a:ext cx="3917400" cy="3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PostgreSQL provides two pseudo-records inside row-level triggers: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NEW</a:t>
            </a:r>
            <a:r>
              <a:rPr lang="en-GB">
                <a:solidFill>
                  <a:schemeClr val="dk1"/>
                </a:solidFill>
              </a:rPr>
              <a:t> → the new row after the change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OLD</a:t>
            </a:r>
            <a:r>
              <a:rPr lang="en-GB">
                <a:solidFill>
                  <a:schemeClr val="dk1"/>
                </a:solidFill>
              </a:rPr>
              <a:t> → the original row before the change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Used to read or modify values in trigger logic.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7"/>
          <p:cNvSpPr txBox="1"/>
          <p:nvPr/>
        </p:nvSpPr>
        <p:spPr>
          <a:xfrm>
            <a:off x="199200" y="184950"/>
            <a:ext cx="8745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</a:rPr>
              <a:t>Changing Trigger Timing: AFTER → BEFORE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/>
          </a:p>
        </p:txBody>
      </p:sp>
      <p:sp>
        <p:nvSpPr>
          <p:cNvPr id="237" name="Google Shape;237;p37"/>
          <p:cNvSpPr txBox="1"/>
          <p:nvPr>
            <p:ph idx="1" type="body"/>
          </p:nvPr>
        </p:nvSpPr>
        <p:spPr>
          <a:xfrm>
            <a:off x="199200" y="1398075"/>
            <a:ext cx="8745600" cy="319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GB">
                <a:solidFill>
                  <a:schemeClr val="dk1"/>
                </a:solidFill>
              </a:rPr>
              <a:t>AFTER trigger:</a:t>
            </a:r>
            <a:r>
              <a:rPr lang="en-GB">
                <a:solidFill>
                  <a:schemeClr val="dk1"/>
                </a:solidFill>
              </a:rPr>
              <a:t> runs after the data change — can’t modify the new row.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GB">
                <a:solidFill>
                  <a:schemeClr val="dk1"/>
                </a:solidFill>
              </a:rPr>
              <a:t>BEFORE trigger:</a:t>
            </a:r>
            <a:r>
              <a:rPr lang="en-GB">
                <a:solidFill>
                  <a:schemeClr val="dk1"/>
                </a:solidFill>
              </a:rPr>
              <a:t> runs before the change — can adjust the row’s values directly.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Switching to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BEFORE</a:t>
            </a:r>
            <a:r>
              <a:rPr lang="en-GB">
                <a:solidFill>
                  <a:schemeClr val="dk1"/>
                </a:solidFill>
              </a:rPr>
              <a:t> lets us set the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reorder</a:t>
            </a:r>
            <a:r>
              <a:rPr lang="en-GB">
                <a:solidFill>
                  <a:schemeClr val="dk1"/>
                </a:solidFill>
              </a:rPr>
              <a:t> flag inside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NEW</a:t>
            </a:r>
            <a:r>
              <a:rPr lang="en-GB">
                <a:solidFill>
                  <a:schemeClr val="dk1"/>
                </a:solidFill>
              </a:rPr>
              <a:t> without another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UPDATE</a:t>
            </a:r>
            <a:r>
              <a:rPr lang="en-GB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💡 </a:t>
            </a:r>
            <a:r>
              <a:rPr i="1" lang="en-GB">
                <a:solidFill>
                  <a:schemeClr val="dk1"/>
                </a:solidFill>
              </a:rPr>
              <a:t>Use BEFORE triggers when you want to modify or validate data before it’s stored.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a Trigger?</a:t>
            </a:r>
            <a:endParaRPr/>
          </a:p>
        </p:txBody>
      </p:sp>
      <p:sp>
        <p:nvSpPr>
          <p:cNvPr id="243" name="Google Shape;243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A </a:t>
            </a:r>
            <a:r>
              <a:rPr b="1" lang="en-GB">
                <a:solidFill>
                  <a:schemeClr val="dk1"/>
                </a:solidFill>
              </a:rPr>
              <a:t>trigger</a:t>
            </a:r>
            <a:r>
              <a:rPr lang="en-GB">
                <a:solidFill>
                  <a:schemeClr val="dk1"/>
                </a:solidFill>
              </a:rPr>
              <a:t> is a procedural SQL block that runs </a:t>
            </a:r>
            <a:r>
              <a:rPr b="1" lang="en-GB">
                <a:solidFill>
                  <a:schemeClr val="dk1"/>
                </a:solidFill>
              </a:rPr>
              <a:t>automatically</a:t>
            </a:r>
            <a:r>
              <a:rPr lang="en-GB">
                <a:solidFill>
                  <a:schemeClr val="dk1"/>
                </a:solidFill>
              </a:rPr>
              <a:t> when a specified </a:t>
            </a:r>
            <a:r>
              <a:rPr b="1" lang="en-GB">
                <a:solidFill>
                  <a:schemeClr val="dk1"/>
                </a:solidFill>
              </a:rPr>
              <a:t>data manipulation event</a:t>
            </a:r>
            <a:r>
              <a:rPr lang="en-GB">
                <a:solidFill>
                  <a:schemeClr val="dk1"/>
                </a:solidFill>
              </a:rPr>
              <a:t> occurs.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It is </a:t>
            </a:r>
            <a:r>
              <a:rPr b="1" lang="en-GB">
                <a:solidFill>
                  <a:schemeClr val="dk1"/>
                </a:solidFill>
              </a:rPr>
              <a:t>event-driven</a:t>
            </a:r>
            <a:r>
              <a:rPr lang="en-GB">
                <a:solidFill>
                  <a:schemeClr val="dk1"/>
                </a:solidFill>
              </a:rPr>
              <a:t> — fired by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INSERT</a:t>
            </a:r>
            <a:r>
              <a:rPr lang="en-GB">
                <a:solidFill>
                  <a:schemeClr val="dk1"/>
                </a:solidFill>
              </a:rPr>
              <a:t>,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UPDATE</a:t>
            </a:r>
            <a:r>
              <a:rPr lang="en-GB">
                <a:solidFill>
                  <a:schemeClr val="dk1"/>
                </a:solidFill>
              </a:rPr>
              <a:t>, or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DELETE</a:t>
            </a:r>
            <a:r>
              <a:rPr lang="en-GB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Used to </a:t>
            </a:r>
            <a:r>
              <a:rPr b="1" lang="en-GB">
                <a:solidFill>
                  <a:schemeClr val="dk1"/>
                </a:solidFill>
              </a:rPr>
              <a:t>enforce business rules</a:t>
            </a:r>
            <a:r>
              <a:rPr lang="en-GB">
                <a:solidFill>
                  <a:schemeClr val="dk1"/>
                </a:solidFill>
              </a:rPr>
              <a:t>, </a:t>
            </a:r>
            <a:r>
              <a:rPr b="1" lang="en-GB">
                <a:solidFill>
                  <a:schemeClr val="dk1"/>
                </a:solidFill>
              </a:rPr>
              <a:t>maintain data integrity</a:t>
            </a:r>
            <a:r>
              <a:rPr lang="en-GB">
                <a:solidFill>
                  <a:schemeClr val="dk1"/>
                </a:solidFill>
              </a:rPr>
              <a:t>, or </a:t>
            </a:r>
            <a:r>
              <a:rPr b="1" lang="en-GB">
                <a:solidFill>
                  <a:schemeClr val="dk1"/>
                </a:solidFill>
              </a:rPr>
              <a:t>audit changes</a:t>
            </a:r>
            <a:r>
              <a:rPr lang="en-GB">
                <a:solidFill>
                  <a:schemeClr val="dk1"/>
                </a:solidFill>
              </a:rPr>
              <a:t> automatically.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💬 </a:t>
            </a:r>
            <a:r>
              <a:rPr i="1" lang="en-GB">
                <a:solidFill>
                  <a:schemeClr val="dk1"/>
                </a:solidFill>
              </a:rPr>
              <a:t>Triggers make the database proactive — responding to data changes in real time.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Notes on Triggers</a:t>
            </a:r>
            <a:endParaRPr/>
          </a:p>
        </p:txBody>
      </p:sp>
      <p:sp>
        <p:nvSpPr>
          <p:cNvPr id="249" name="Google Shape;249;p39"/>
          <p:cNvSpPr txBox="1"/>
          <p:nvPr>
            <p:ph idx="1" type="body"/>
          </p:nvPr>
        </p:nvSpPr>
        <p:spPr>
          <a:xfrm>
            <a:off x="199200" y="1398075"/>
            <a:ext cx="8745600" cy="319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Each </a:t>
            </a:r>
            <a:r>
              <a:rPr b="1" lang="en-GB">
                <a:solidFill>
                  <a:schemeClr val="dk1"/>
                </a:solidFill>
              </a:rPr>
              <a:t>trigger</a:t>
            </a:r>
            <a:r>
              <a:rPr lang="en-GB">
                <a:solidFill>
                  <a:schemeClr val="dk1"/>
                </a:solidFill>
              </a:rPr>
              <a:t> is linked to a </a:t>
            </a:r>
            <a:r>
              <a:rPr b="1" lang="en-GB">
                <a:solidFill>
                  <a:schemeClr val="dk1"/>
                </a:solidFill>
              </a:rPr>
              <a:t>specific table or view</a:t>
            </a:r>
            <a:r>
              <a:rPr lang="en-GB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A table can have </a:t>
            </a:r>
            <a:r>
              <a:rPr b="1" lang="en-GB">
                <a:solidFill>
                  <a:schemeClr val="dk1"/>
                </a:solidFill>
              </a:rPr>
              <a:t>multiple triggers</a:t>
            </a:r>
            <a:r>
              <a:rPr lang="en-GB">
                <a:solidFill>
                  <a:schemeClr val="dk1"/>
                </a:solidFill>
              </a:rPr>
              <a:t> for different events or timings.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Trigger actions execute </a:t>
            </a:r>
            <a:r>
              <a:rPr b="1" lang="en-GB">
                <a:solidFill>
                  <a:schemeClr val="dk1"/>
                </a:solidFill>
              </a:rPr>
              <a:t>within the same transaction</a:t>
            </a:r>
            <a:r>
              <a:rPr lang="en-GB">
                <a:solidFill>
                  <a:schemeClr val="dk1"/>
                </a:solidFill>
              </a:rPr>
              <a:t> as the triggering event.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Triggers are vital for </a:t>
            </a:r>
            <a:r>
              <a:rPr b="1" lang="en-GB">
                <a:solidFill>
                  <a:schemeClr val="dk1"/>
                </a:solidFill>
              </a:rPr>
              <a:t>automating rules</a:t>
            </a:r>
            <a:r>
              <a:rPr lang="en-GB">
                <a:solidFill>
                  <a:schemeClr val="dk1"/>
                </a:solidFill>
              </a:rPr>
              <a:t> and </a:t>
            </a:r>
            <a:r>
              <a:rPr b="1" lang="en-GB">
                <a:solidFill>
                  <a:schemeClr val="dk1"/>
                </a:solidFill>
              </a:rPr>
              <a:t>maintaining consistency</a:t>
            </a:r>
            <a:r>
              <a:rPr lang="en-GB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They </a:t>
            </a:r>
            <a:r>
              <a:rPr b="1" lang="en-GB">
                <a:solidFill>
                  <a:schemeClr val="dk1"/>
                </a:solidFill>
              </a:rPr>
              <a:t>extend the database’s processing power</a:t>
            </a:r>
            <a:r>
              <a:rPr lang="en-GB">
                <a:solidFill>
                  <a:schemeClr val="dk1"/>
                </a:solidFill>
              </a:rPr>
              <a:t> by embedding logic directly inside the DBMS.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💬 </a:t>
            </a:r>
            <a:r>
              <a:rPr i="1" lang="en-GB">
                <a:solidFill>
                  <a:schemeClr val="dk1"/>
                </a:solidFill>
              </a:rPr>
              <a:t>Triggers transform a database from a passive data store into an active, intelligent system.</a:t>
            </a:r>
            <a:endParaRPr i="1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Automating Product Ordering</a:t>
            </a:r>
            <a:endParaRPr/>
          </a:p>
        </p:txBody>
      </p:sp>
      <p:sp>
        <p:nvSpPr>
          <p:cNvPr id="255" name="Google Shape;255;p40"/>
          <p:cNvSpPr txBox="1"/>
          <p:nvPr>
            <p:ph idx="1" type="body"/>
          </p:nvPr>
        </p:nvSpPr>
        <p:spPr>
          <a:xfrm>
            <a:off x="199200" y="1152475"/>
            <a:ext cx="8745600" cy="367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-GB"/>
              <a:t>The Business Procedure:</a:t>
            </a:r>
            <a:endParaRPr b="1"/>
          </a:p>
          <a:p>
            <a:pPr indent="-342900" lvl="0" marL="914400" rtl="0" algn="l">
              <a:spcBef>
                <a:spcPts val="160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Ensure QOH values are up-to-date &amp; consistent</a:t>
            </a:r>
            <a:endParaRPr/>
          </a:p>
          <a:p>
            <a:pPr indent="45720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2.	If QOH &lt; min_allowable, product must be reordered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Updating an Attribute in Another Table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261" name="Google Shape;261;p41"/>
          <p:cNvSpPr txBox="1"/>
          <p:nvPr>
            <p:ph idx="1" type="body"/>
          </p:nvPr>
        </p:nvSpPr>
        <p:spPr>
          <a:xfrm>
            <a:off x="199200" y="1398075"/>
            <a:ext cx="8520600" cy="319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</a:rPr>
              <a:t>Business Rule:</a:t>
            </a:r>
            <a:br>
              <a:rPr b="1" lang="en-GB">
                <a:solidFill>
                  <a:schemeClr val="dk1"/>
                </a:solidFill>
              </a:rPr>
            </a:br>
            <a:r>
              <a:rPr lang="en-GB">
                <a:solidFill>
                  <a:schemeClr val="dk1"/>
                </a:solidFill>
              </a:rPr>
              <a:t> When a sale occurs, decrease the </a:t>
            </a:r>
            <a:r>
              <a:rPr b="1" lang="en-GB">
                <a:solidFill>
                  <a:schemeClr val="dk1"/>
                </a:solidFill>
              </a:rPr>
              <a:t>Quantity on Hand (QOH)</a:t>
            </a:r>
            <a:r>
              <a:rPr lang="en-GB">
                <a:solidFill>
                  <a:schemeClr val="dk1"/>
                </a:solidFill>
              </a:rPr>
              <a:t> for the sold product.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</a:rPr>
              <a:t>Implementation:</a:t>
            </a:r>
            <a:br>
              <a:rPr b="1" lang="en-GB">
                <a:solidFill>
                  <a:schemeClr val="dk1"/>
                </a:solidFill>
              </a:rPr>
            </a:br>
            <a:r>
              <a:rPr lang="en-GB">
                <a:solidFill>
                  <a:schemeClr val="dk1"/>
                </a:solidFill>
              </a:rPr>
              <a:t> Trigger on the </a:t>
            </a:r>
            <a:r>
              <a:rPr b="1" lang="en-GB">
                <a:solidFill>
                  <a:schemeClr val="dk1"/>
                </a:solidFill>
              </a:rPr>
              <a:t>LINE</a:t>
            </a:r>
            <a:r>
              <a:rPr lang="en-GB">
                <a:solidFill>
                  <a:schemeClr val="dk1"/>
                </a:solidFill>
              </a:rPr>
              <a:t> table updates the </a:t>
            </a:r>
            <a:r>
              <a:rPr b="1" lang="en-GB">
                <a:solidFill>
                  <a:schemeClr val="dk1"/>
                </a:solidFill>
              </a:rPr>
              <a:t>PRODUCT</a:t>
            </a:r>
            <a:r>
              <a:rPr lang="en-GB">
                <a:solidFill>
                  <a:schemeClr val="dk1"/>
                </a:solidFill>
              </a:rPr>
              <a:t> table automatically.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525" y="860425"/>
            <a:ext cx="5243524" cy="4114924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42"/>
          <p:cNvSpPr txBox="1"/>
          <p:nvPr/>
        </p:nvSpPr>
        <p:spPr>
          <a:xfrm>
            <a:off x="274525" y="184950"/>
            <a:ext cx="8495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Updating Product QOH Value</a:t>
            </a:r>
            <a:endParaRPr sz="2800">
              <a:solidFill>
                <a:srgbClr val="000000"/>
              </a:solidFill>
            </a:endParaRPr>
          </a:p>
        </p:txBody>
      </p:sp>
      <p:sp>
        <p:nvSpPr>
          <p:cNvPr id="268" name="Google Shape;268;p42"/>
          <p:cNvSpPr txBox="1"/>
          <p:nvPr/>
        </p:nvSpPr>
        <p:spPr>
          <a:xfrm>
            <a:off x="1045933" y="1835800"/>
            <a:ext cx="657000" cy="2313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42"/>
          <p:cNvSpPr txBox="1"/>
          <p:nvPr/>
        </p:nvSpPr>
        <p:spPr>
          <a:xfrm>
            <a:off x="6689375" y="2571700"/>
            <a:ext cx="1976400" cy="8295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TRIGGER</a:t>
            </a:r>
            <a:r>
              <a:rPr lang="en-GB"/>
              <a:t> on LINE table updates PRODUCT table</a:t>
            </a:r>
            <a:endParaRPr b="1">
              <a:highlight>
                <a:srgbClr val="B6D7A8"/>
              </a:highlight>
            </a:endParaRPr>
          </a:p>
        </p:txBody>
      </p:sp>
      <p:cxnSp>
        <p:nvCxnSpPr>
          <p:cNvPr id="270" name="Google Shape;270;p42"/>
          <p:cNvCxnSpPr>
            <a:stCxn id="269" idx="0"/>
            <a:endCxn id="268" idx="3"/>
          </p:cNvCxnSpPr>
          <p:nvPr/>
        </p:nvCxnSpPr>
        <p:spPr>
          <a:xfrm rot="10800000">
            <a:off x="1703075" y="1951600"/>
            <a:ext cx="5974500" cy="620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1" name="Google Shape;271;p42"/>
          <p:cNvSpPr txBox="1"/>
          <p:nvPr/>
        </p:nvSpPr>
        <p:spPr>
          <a:xfrm>
            <a:off x="520050" y="4227525"/>
            <a:ext cx="475200" cy="2313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2" name="Google Shape;272;p42"/>
          <p:cNvCxnSpPr>
            <a:stCxn id="269" idx="2"/>
          </p:cNvCxnSpPr>
          <p:nvPr/>
        </p:nvCxnSpPr>
        <p:spPr>
          <a:xfrm flipH="1">
            <a:off x="1079675" y="3401200"/>
            <a:ext cx="6597900" cy="900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Use of Variables Within a Trigger</a:t>
            </a:r>
            <a:endParaRPr/>
          </a:p>
        </p:txBody>
      </p:sp>
      <p:sp>
        <p:nvSpPr>
          <p:cNvPr id="278" name="Google Shape;278;p43"/>
          <p:cNvSpPr txBox="1"/>
          <p:nvPr>
            <p:ph idx="1" type="body"/>
          </p:nvPr>
        </p:nvSpPr>
        <p:spPr>
          <a:xfrm>
            <a:off x="199200" y="1398075"/>
            <a:ext cx="8745600" cy="138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 also need to update CUS_BALANCE after inserting every new LINE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GB"/>
              <a:t>→ create a trigger for the LINE table that updates a row in the CUSTOMER table. This time using </a:t>
            </a:r>
            <a:r>
              <a:rPr b="1" lang="en-GB">
                <a:highlight>
                  <a:srgbClr val="FFFF00"/>
                </a:highlight>
              </a:rPr>
              <a:t>variables</a:t>
            </a:r>
            <a:r>
              <a:rPr lang="en-GB"/>
              <a:t> in our trigger function.. </a:t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79" name="Google Shape;279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200" y="2783775"/>
            <a:ext cx="5244950" cy="184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Google Shape;28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850" y="757650"/>
            <a:ext cx="4115352" cy="400915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44"/>
          <p:cNvSpPr txBox="1"/>
          <p:nvPr/>
        </p:nvSpPr>
        <p:spPr>
          <a:xfrm>
            <a:off x="274525" y="184950"/>
            <a:ext cx="8495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Updating Customer Balance</a:t>
            </a:r>
            <a:endParaRPr sz="2800">
              <a:solidFill>
                <a:srgbClr val="000000"/>
              </a:solidFill>
            </a:endParaRPr>
          </a:p>
        </p:txBody>
      </p:sp>
      <p:sp>
        <p:nvSpPr>
          <p:cNvPr id="286" name="Google Shape;286;p44"/>
          <p:cNvSpPr txBox="1"/>
          <p:nvPr/>
        </p:nvSpPr>
        <p:spPr>
          <a:xfrm>
            <a:off x="6115025" y="1924950"/>
            <a:ext cx="1976400" cy="1293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Need to </a:t>
            </a:r>
            <a:r>
              <a:rPr lang="en-GB">
                <a:solidFill>
                  <a:schemeClr val="dk1"/>
                </a:solidFill>
              </a:rPr>
              <a:t>find  the customer and </a:t>
            </a:r>
            <a:r>
              <a:rPr lang="en-GB"/>
              <a:t>calculate line total in order to update customer balance</a:t>
            </a:r>
            <a:endParaRPr b="1">
              <a:highlight>
                <a:srgbClr val="B6D7A8"/>
              </a:highlight>
            </a:endParaRPr>
          </a:p>
        </p:txBody>
      </p:sp>
      <p:cxnSp>
        <p:nvCxnSpPr>
          <p:cNvPr id="287" name="Google Shape;287;p44"/>
          <p:cNvCxnSpPr>
            <a:stCxn id="286" idx="1"/>
          </p:cNvCxnSpPr>
          <p:nvPr/>
        </p:nvCxnSpPr>
        <p:spPr>
          <a:xfrm rot="10800000">
            <a:off x="3526025" y="2209950"/>
            <a:ext cx="2589000" cy="361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8" name="Google Shape;288;p44"/>
          <p:cNvCxnSpPr>
            <a:stCxn id="286" idx="1"/>
          </p:cNvCxnSpPr>
          <p:nvPr/>
        </p:nvCxnSpPr>
        <p:spPr>
          <a:xfrm flipH="1">
            <a:off x="3289925" y="2571750"/>
            <a:ext cx="2825100" cy="583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5"/>
          <p:cNvSpPr txBox="1"/>
          <p:nvPr>
            <p:ph type="title"/>
          </p:nvPr>
        </p:nvSpPr>
        <p:spPr>
          <a:xfrm>
            <a:off x="490250" y="450150"/>
            <a:ext cx="82509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/>
              <a:t>Stored Procedures</a:t>
            </a:r>
            <a:endParaRPr sz="30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6"/>
          <p:cNvSpPr txBox="1"/>
          <p:nvPr>
            <p:ph type="title"/>
          </p:nvPr>
        </p:nvSpPr>
        <p:spPr>
          <a:xfrm>
            <a:off x="311700" y="385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Stored Procedures in PostgreSQL</a:t>
            </a:r>
            <a:endParaRPr/>
          </a:p>
        </p:txBody>
      </p:sp>
      <p:sp>
        <p:nvSpPr>
          <p:cNvPr id="299" name="Google Shape;299;p46"/>
          <p:cNvSpPr txBox="1"/>
          <p:nvPr>
            <p:ph idx="1" type="body"/>
          </p:nvPr>
        </p:nvSpPr>
        <p:spPr>
          <a:xfrm>
            <a:off x="199200" y="1160525"/>
            <a:ext cx="8745600" cy="375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A </a:t>
            </a:r>
            <a:r>
              <a:rPr b="1" lang="en-GB">
                <a:solidFill>
                  <a:schemeClr val="dk1"/>
                </a:solidFill>
              </a:rPr>
              <a:t>stored procedure</a:t>
            </a:r>
            <a:r>
              <a:rPr lang="en-GB">
                <a:solidFill>
                  <a:schemeClr val="dk1"/>
                </a:solidFill>
              </a:rPr>
              <a:t> is a </a:t>
            </a:r>
            <a:r>
              <a:rPr b="1" lang="en-GB">
                <a:solidFill>
                  <a:schemeClr val="dk1"/>
                </a:solidFill>
              </a:rPr>
              <a:t>named PL/pgSQL program</a:t>
            </a:r>
            <a:r>
              <a:rPr lang="en-GB">
                <a:solidFill>
                  <a:schemeClr val="dk1"/>
                </a:solidFill>
              </a:rPr>
              <a:t> stored inside the database.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Like triggers, it resides in the DB and can be reused by multiple applications.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It can </a:t>
            </a:r>
            <a:r>
              <a:rPr b="1" lang="en-GB">
                <a:solidFill>
                  <a:schemeClr val="dk1"/>
                </a:solidFill>
              </a:rPr>
              <a:t>encapsulate a complete business transaction</a:t>
            </a:r>
            <a:r>
              <a:rPr lang="en-GB">
                <a:solidFill>
                  <a:schemeClr val="dk1"/>
                </a:solidFill>
              </a:rPr>
              <a:t>, such as:</a:t>
            </a:r>
            <a:endParaRPr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GB" sz="1800">
                <a:solidFill>
                  <a:schemeClr val="dk1"/>
                </a:solidFill>
              </a:rPr>
              <a:t>Recording a sale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GB" sz="1800">
                <a:solidFill>
                  <a:schemeClr val="dk1"/>
                </a:solidFill>
              </a:rPr>
              <a:t>Updating a customer’s credit limit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GB" sz="1800">
                <a:solidFill>
                  <a:schemeClr val="dk1"/>
                </a:solidFill>
              </a:rPr>
              <a:t>Adding a new product or account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Procedures help </a:t>
            </a:r>
            <a:r>
              <a:rPr b="1" lang="en-GB">
                <a:solidFill>
                  <a:schemeClr val="dk1"/>
                </a:solidFill>
              </a:rPr>
              <a:t>centralize logic</a:t>
            </a:r>
            <a:r>
              <a:rPr lang="en-GB">
                <a:solidFill>
                  <a:schemeClr val="dk1"/>
                </a:solidFill>
              </a:rPr>
              <a:t>, ensuring consistent business rules and improving performance.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💬 </a:t>
            </a:r>
            <a:r>
              <a:rPr i="1" lang="en-GB">
                <a:solidFill>
                  <a:schemeClr val="dk1"/>
                </a:solidFill>
              </a:rPr>
              <a:t>Procedures are called explicitly — unlike triggers, which run automatically.</a:t>
            </a:r>
            <a:endParaRPr i="1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Advantages of Stored Procedures</a:t>
            </a:r>
            <a:endParaRPr/>
          </a:p>
        </p:txBody>
      </p:sp>
      <p:sp>
        <p:nvSpPr>
          <p:cNvPr id="305" name="Google Shape;305;p47"/>
          <p:cNvSpPr txBox="1"/>
          <p:nvPr>
            <p:ph idx="1" type="body"/>
          </p:nvPr>
        </p:nvSpPr>
        <p:spPr>
          <a:xfrm>
            <a:off x="199200" y="1017725"/>
            <a:ext cx="8745600" cy="365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⚡ </a:t>
            </a:r>
            <a:r>
              <a:rPr b="1" lang="en-GB">
                <a:solidFill>
                  <a:schemeClr val="dk1"/>
                </a:solidFill>
              </a:rPr>
              <a:t>Reduce network traffic &amp; improve performance</a:t>
            </a:r>
            <a:endParaRPr b="1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GB" sz="1800">
                <a:solidFill>
                  <a:schemeClr val="dk1"/>
                </a:solidFill>
              </a:rPr>
              <a:t>SQL executes inside the database — no need to transmit statements over the network.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🔁 </a:t>
            </a:r>
            <a:r>
              <a:rPr b="1" lang="en-GB">
                <a:solidFill>
                  <a:schemeClr val="dk1"/>
                </a:solidFill>
              </a:rPr>
              <a:t>Reduce code duplication</a:t>
            </a:r>
            <a:endParaRPr b="1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GB" sz="1800">
                <a:solidFill>
                  <a:schemeClr val="dk1"/>
                </a:solidFill>
              </a:rPr>
              <a:t>Create reusable PL/pgSQL modules that can be called by multiple programs.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🧩 </a:t>
            </a:r>
            <a:r>
              <a:rPr b="1" lang="en-GB">
                <a:solidFill>
                  <a:schemeClr val="dk1"/>
                </a:solidFill>
              </a:rPr>
              <a:t>Simplify application development</a:t>
            </a:r>
            <a:endParaRPr b="1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GB" sz="1800">
                <a:solidFill>
                  <a:schemeClr val="dk1"/>
                </a:solidFill>
              </a:rPr>
              <a:t>Centralize logic to minimize errors and reduce development and maintenance costs.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💬 </a:t>
            </a:r>
            <a:r>
              <a:rPr i="1" lang="en-GB">
                <a:solidFill>
                  <a:schemeClr val="dk1"/>
                </a:solidFill>
              </a:rPr>
              <a:t>Stored procedures make applications leaner and databases smarter.</a:t>
            </a:r>
            <a:endParaRPr i="1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Stored Procedure Syntax (PostgreSQL)</a:t>
            </a:r>
            <a:endParaRPr/>
          </a:p>
        </p:txBody>
      </p:sp>
      <p:pic>
        <p:nvPicPr>
          <p:cNvPr id="311" name="Google Shape;311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70125"/>
            <a:ext cx="8299900" cy="3367225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48"/>
          <p:cNvSpPr txBox="1"/>
          <p:nvPr/>
        </p:nvSpPr>
        <p:spPr>
          <a:xfrm>
            <a:off x="5749275" y="2708350"/>
            <a:ext cx="2473500" cy="726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zero or more </a:t>
            </a:r>
            <a:r>
              <a:rPr b="1" lang="en-GB">
                <a:highlight>
                  <a:srgbClr val="FFFF00"/>
                </a:highlight>
              </a:rPr>
              <a:t>Parameters</a:t>
            </a:r>
            <a:r>
              <a:rPr lang="en-GB"/>
              <a:t> passed to procedure</a:t>
            </a:r>
            <a:endParaRPr/>
          </a:p>
        </p:txBody>
      </p:sp>
      <p:cxnSp>
        <p:nvCxnSpPr>
          <p:cNvPr id="313" name="Google Shape;313;p48"/>
          <p:cNvCxnSpPr>
            <a:stCxn id="312" idx="0"/>
          </p:cNvCxnSpPr>
          <p:nvPr/>
        </p:nvCxnSpPr>
        <p:spPr>
          <a:xfrm flipH="1" rot="10800000">
            <a:off x="6986025" y="1653250"/>
            <a:ext cx="167100" cy="1055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Notes on Stored Procedures</a:t>
            </a:r>
            <a:endParaRPr/>
          </a:p>
        </p:txBody>
      </p:sp>
      <p:sp>
        <p:nvSpPr>
          <p:cNvPr id="319" name="Google Shape;319;p4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Defined using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LANGUAGE plpgsql</a:t>
            </a:r>
            <a:r>
              <a:rPr lang="en-GB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Executed with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CALL</a:t>
            </a:r>
            <a:r>
              <a:rPr lang="en-GB">
                <a:solidFill>
                  <a:schemeClr val="dk1"/>
                </a:solidFill>
              </a:rPr>
              <a:t>, not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EXEC</a:t>
            </a:r>
            <a:r>
              <a:rPr lang="en-GB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Performs actions but </a:t>
            </a:r>
            <a:r>
              <a:rPr b="1" lang="en-GB">
                <a:solidFill>
                  <a:schemeClr val="dk1"/>
                </a:solidFill>
              </a:rPr>
              <a:t>does not return a value</a:t>
            </a:r>
            <a:r>
              <a:rPr lang="en-GB">
                <a:solidFill>
                  <a:schemeClr val="dk1"/>
                </a:solidFill>
              </a:rPr>
              <a:t>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💬 </a:t>
            </a:r>
            <a:r>
              <a:rPr i="1" lang="en-GB">
                <a:solidFill>
                  <a:schemeClr val="dk1"/>
                </a:solidFill>
              </a:rPr>
              <a:t>Use procedures for business operations that modify data or manage transactions.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50"/>
          <p:cNvSpPr txBox="1"/>
          <p:nvPr/>
        </p:nvSpPr>
        <p:spPr>
          <a:xfrm>
            <a:off x="274525" y="184950"/>
            <a:ext cx="8495400" cy="6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Example – Assign Additional 5% Discount</a:t>
            </a:r>
            <a:endParaRPr sz="2800">
              <a:solidFill>
                <a:srgbClr val="000000"/>
              </a:solidFill>
            </a:endParaRPr>
          </a:p>
        </p:txBody>
      </p:sp>
      <p:pic>
        <p:nvPicPr>
          <p:cNvPr id="325" name="Google Shape;325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525" y="860550"/>
            <a:ext cx="4891975" cy="3810101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50"/>
          <p:cNvSpPr txBox="1"/>
          <p:nvPr/>
        </p:nvSpPr>
        <p:spPr>
          <a:xfrm>
            <a:off x="5267725" y="1972350"/>
            <a:ext cx="3801300" cy="1198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💬 </a:t>
            </a:r>
            <a:r>
              <a:rPr i="1" lang="en-GB">
                <a:solidFill>
                  <a:schemeClr val="dk1"/>
                </a:solidFill>
              </a:rPr>
              <a:t>This stored procedure adjusts product discounts automatically when stock levels are high.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Passing Parameters to Stored Procedures</a:t>
            </a:r>
            <a:endParaRPr/>
          </a:p>
        </p:txBody>
      </p:sp>
      <p:sp>
        <p:nvSpPr>
          <p:cNvPr id="332" name="Google Shape;332;p5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Stored procedures can accept </a:t>
            </a:r>
            <a:r>
              <a:rPr b="1" lang="en-GB">
                <a:solidFill>
                  <a:schemeClr val="dk1"/>
                </a:solidFill>
              </a:rPr>
              <a:t>input parameters</a:t>
            </a:r>
            <a:r>
              <a:rPr lang="en-GB">
                <a:solidFill>
                  <a:schemeClr val="dk1"/>
                </a:solidFill>
              </a:rPr>
              <a:t>, allowing you to: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Make the procedure </a:t>
            </a:r>
            <a:r>
              <a:rPr b="1" lang="en-GB">
                <a:solidFill>
                  <a:schemeClr val="dk1"/>
                </a:solidFill>
              </a:rPr>
              <a:t>reusable</a:t>
            </a:r>
            <a:r>
              <a:rPr lang="en-GB">
                <a:solidFill>
                  <a:schemeClr val="dk1"/>
                </a:solidFill>
              </a:rPr>
              <a:t> for different cases.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GB">
                <a:solidFill>
                  <a:schemeClr val="dk1"/>
                </a:solidFill>
              </a:rPr>
              <a:t>Avoid hardcoding values</a:t>
            </a:r>
            <a:r>
              <a:rPr lang="en-GB">
                <a:solidFill>
                  <a:schemeClr val="dk1"/>
                </a:solidFill>
              </a:rPr>
              <a:t> (e.g., discount rates, thresholds).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Pass values directly from </a:t>
            </a:r>
            <a:r>
              <a:rPr b="1" lang="en-GB">
                <a:solidFill>
                  <a:schemeClr val="dk1"/>
                </a:solidFill>
              </a:rPr>
              <a:t>applications</a:t>
            </a:r>
            <a:r>
              <a:rPr lang="en-GB">
                <a:solidFill>
                  <a:schemeClr val="dk1"/>
                </a:solidFill>
              </a:rPr>
              <a:t> or other SQL code.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52"/>
          <p:cNvSpPr txBox="1"/>
          <p:nvPr/>
        </p:nvSpPr>
        <p:spPr>
          <a:xfrm>
            <a:off x="274525" y="184950"/>
            <a:ext cx="8495400" cy="12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Make discount percentage not a fixed 5% but an input</a:t>
            </a:r>
            <a:endParaRPr sz="2800">
              <a:solidFill>
                <a:srgbClr val="000000"/>
              </a:solidFill>
            </a:endParaRPr>
          </a:p>
        </p:txBody>
      </p:sp>
      <p:pic>
        <p:nvPicPr>
          <p:cNvPr id="338" name="Google Shape;338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525" y="1250175"/>
            <a:ext cx="5320266" cy="3437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53"/>
          <p:cNvSpPr txBox="1"/>
          <p:nvPr>
            <p:ph type="title"/>
          </p:nvPr>
        </p:nvSpPr>
        <p:spPr>
          <a:xfrm>
            <a:off x="490250" y="450150"/>
            <a:ext cx="82509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/>
              <a:t>More Examples</a:t>
            </a:r>
            <a:endParaRPr sz="30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54"/>
          <p:cNvSpPr txBox="1"/>
          <p:nvPr/>
        </p:nvSpPr>
        <p:spPr>
          <a:xfrm>
            <a:off x="274525" y="184950"/>
            <a:ext cx="84954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Example – Add a New Customer</a:t>
            </a:r>
            <a:endParaRPr sz="2800">
              <a:solidFill>
                <a:srgbClr val="000000"/>
              </a:solidFill>
            </a:endParaRPr>
          </a:p>
        </p:txBody>
      </p:sp>
      <p:pic>
        <p:nvPicPr>
          <p:cNvPr id="349" name="Google Shape;349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525" y="745050"/>
            <a:ext cx="6229026" cy="4181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55"/>
          <p:cNvSpPr txBox="1"/>
          <p:nvPr/>
        </p:nvSpPr>
        <p:spPr>
          <a:xfrm>
            <a:off x="274525" y="184950"/>
            <a:ext cx="84954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Example – Add a New Invoice</a:t>
            </a:r>
            <a:endParaRPr sz="2800">
              <a:solidFill>
                <a:srgbClr val="000000"/>
              </a:solidFill>
            </a:endParaRPr>
          </a:p>
        </p:txBody>
      </p:sp>
      <p:pic>
        <p:nvPicPr>
          <p:cNvPr id="355" name="Google Shape;355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97450"/>
            <a:ext cx="5592588" cy="409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